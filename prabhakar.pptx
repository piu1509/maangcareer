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Bobby Jones Condensed Soft" charset="1" panose="00000000000000000000"/>
      <p:regular r:id="rId22"/>
    </p:embeddedFont>
    <p:embeddedFont>
      <p:font typeface="อีฟดอวอิ้ง" charset="1" panose="00000000000000000000"/>
      <p:regular r:id="rId23"/>
    </p:embeddedFont>
    <p:embeddedFont>
      <p:font typeface="Porcelain" charset="1" panose="00000000000000000000"/>
      <p:regular r:id="rId24"/>
    </p:embeddedFont>
    <p:embeddedFont>
      <p:font typeface="Canva Sans" charset="1" panose="020B0503030501040103"/>
      <p:regular r:id="rId25"/>
    </p:embeddedFont>
    <p:embeddedFont>
      <p:font typeface="Bobby Jones Soft" charset="1" panose="00000000000000000000"/>
      <p:regular r:id="rId26"/>
    </p:embeddedFont>
    <p:embeddedFont>
      <p:font typeface="League Spartan" charset="1" panose="00000800000000000000"/>
      <p:regular r:id="rId27"/>
    </p:embeddedFont>
    <p:embeddedFont>
      <p:font typeface="Canva Sans Bold" charset="1" panose="020B0803030501040103"/>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 Id="rId9" Target="../media/image2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2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2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jpeg" Type="http://schemas.openxmlformats.org/officeDocument/2006/relationships/image"/><Relationship Id="rId8" Target="../media/image27.jpeg" Type="http://schemas.openxmlformats.org/officeDocument/2006/relationships/image"/><Relationship Id="rId9" Target="../media/image28.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9.jpeg" Type="http://schemas.openxmlformats.org/officeDocument/2006/relationships/image"/><Relationship Id="rId8" Target="../media/image30.jpeg" Type="http://schemas.openxmlformats.org/officeDocument/2006/relationships/image"/><Relationship Id="rId9" Target="../media/image3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4.png" Type="http://schemas.openxmlformats.org/officeDocument/2006/relationships/image"/><Relationship Id="rId6" Target="../media/image35.svg" Type="http://schemas.openxmlformats.org/officeDocument/2006/relationships/image"/><Relationship Id="rId7" Target="../media/image16.png" Type="http://schemas.openxmlformats.org/officeDocument/2006/relationships/image"/><Relationship Id="rId8" Target="../media/image17.svg" Type="http://schemas.openxmlformats.org/officeDocument/2006/relationships/image"/><Relationship Id="rId9" Target="../media/image3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335286" y="-1159424"/>
            <a:ext cx="7617429" cy="12605848"/>
          </a:xfrm>
          <a:custGeom>
            <a:avLst/>
            <a:gdLst/>
            <a:ahLst/>
            <a:cxnLst/>
            <a:rect r="r" b="b" t="t" l="l"/>
            <a:pathLst>
              <a:path h="12605848" w="7617429">
                <a:moveTo>
                  <a:pt x="0" y="0"/>
                </a:moveTo>
                <a:lnTo>
                  <a:pt x="7617428" y="0"/>
                </a:lnTo>
                <a:lnTo>
                  <a:pt x="7617428" y="12605848"/>
                </a:lnTo>
                <a:lnTo>
                  <a:pt x="0" y="12605848"/>
                </a:lnTo>
                <a:lnTo>
                  <a:pt x="0" y="0"/>
                </a:lnTo>
                <a:close/>
              </a:path>
            </a:pathLst>
          </a:custGeom>
          <a:blipFill>
            <a:blip r:embed="rId2">
              <a:alphaModFix amt="71000"/>
            </a:blip>
            <a:stretch>
              <a:fillRect l="-9651" t="0" r="-12187" b="0"/>
            </a:stretch>
          </a:blipFill>
        </p:spPr>
      </p:sp>
      <p:sp>
        <p:nvSpPr>
          <p:cNvPr name="Freeform 3" id="3"/>
          <p:cNvSpPr/>
          <p:nvPr/>
        </p:nvSpPr>
        <p:spPr>
          <a:xfrm flipH="false" flipV="false" rot="0">
            <a:off x="2841076" y="8609125"/>
            <a:ext cx="12579953" cy="686179"/>
          </a:xfrm>
          <a:custGeom>
            <a:avLst/>
            <a:gdLst/>
            <a:ahLst/>
            <a:cxnLst/>
            <a:rect r="r" b="b" t="t" l="l"/>
            <a:pathLst>
              <a:path h="686179" w="12579953">
                <a:moveTo>
                  <a:pt x="0" y="0"/>
                </a:moveTo>
                <a:lnTo>
                  <a:pt x="12579953" y="0"/>
                </a:lnTo>
                <a:lnTo>
                  <a:pt x="12579953" y="686179"/>
                </a:lnTo>
                <a:lnTo>
                  <a:pt x="0" y="6861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2866971" y="1028700"/>
            <a:ext cx="12579953" cy="686179"/>
          </a:xfrm>
          <a:custGeom>
            <a:avLst/>
            <a:gdLst/>
            <a:ahLst/>
            <a:cxnLst/>
            <a:rect r="r" b="b" t="t" l="l"/>
            <a:pathLst>
              <a:path h="686179" w="12579953">
                <a:moveTo>
                  <a:pt x="12579953" y="686179"/>
                </a:moveTo>
                <a:lnTo>
                  <a:pt x="0" y="686179"/>
                </a:lnTo>
                <a:lnTo>
                  <a:pt x="0" y="0"/>
                </a:lnTo>
                <a:lnTo>
                  <a:pt x="12579953" y="0"/>
                </a:lnTo>
                <a:lnTo>
                  <a:pt x="12579953" y="686179"/>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801745" y="523051"/>
            <a:ext cx="1623470" cy="1623470"/>
          </a:xfrm>
          <a:custGeom>
            <a:avLst/>
            <a:gdLst/>
            <a:ahLst/>
            <a:cxnLst/>
            <a:rect r="r" b="b" t="t" l="l"/>
            <a:pathLst>
              <a:path h="1623470" w="1623470">
                <a:moveTo>
                  <a:pt x="0" y="0"/>
                </a:moveTo>
                <a:lnTo>
                  <a:pt x="1623470" y="0"/>
                </a:lnTo>
                <a:lnTo>
                  <a:pt x="1623470" y="1623469"/>
                </a:lnTo>
                <a:lnTo>
                  <a:pt x="0" y="16234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3697342">
            <a:off x="1678441" y="5178439"/>
            <a:ext cx="2044068" cy="2696013"/>
          </a:xfrm>
          <a:custGeom>
            <a:avLst/>
            <a:gdLst/>
            <a:ahLst/>
            <a:cxnLst/>
            <a:rect r="r" b="b" t="t" l="l"/>
            <a:pathLst>
              <a:path h="2696013" w="2044068">
                <a:moveTo>
                  <a:pt x="0" y="0"/>
                </a:moveTo>
                <a:lnTo>
                  <a:pt x="2044069" y="0"/>
                </a:lnTo>
                <a:lnTo>
                  <a:pt x="2044069" y="2696014"/>
                </a:lnTo>
                <a:lnTo>
                  <a:pt x="0" y="269601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814117">
            <a:off x="14638355" y="6750627"/>
            <a:ext cx="1565349" cy="2074559"/>
          </a:xfrm>
          <a:custGeom>
            <a:avLst/>
            <a:gdLst/>
            <a:ahLst/>
            <a:cxnLst/>
            <a:rect r="r" b="b" t="t" l="l"/>
            <a:pathLst>
              <a:path h="2074559" w="1565349">
                <a:moveTo>
                  <a:pt x="0" y="0"/>
                </a:moveTo>
                <a:lnTo>
                  <a:pt x="1565349" y="0"/>
                </a:lnTo>
                <a:lnTo>
                  <a:pt x="1565349" y="2074559"/>
                </a:lnTo>
                <a:lnTo>
                  <a:pt x="0" y="207455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3736033" y="2984331"/>
            <a:ext cx="11804699" cy="3726822"/>
          </a:xfrm>
          <a:prstGeom prst="rect">
            <a:avLst/>
          </a:prstGeom>
        </p:spPr>
        <p:txBody>
          <a:bodyPr anchor="t" rtlCol="false" tIns="0" lIns="0" bIns="0" rIns="0">
            <a:spAutoFit/>
          </a:bodyPr>
          <a:lstStyle/>
          <a:p>
            <a:pPr algn="ctr">
              <a:lnSpc>
                <a:spcPts val="9834"/>
              </a:lnSpc>
            </a:pPr>
            <a:r>
              <a:rPr lang="en-US" sz="7024">
                <a:solidFill>
                  <a:srgbClr val="000000"/>
                </a:solidFill>
                <a:latin typeface="Bobby Jones Condensed Soft"/>
              </a:rPr>
              <a:t>Isolating &amp; characterization of starch-utilizing bacteria from rice starch samples </a:t>
            </a:r>
          </a:p>
        </p:txBody>
      </p:sp>
      <p:sp>
        <p:nvSpPr>
          <p:cNvPr name="TextBox 9" id="9"/>
          <p:cNvSpPr txBox="true"/>
          <p:nvPr/>
        </p:nvSpPr>
        <p:spPr>
          <a:xfrm rot="0">
            <a:off x="3238515" y="1577807"/>
            <a:ext cx="7275744" cy="780360"/>
          </a:xfrm>
          <a:prstGeom prst="rect">
            <a:avLst/>
          </a:prstGeom>
        </p:spPr>
        <p:txBody>
          <a:bodyPr anchor="t" rtlCol="false" tIns="0" lIns="0" bIns="0" rIns="0">
            <a:spAutoFit/>
          </a:bodyPr>
          <a:lstStyle/>
          <a:p>
            <a:pPr algn="ctr">
              <a:lnSpc>
                <a:spcPts val="5700"/>
              </a:lnSpc>
            </a:pPr>
            <a:r>
              <a:rPr lang="en-US" sz="4071">
                <a:solidFill>
                  <a:srgbClr val="000000"/>
                </a:solidFill>
                <a:latin typeface="อีฟดอวอิ้ง"/>
              </a:rPr>
              <a:t>Presented by sangita pari </a:t>
            </a:r>
          </a:p>
        </p:txBody>
      </p:sp>
      <p:sp>
        <p:nvSpPr>
          <p:cNvPr name="TextBox 10" id="10"/>
          <p:cNvSpPr txBox="true"/>
          <p:nvPr/>
        </p:nvSpPr>
        <p:spPr>
          <a:xfrm rot="0">
            <a:off x="3238515" y="7692657"/>
            <a:ext cx="5456640" cy="929548"/>
          </a:xfrm>
          <a:prstGeom prst="rect">
            <a:avLst/>
          </a:prstGeom>
        </p:spPr>
        <p:txBody>
          <a:bodyPr anchor="t" rtlCol="false" tIns="0" lIns="0" bIns="0" rIns="0">
            <a:spAutoFit/>
          </a:bodyPr>
          <a:lstStyle/>
          <a:p>
            <a:pPr algn="ctr">
              <a:lnSpc>
                <a:spcPts val="3548"/>
              </a:lnSpc>
            </a:pPr>
            <a:r>
              <a:rPr lang="en-US" sz="2534">
                <a:solidFill>
                  <a:srgbClr val="000000"/>
                </a:solidFill>
                <a:latin typeface="อีฟดอวอิ้ง"/>
              </a:rPr>
              <a:t>B.sc microbiology, reg.no-200010376140,enroll no-2012211001037</a:t>
            </a:r>
          </a:p>
        </p:txBody>
      </p:sp>
      <p:sp>
        <p:nvSpPr>
          <p:cNvPr name="TextBox 11" id="11"/>
          <p:cNvSpPr txBox="true"/>
          <p:nvPr/>
        </p:nvSpPr>
        <p:spPr>
          <a:xfrm rot="0">
            <a:off x="11435423" y="7652254"/>
            <a:ext cx="2981420" cy="969950"/>
          </a:xfrm>
          <a:prstGeom prst="rect">
            <a:avLst/>
          </a:prstGeom>
        </p:spPr>
        <p:txBody>
          <a:bodyPr anchor="t" rtlCol="false" tIns="0" lIns="0" bIns="0" rIns="0">
            <a:spAutoFit/>
          </a:bodyPr>
          <a:lstStyle/>
          <a:p>
            <a:pPr algn="ctr">
              <a:lnSpc>
                <a:spcPts val="2497"/>
              </a:lnSpc>
            </a:pPr>
            <a:r>
              <a:rPr lang="en-US" sz="1783">
                <a:solidFill>
                  <a:srgbClr val="000000"/>
                </a:solidFill>
                <a:latin typeface="อีฟดอวอิ้ง"/>
              </a:rPr>
              <a:t>Advisor- DR. ATREYI GHOSH </a:t>
            </a:r>
          </a:p>
          <a:p>
            <a:pPr algn="ctr">
              <a:lnSpc>
                <a:spcPts val="2497"/>
              </a:lnSpc>
            </a:pPr>
            <a:r>
              <a:rPr lang="en-US" sz="1783">
                <a:solidFill>
                  <a:srgbClr val="000000"/>
                </a:solidFill>
                <a:latin typeface="อีฟดอวอิ้ง"/>
              </a:rPr>
              <a:t>ASSISTANT PROFESSOR, HOD- MICROBIOLOGY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525174" y="-2459830"/>
            <a:ext cx="9237651" cy="15287104"/>
          </a:xfrm>
          <a:custGeom>
            <a:avLst/>
            <a:gdLst/>
            <a:ahLst/>
            <a:cxnLst/>
            <a:rect r="r" b="b" t="t" l="l"/>
            <a:pathLst>
              <a:path h="15287104" w="9237651">
                <a:moveTo>
                  <a:pt x="0" y="0"/>
                </a:moveTo>
                <a:lnTo>
                  <a:pt x="9237652" y="0"/>
                </a:lnTo>
                <a:lnTo>
                  <a:pt x="9237652" y="15287104"/>
                </a:lnTo>
                <a:lnTo>
                  <a:pt x="0" y="15287104"/>
                </a:lnTo>
                <a:lnTo>
                  <a:pt x="0" y="0"/>
                </a:lnTo>
                <a:close/>
              </a:path>
            </a:pathLst>
          </a:custGeom>
          <a:blipFill>
            <a:blip r:embed="rId2">
              <a:alphaModFix amt="71000"/>
            </a:blip>
            <a:stretch>
              <a:fillRect l="-9651" t="0" r="-12187" b="0"/>
            </a:stretch>
          </a:blipFill>
        </p:spPr>
      </p:sp>
      <p:sp>
        <p:nvSpPr>
          <p:cNvPr name="Freeform 3" id="3"/>
          <p:cNvSpPr/>
          <p:nvPr/>
        </p:nvSpPr>
        <p:spPr>
          <a:xfrm flipH="false" flipV="false" rot="-814117">
            <a:off x="6795543" y="1782540"/>
            <a:ext cx="985912" cy="1306630"/>
          </a:xfrm>
          <a:custGeom>
            <a:avLst/>
            <a:gdLst/>
            <a:ahLst/>
            <a:cxnLst/>
            <a:rect r="r" b="b" t="t" l="l"/>
            <a:pathLst>
              <a:path h="1306630" w="985912">
                <a:moveTo>
                  <a:pt x="0" y="0"/>
                </a:moveTo>
                <a:lnTo>
                  <a:pt x="985912" y="0"/>
                </a:lnTo>
                <a:lnTo>
                  <a:pt x="985912" y="1306630"/>
                </a:lnTo>
                <a:lnTo>
                  <a:pt x="0" y="130663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5420209" y="1211710"/>
            <a:ext cx="8949971" cy="2200640"/>
          </a:xfrm>
          <a:prstGeom prst="rect">
            <a:avLst/>
          </a:prstGeom>
        </p:spPr>
        <p:txBody>
          <a:bodyPr anchor="t" rtlCol="false" tIns="0" lIns="0" bIns="0" rIns="0">
            <a:spAutoFit/>
          </a:bodyPr>
          <a:lstStyle/>
          <a:p>
            <a:pPr algn="ctr">
              <a:lnSpc>
                <a:spcPts val="17955"/>
              </a:lnSpc>
            </a:pPr>
            <a:r>
              <a:rPr lang="en-US" sz="12825">
                <a:solidFill>
                  <a:srgbClr val="000000"/>
                </a:solidFill>
                <a:latin typeface="Porcelain"/>
              </a:rPr>
              <a:t>Content</a:t>
            </a:r>
          </a:p>
        </p:txBody>
      </p:sp>
      <p:sp>
        <p:nvSpPr>
          <p:cNvPr name="TextBox 5" id="5"/>
          <p:cNvSpPr txBox="true"/>
          <p:nvPr/>
        </p:nvSpPr>
        <p:spPr>
          <a:xfrm rot="0">
            <a:off x="5420209" y="3326625"/>
            <a:ext cx="8949971" cy="6083543"/>
          </a:xfrm>
          <a:prstGeom prst="rect">
            <a:avLst/>
          </a:prstGeom>
        </p:spPr>
        <p:txBody>
          <a:bodyPr anchor="t" rtlCol="false" tIns="0" lIns="0" bIns="0" rIns="0">
            <a:spAutoFit/>
          </a:bodyPr>
          <a:lstStyle/>
          <a:p>
            <a:pPr algn="ctr">
              <a:lnSpc>
                <a:spcPts val="3195"/>
              </a:lnSpc>
            </a:pPr>
            <a:r>
              <a:rPr lang="en-US" sz="2282">
                <a:solidFill>
                  <a:srgbClr val="000000"/>
                </a:solidFill>
                <a:latin typeface="อีฟดอวอิ้ง"/>
              </a:rPr>
              <a:t>1. INTRODUCTION </a:t>
            </a:r>
          </a:p>
          <a:p>
            <a:pPr algn="ctr">
              <a:lnSpc>
                <a:spcPts val="3195"/>
              </a:lnSpc>
            </a:pPr>
            <a:r>
              <a:rPr lang="en-US" sz="2282">
                <a:solidFill>
                  <a:srgbClr val="000000"/>
                </a:solidFill>
                <a:latin typeface="อีฟดอวอิ้ง"/>
              </a:rPr>
              <a:t>2. PROJECT GOALS</a:t>
            </a:r>
          </a:p>
          <a:p>
            <a:pPr algn="ctr">
              <a:lnSpc>
                <a:spcPts val="3195"/>
              </a:lnSpc>
            </a:pPr>
            <a:r>
              <a:rPr lang="en-US" sz="2282">
                <a:solidFill>
                  <a:srgbClr val="000000"/>
                </a:solidFill>
                <a:latin typeface="อีฟดอวอิ้ง"/>
              </a:rPr>
              <a:t>3. PROCESS-PREPARATION CULTURE MEDIA</a:t>
            </a:r>
          </a:p>
          <a:p>
            <a:pPr algn="ctr">
              <a:lnSpc>
                <a:spcPts val="3195"/>
              </a:lnSpc>
            </a:pPr>
            <a:r>
              <a:rPr lang="en-US" sz="2282">
                <a:solidFill>
                  <a:srgbClr val="000000"/>
                </a:solidFill>
                <a:latin typeface="อีฟดอวอิ้ง"/>
              </a:rPr>
              <a:t>ISOLATION OF BACTERIAL STRAINS </a:t>
            </a:r>
          </a:p>
          <a:p>
            <a:pPr algn="ctr">
              <a:lnSpc>
                <a:spcPts val="3195"/>
              </a:lnSpc>
            </a:pPr>
            <a:r>
              <a:rPr lang="en-US" sz="2282">
                <a:solidFill>
                  <a:srgbClr val="000000"/>
                </a:solidFill>
                <a:latin typeface="อีฟดอวอิ้ง"/>
              </a:rPr>
              <a:t>4. characterization of strains-</a:t>
            </a:r>
          </a:p>
          <a:p>
            <a:pPr algn="ctr">
              <a:lnSpc>
                <a:spcPts val="3195"/>
              </a:lnSpc>
            </a:pPr>
            <a:r>
              <a:rPr lang="en-US" sz="2282">
                <a:solidFill>
                  <a:srgbClr val="000000"/>
                </a:solidFill>
                <a:latin typeface="อีฟดอวอิ้ง"/>
              </a:rPr>
              <a:t>a) STARCH HYDROLYSIS TEST </a:t>
            </a:r>
          </a:p>
          <a:p>
            <a:pPr algn="ctr">
              <a:lnSpc>
                <a:spcPts val="3195"/>
              </a:lnSpc>
            </a:pPr>
            <a:r>
              <a:rPr lang="en-US" sz="2282">
                <a:solidFill>
                  <a:srgbClr val="000000"/>
                </a:solidFill>
                <a:latin typeface="อีฟดอวอิ้ง"/>
              </a:rPr>
              <a:t>b) INDOLE TEST </a:t>
            </a:r>
          </a:p>
          <a:p>
            <a:pPr algn="ctr">
              <a:lnSpc>
                <a:spcPts val="3195"/>
              </a:lnSpc>
            </a:pPr>
            <a:r>
              <a:rPr lang="en-US" sz="2282">
                <a:solidFill>
                  <a:srgbClr val="000000"/>
                </a:solidFill>
                <a:latin typeface="อีฟดอวอิ้ง"/>
              </a:rPr>
              <a:t>c) VOGES PROSKAUER TEST </a:t>
            </a:r>
          </a:p>
          <a:p>
            <a:pPr algn="ctr">
              <a:lnSpc>
                <a:spcPts val="3195"/>
              </a:lnSpc>
            </a:pPr>
            <a:r>
              <a:rPr lang="en-US" sz="2282">
                <a:solidFill>
                  <a:srgbClr val="000000"/>
                </a:solidFill>
                <a:latin typeface="อีฟดอวอิ้ง"/>
              </a:rPr>
              <a:t>d) METHYLREDTEST</a:t>
            </a:r>
          </a:p>
          <a:p>
            <a:pPr algn="ctr">
              <a:lnSpc>
                <a:spcPts val="3195"/>
              </a:lnSpc>
            </a:pPr>
            <a:r>
              <a:rPr lang="en-US" sz="2282">
                <a:solidFill>
                  <a:srgbClr val="000000"/>
                </a:solidFill>
                <a:latin typeface="อีฟดอวอิ้ง"/>
              </a:rPr>
              <a:t>e) CITRATEUTILIZATIONTEST</a:t>
            </a:r>
          </a:p>
          <a:p>
            <a:pPr algn="ctr">
              <a:lnSpc>
                <a:spcPts val="3195"/>
              </a:lnSpc>
            </a:pPr>
            <a:r>
              <a:rPr lang="en-US" sz="2282">
                <a:solidFill>
                  <a:srgbClr val="000000"/>
                </a:solidFill>
                <a:latin typeface="อีฟดอวอิ้ง"/>
              </a:rPr>
              <a:t>5. GRAM STAINING </a:t>
            </a:r>
          </a:p>
          <a:p>
            <a:pPr algn="ctr">
              <a:lnSpc>
                <a:spcPts val="3195"/>
              </a:lnSpc>
            </a:pPr>
            <a:r>
              <a:rPr lang="en-US" sz="2282">
                <a:solidFill>
                  <a:srgbClr val="000000"/>
                </a:solidFill>
                <a:latin typeface="อีฟดอวอิ้ง"/>
              </a:rPr>
              <a:t>6. RESULT</a:t>
            </a:r>
          </a:p>
          <a:p>
            <a:pPr algn="ctr">
              <a:lnSpc>
                <a:spcPts val="3195"/>
              </a:lnSpc>
            </a:pPr>
            <a:r>
              <a:rPr lang="en-US" sz="2282">
                <a:solidFill>
                  <a:srgbClr val="000000"/>
                </a:solidFill>
                <a:latin typeface="อีฟดอวอิ้ง"/>
              </a:rPr>
              <a:t>7.CONCLUSION</a:t>
            </a:r>
          </a:p>
          <a:p>
            <a:pPr algn="ctr">
              <a:lnSpc>
                <a:spcPts val="3195"/>
              </a:lnSpc>
            </a:pPr>
            <a:r>
              <a:rPr lang="en-US" sz="2282">
                <a:solidFill>
                  <a:srgbClr val="000000"/>
                </a:solidFill>
                <a:latin typeface="อีฟดอวอิ้ง"/>
              </a:rPr>
              <a:t>8. REFERENCES</a:t>
            </a:r>
          </a:p>
          <a:p>
            <a:pPr algn="ctr">
              <a:lnSpc>
                <a:spcPts val="3195"/>
              </a:lnSpc>
            </a:pPr>
          </a:p>
        </p:txBody>
      </p:sp>
      <p:sp>
        <p:nvSpPr>
          <p:cNvPr name="Freeform 6" id="6"/>
          <p:cNvSpPr/>
          <p:nvPr/>
        </p:nvSpPr>
        <p:spPr>
          <a:xfrm flipH="false" flipV="true" rot="5400000">
            <a:off x="-3184858" y="4931786"/>
            <a:ext cx="9237651" cy="503872"/>
          </a:xfrm>
          <a:custGeom>
            <a:avLst/>
            <a:gdLst/>
            <a:ahLst/>
            <a:cxnLst/>
            <a:rect r="r" b="b" t="t" l="l"/>
            <a:pathLst>
              <a:path h="503872" w="9237651">
                <a:moveTo>
                  <a:pt x="0" y="503872"/>
                </a:moveTo>
                <a:lnTo>
                  <a:pt x="9237651" y="503872"/>
                </a:lnTo>
                <a:lnTo>
                  <a:pt x="9237651" y="0"/>
                </a:lnTo>
                <a:lnTo>
                  <a:pt x="0" y="0"/>
                </a:lnTo>
                <a:lnTo>
                  <a:pt x="0" y="503872"/>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true" flipV="true" rot="5400000">
            <a:off x="12205614" y="4891564"/>
            <a:ext cx="9237651" cy="503872"/>
          </a:xfrm>
          <a:custGeom>
            <a:avLst/>
            <a:gdLst/>
            <a:ahLst/>
            <a:cxnLst/>
            <a:rect r="r" b="b" t="t" l="l"/>
            <a:pathLst>
              <a:path h="503872" w="9237651">
                <a:moveTo>
                  <a:pt x="9237652" y="503872"/>
                </a:moveTo>
                <a:lnTo>
                  <a:pt x="0" y="503872"/>
                </a:lnTo>
                <a:lnTo>
                  <a:pt x="0" y="0"/>
                </a:lnTo>
                <a:lnTo>
                  <a:pt x="9237652" y="0"/>
                </a:lnTo>
                <a:lnTo>
                  <a:pt x="9237652" y="503872"/>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2034326" y="878970"/>
            <a:ext cx="4378439"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rPr>
              <a:t> Topic for discussion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525174" y="-2459830"/>
            <a:ext cx="9237651" cy="15287104"/>
          </a:xfrm>
          <a:custGeom>
            <a:avLst/>
            <a:gdLst/>
            <a:ahLst/>
            <a:cxnLst/>
            <a:rect r="r" b="b" t="t" l="l"/>
            <a:pathLst>
              <a:path h="15287104" w="9237651">
                <a:moveTo>
                  <a:pt x="0" y="0"/>
                </a:moveTo>
                <a:lnTo>
                  <a:pt x="9237652" y="0"/>
                </a:lnTo>
                <a:lnTo>
                  <a:pt x="9237652" y="15287104"/>
                </a:lnTo>
                <a:lnTo>
                  <a:pt x="0" y="15287104"/>
                </a:lnTo>
                <a:lnTo>
                  <a:pt x="0" y="0"/>
                </a:lnTo>
                <a:close/>
              </a:path>
            </a:pathLst>
          </a:custGeom>
          <a:blipFill>
            <a:blip r:embed="rId2">
              <a:alphaModFix amt="71000"/>
            </a:blip>
            <a:stretch>
              <a:fillRect l="-9651" t="0" r="-12187" b="0"/>
            </a:stretch>
          </a:blipFill>
        </p:spPr>
      </p:sp>
      <p:sp>
        <p:nvSpPr>
          <p:cNvPr name="Freeform 3" id="3"/>
          <p:cNvSpPr/>
          <p:nvPr/>
        </p:nvSpPr>
        <p:spPr>
          <a:xfrm flipH="false" flipV="true" rot="5400000">
            <a:off x="-3184858" y="4931786"/>
            <a:ext cx="9237651" cy="503872"/>
          </a:xfrm>
          <a:custGeom>
            <a:avLst/>
            <a:gdLst/>
            <a:ahLst/>
            <a:cxnLst/>
            <a:rect r="r" b="b" t="t" l="l"/>
            <a:pathLst>
              <a:path h="503872" w="9237651">
                <a:moveTo>
                  <a:pt x="0" y="503872"/>
                </a:moveTo>
                <a:lnTo>
                  <a:pt x="9237651" y="503872"/>
                </a:lnTo>
                <a:lnTo>
                  <a:pt x="9237651" y="0"/>
                </a:lnTo>
                <a:lnTo>
                  <a:pt x="0" y="0"/>
                </a:lnTo>
                <a:lnTo>
                  <a:pt x="0"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5400000">
            <a:off x="12205614" y="4891564"/>
            <a:ext cx="9237651" cy="503872"/>
          </a:xfrm>
          <a:custGeom>
            <a:avLst/>
            <a:gdLst/>
            <a:ahLst/>
            <a:cxnLst/>
            <a:rect r="r" b="b" t="t" l="l"/>
            <a:pathLst>
              <a:path h="503872" w="9237651">
                <a:moveTo>
                  <a:pt x="9237652" y="503872"/>
                </a:moveTo>
                <a:lnTo>
                  <a:pt x="0" y="503872"/>
                </a:lnTo>
                <a:lnTo>
                  <a:pt x="0" y="0"/>
                </a:lnTo>
                <a:lnTo>
                  <a:pt x="9237652" y="0"/>
                </a:lnTo>
                <a:lnTo>
                  <a:pt x="9237652"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4920107">
            <a:off x="4536409" y="1541173"/>
            <a:ext cx="1398848" cy="1398848"/>
          </a:xfrm>
          <a:custGeom>
            <a:avLst/>
            <a:gdLst/>
            <a:ahLst/>
            <a:cxnLst/>
            <a:rect r="r" b="b" t="t" l="l"/>
            <a:pathLst>
              <a:path h="1398848" w="1398848">
                <a:moveTo>
                  <a:pt x="0" y="0"/>
                </a:moveTo>
                <a:lnTo>
                  <a:pt x="1398848" y="0"/>
                </a:lnTo>
                <a:lnTo>
                  <a:pt x="1398848" y="1398848"/>
                </a:lnTo>
                <a:lnTo>
                  <a:pt x="0" y="13988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4982504" y="1203008"/>
            <a:ext cx="8023877" cy="2200640"/>
          </a:xfrm>
          <a:prstGeom prst="rect">
            <a:avLst/>
          </a:prstGeom>
        </p:spPr>
        <p:txBody>
          <a:bodyPr anchor="t" rtlCol="false" tIns="0" lIns="0" bIns="0" rIns="0">
            <a:spAutoFit/>
          </a:bodyPr>
          <a:lstStyle/>
          <a:p>
            <a:pPr algn="ctr">
              <a:lnSpc>
                <a:spcPts val="17955"/>
              </a:lnSpc>
            </a:pPr>
            <a:r>
              <a:rPr lang="en-US" sz="12825">
                <a:solidFill>
                  <a:srgbClr val="000000"/>
                </a:solidFill>
                <a:latin typeface="Porcelain"/>
              </a:rPr>
              <a:t>Introduction</a:t>
            </a:r>
          </a:p>
        </p:txBody>
      </p:sp>
      <p:sp>
        <p:nvSpPr>
          <p:cNvPr name="TextBox 7" id="7"/>
          <p:cNvSpPr txBox="true"/>
          <p:nvPr/>
        </p:nvSpPr>
        <p:spPr>
          <a:xfrm rot="0">
            <a:off x="2486818" y="3298873"/>
            <a:ext cx="13015249" cy="4834357"/>
          </a:xfrm>
          <a:prstGeom prst="rect">
            <a:avLst/>
          </a:prstGeom>
        </p:spPr>
        <p:txBody>
          <a:bodyPr anchor="t" rtlCol="false" tIns="0" lIns="0" bIns="0" rIns="0">
            <a:spAutoFit/>
          </a:bodyPr>
          <a:lstStyle/>
          <a:p>
            <a:pPr algn="ctr">
              <a:lnSpc>
                <a:spcPts val="3789"/>
              </a:lnSpc>
            </a:pPr>
            <a:r>
              <a:rPr lang="en-US" sz="2706">
                <a:solidFill>
                  <a:srgbClr val="000000"/>
                </a:solidFill>
                <a:latin typeface="อีฟดอวอิ้ง"/>
              </a:rPr>
              <a:t>The starch hydrolytic amylases are the most widely used enzymes in present day industries. Glycoamylases are exo-acting amylases that produce glucose from the non- reducing end of starch and corresponding oligosaccharides. Amylases can be produced from various sources but amylases from microbes are most suitable for industrial production due to microbial short growth period, low cost effective production,eco-friendly behavior and easy manipulation of bacterial genes. Also, utilization of easily available and cheap sources of starch like rice water and potato can be used as the media and source for the isolation and growth of amylase-producing starch-utilising bacteria which highly benefits the industries as the method is cost effective and requires very limited resources.</a:t>
            </a:r>
          </a:p>
        </p:txBody>
      </p:sp>
      <p:grpSp>
        <p:nvGrpSpPr>
          <p:cNvPr name="Group 8" id="8"/>
          <p:cNvGrpSpPr/>
          <p:nvPr/>
        </p:nvGrpSpPr>
        <p:grpSpPr>
          <a:xfrm rot="0">
            <a:off x="16225838" y="1271588"/>
            <a:ext cx="110490" cy="108585"/>
            <a:chOff x="0" y="0"/>
            <a:chExt cx="147320" cy="144780"/>
          </a:xfrm>
        </p:grpSpPr>
        <p:sp>
          <p:nvSpPr>
            <p:cNvPr name="Freeform 9" id="9"/>
            <p:cNvSpPr/>
            <p:nvPr/>
          </p:nvSpPr>
          <p:spPr>
            <a:xfrm flipH="false" flipV="false" rot="0">
              <a:off x="46990" y="45720"/>
              <a:ext cx="49530" cy="52070"/>
            </a:xfrm>
            <a:custGeom>
              <a:avLst/>
              <a:gdLst/>
              <a:ahLst/>
              <a:cxnLst/>
              <a:rect r="r" b="b" t="t" l="l"/>
              <a:pathLst>
                <a:path h="52070" w="49530">
                  <a:moveTo>
                    <a:pt x="49530" y="17780"/>
                  </a:moveTo>
                  <a:cubicBezTo>
                    <a:pt x="27940" y="52070"/>
                    <a:pt x="7620" y="45720"/>
                    <a:pt x="3810" y="38100"/>
                  </a:cubicBezTo>
                  <a:cubicBezTo>
                    <a:pt x="0" y="30480"/>
                    <a:pt x="3810" y="10160"/>
                    <a:pt x="10160" y="5080"/>
                  </a:cubicBezTo>
                  <a:cubicBezTo>
                    <a:pt x="16510" y="0"/>
                    <a:pt x="43180" y="7620"/>
                    <a:pt x="43180" y="7620"/>
                  </a:cubicBezTo>
                </a:path>
              </a:pathLst>
            </a:custGeom>
            <a:solidFill>
              <a:srgbClr val="2D90EB"/>
            </a:solidFill>
            <a:ln cap="sq">
              <a:noFill/>
              <a:prstDash val="solid"/>
              <a:miter/>
            </a:ln>
          </p:spPr>
        </p:sp>
      </p:grpSp>
      <p:grpSp>
        <p:nvGrpSpPr>
          <p:cNvPr name="Group 10" id="10"/>
          <p:cNvGrpSpPr/>
          <p:nvPr/>
        </p:nvGrpSpPr>
        <p:grpSpPr>
          <a:xfrm rot="0">
            <a:off x="16404907" y="1415415"/>
            <a:ext cx="111442" cy="108585"/>
            <a:chOff x="0" y="0"/>
            <a:chExt cx="148590" cy="144780"/>
          </a:xfrm>
        </p:grpSpPr>
        <p:sp>
          <p:nvSpPr>
            <p:cNvPr name="Freeform 11" id="11"/>
            <p:cNvSpPr/>
            <p:nvPr/>
          </p:nvSpPr>
          <p:spPr>
            <a:xfrm flipH="false" flipV="false" rot="0">
              <a:off x="46990" y="45720"/>
              <a:ext cx="50800" cy="52070"/>
            </a:xfrm>
            <a:custGeom>
              <a:avLst/>
              <a:gdLst/>
              <a:ahLst/>
              <a:cxnLst/>
              <a:rect r="r" b="b" t="t" l="l"/>
              <a:pathLst>
                <a:path h="52070" w="50800">
                  <a:moveTo>
                    <a:pt x="50800" y="16510"/>
                  </a:moveTo>
                  <a:cubicBezTo>
                    <a:pt x="29210" y="52070"/>
                    <a:pt x="7620" y="45720"/>
                    <a:pt x="3810" y="38100"/>
                  </a:cubicBezTo>
                  <a:cubicBezTo>
                    <a:pt x="0" y="30480"/>
                    <a:pt x="3810" y="10160"/>
                    <a:pt x="10160" y="5080"/>
                  </a:cubicBezTo>
                  <a:cubicBezTo>
                    <a:pt x="16510" y="0"/>
                    <a:pt x="44450" y="6350"/>
                    <a:pt x="44450" y="6350"/>
                  </a:cubicBezTo>
                </a:path>
              </a:pathLst>
            </a:custGeom>
            <a:solidFill>
              <a:srgbClr val="2D90EB"/>
            </a:solidFill>
            <a:ln cap="sq">
              <a:noFill/>
              <a:prstDash val="solid"/>
              <a:miter/>
            </a:ln>
          </p:spPr>
        </p:sp>
      </p:grpSp>
      <p:grpSp>
        <p:nvGrpSpPr>
          <p:cNvPr name="Group 12" id="12"/>
          <p:cNvGrpSpPr/>
          <p:nvPr/>
        </p:nvGrpSpPr>
        <p:grpSpPr>
          <a:xfrm rot="0">
            <a:off x="16548735" y="1450658"/>
            <a:ext cx="110490" cy="108585"/>
            <a:chOff x="0" y="0"/>
            <a:chExt cx="147320" cy="144780"/>
          </a:xfrm>
        </p:grpSpPr>
        <p:sp>
          <p:nvSpPr>
            <p:cNvPr name="Freeform 13" id="13"/>
            <p:cNvSpPr/>
            <p:nvPr/>
          </p:nvSpPr>
          <p:spPr>
            <a:xfrm flipH="false" flipV="false" rot="0">
              <a:off x="46990" y="45720"/>
              <a:ext cx="49530" cy="52070"/>
            </a:xfrm>
            <a:custGeom>
              <a:avLst/>
              <a:gdLst/>
              <a:ahLst/>
              <a:cxnLst/>
              <a:rect r="r" b="b" t="t" l="l"/>
              <a:pathLst>
                <a:path h="52070" w="49530">
                  <a:moveTo>
                    <a:pt x="49530" y="17780"/>
                  </a:moveTo>
                  <a:cubicBezTo>
                    <a:pt x="27940" y="52070"/>
                    <a:pt x="7620" y="45720"/>
                    <a:pt x="3810" y="38100"/>
                  </a:cubicBezTo>
                  <a:cubicBezTo>
                    <a:pt x="0" y="30480"/>
                    <a:pt x="3810" y="10160"/>
                    <a:pt x="10160" y="5080"/>
                  </a:cubicBezTo>
                  <a:cubicBezTo>
                    <a:pt x="16510" y="0"/>
                    <a:pt x="43180" y="7620"/>
                    <a:pt x="43180" y="7620"/>
                  </a:cubicBezTo>
                </a:path>
              </a:pathLst>
            </a:custGeom>
            <a:solidFill>
              <a:srgbClr val="2D90EB"/>
            </a:solidFill>
            <a:ln cap="sq">
              <a:noFill/>
              <a:prstDash val="solid"/>
              <a:miter/>
            </a:ln>
          </p:spPr>
        </p:sp>
      </p:grpSp>
      <p:sp>
        <p:nvSpPr>
          <p:cNvPr name="Freeform 14" id="14"/>
          <p:cNvSpPr/>
          <p:nvPr/>
        </p:nvSpPr>
        <p:spPr>
          <a:xfrm flipH="false" flipV="false" rot="3697342">
            <a:off x="15471050" y="6969435"/>
            <a:ext cx="1620064" cy="2136775"/>
          </a:xfrm>
          <a:custGeom>
            <a:avLst/>
            <a:gdLst/>
            <a:ahLst/>
            <a:cxnLst/>
            <a:rect r="r" b="b" t="t" l="l"/>
            <a:pathLst>
              <a:path h="2136775" w="1620064">
                <a:moveTo>
                  <a:pt x="0" y="0"/>
                </a:moveTo>
                <a:lnTo>
                  <a:pt x="1620065" y="0"/>
                </a:lnTo>
                <a:lnTo>
                  <a:pt x="1620065" y="2136775"/>
                </a:lnTo>
                <a:lnTo>
                  <a:pt x="0" y="21367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525174" y="-2459830"/>
            <a:ext cx="9237651" cy="15287104"/>
          </a:xfrm>
          <a:custGeom>
            <a:avLst/>
            <a:gdLst/>
            <a:ahLst/>
            <a:cxnLst/>
            <a:rect r="r" b="b" t="t" l="l"/>
            <a:pathLst>
              <a:path h="15287104" w="9237651">
                <a:moveTo>
                  <a:pt x="0" y="0"/>
                </a:moveTo>
                <a:lnTo>
                  <a:pt x="9237652" y="0"/>
                </a:lnTo>
                <a:lnTo>
                  <a:pt x="9237652" y="15287104"/>
                </a:lnTo>
                <a:lnTo>
                  <a:pt x="0" y="15287104"/>
                </a:lnTo>
                <a:lnTo>
                  <a:pt x="0" y="0"/>
                </a:lnTo>
                <a:close/>
              </a:path>
            </a:pathLst>
          </a:custGeom>
          <a:blipFill>
            <a:blip r:embed="rId2">
              <a:alphaModFix amt="71000"/>
            </a:blip>
            <a:stretch>
              <a:fillRect l="-9651" t="0" r="-12187" b="0"/>
            </a:stretch>
          </a:blipFill>
        </p:spPr>
      </p:sp>
      <p:sp>
        <p:nvSpPr>
          <p:cNvPr name="Freeform 3" id="3"/>
          <p:cNvSpPr/>
          <p:nvPr/>
        </p:nvSpPr>
        <p:spPr>
          <a:xfrm flipH="false" flipV="true" rot="5400000">
            <a:off x="-3184858" y="4931786"/>
            <a:ext cx="9237651" cy="503872"/>
          </a:xfrm>
          <a:custGeom>
            <a:avLst/>
            <a:gdLst/>
            <a:ahLst/>
            <a:cxnLst/>
            <a:rect r="r" b="b" t="t" l="l"/>
            <a:pathLst>
              <a:path h="503872" w="9237651">
                <a:moveTo>
                  <a:pt x="0" y="503872"/>
                </a:moveTo>
                <a:lnTo>
                  <a:pt x="9237651" y="503872"/>
                </a:lnTo>
                <a:lnTo>
                  <a:pt x="9237651" y="0"/>
                </a:lnTo>
                <a:lnTo>
                  <a:pt x="0" y="0"/>
                </a:lnTo>
                <a:lnTo>
                  <a:pt x="0"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5400000">
            <a:off x="12205614" y="4891564"/>
            <a:ext cx="9237651" cy="503872"/>
          </a:xfrm>
          <a:custGeom>
            <a:avLst/>
            <a:gdLst/>
            <a:ahLst/>
            <a:cxnLst/>
            <a:rect r="r" b="b" t="t" l="l"/>
            <a:pathLst>
              <a:path h="503872" w="9237651">
                <a:moveTo>
                  <a:pt x="9237652" y="503872"/>
                </a:moveTo>
                <a:lnTo>
                  <a:pt x="0" y="503872"/>
                </a:lnTo>
                <a:lnTo>
                  <a:pt x="0" y="0"/>
                </a:lnTo>
                <a:lnTo>
                  <a:pt x="9237652" y="0"/>
                </a:lnTo>
                <a:lnTo>
                  <a:pt x="9237652"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5157243" y="840758"/>
            <a:ext cx="8023877" cy="2200640"/>
          </a:xfrm>
          <a:prstGeom prst="rect">
            <a:avLst/>
          </a:prstGeom>
        </p:spPr>
        <p:txBody>
          <a:bodyPr anchor="t" rtlCol="false" tIns="0" lIns="0" bIns="0" rIns="0">
            <a:spAutoFit/>
          </a:bodyPr>
          <a:lstStyle/>
          <a:p>
            <a:pPr algn="ctr">
              <a:lnSpc>
                <a:spcPts val="17955"/>
              </a:lnSpc>
            </a:pPr>
            <a:r>
              <a:rPr lang="en-US" sz="12825">
                <a:solidFill>
                  <a:srgbClr val="000000"/>
                </a:solidFill>
                <a:latin typeface="Porcelain"/>
              </a:rPr>
              <a:t>Project Goals</a:t>
            </a:r>
          </a:p>
        </p:txBody>
      </p:sp>
      <p:grpSp>
        <p:nvGrpSpPr>
          <p:cNvPr name="Group 6" id="6"/>
          <p:cNvGrpSpPr/>
          <p:nvPr/>
        </p:nvGrpSpPr>
        <p:grpSpPr>
          <a:xfrm rot="0">
            <a:off x="16225838" y="1271588"/>
            <a:ext cx="110490" cy="108585"/>
            <a:chOff x="0" y="0"/>
            <a:chExt cx="147320" cy="144780"/>
          </a:xfrm>
        </p:grpSpPr>
        <p:sp>
          <p:nvSpPr>
            <p:cNvPr name="Freeform 7" id="7"/>
            <p:cNvSpPr/>
            <p:nvPr/>
          </p:nvSpPr>
          <p:spPr>
            <a:xfrm flipH="false" flipV="false" rot="0">
              <a:off x="46990" y="45720"/>
              <a:ext cx="49530" cy="52070"/>
            </a:xfrm>
            <a:custGeom>
              <a:avLst/>
              <a:gdLst/>
              <a:ahLst/>
              <a:cxnLst/>
              <a:rect r="r" b="b" t="t" l="l"/>
              <a:pathLst>
                <a:path h="52070" w="49530">
                  <a:moveTo>
                    <a:pt x="49530" y="17780"/>
                  </a:moveTo>
                  <a:cubicBezTo>
                    <a:pt x="27940" y="52070"/>
                    <a:pt x="7620" y="45720"/>
                    <a:pt x="3810" y="38100"/>
                  </a:cubicBezTo>
                  <a:cubicBezTo>
                    <a:pt x="0" y="30480"/>
                    <a:pt x="3810" y="10160"/>
                    <a:pt x="10160" y="5080"/>
                  </a:cubicBezTo>
                  <a:cubicBezTo>
                    <a:pt x="16510" y="0"/>
                    <a:pt x="43180" y="7620"/>
                    <a:pt x="43180" y="7620"/>
                  </a:cubicBezTo>
                </a:path>
              </a:pathLst>
            </a:custGeom>
            <a:solidFill>
              <a:srgbClr val="2D90EB"/>
            </a:solidFill>
            <a:ln cap="sq">
              <a:noFill/>
              <a:prstDash val="solid"/>
              <a:miter/>
            </a:ln>
          </p:spPr>
        </p:sp>
      </p:grpSp>
      <p:grpSp>
        <p:nvGrpSpPr>
          <p:cNvPr name="Group 8" id="8"/>
          <p:cNvGrpSpPr/>
          <p:nvPr/>
        </p:nvGrpSpPr>
        <p:grpSpPr>
          <a:xfrm rot="0">
            <a:off x="16404907" y="1415415"/>
            <a:ext cx="111442" cy="108585"/>
            <a:chOff x="0" y="0"/>
            <a:chExt cx="148590" cy="144780"/>
          </a:xfrm>
        </p:grpSpPr>
        <p:sp>
          <p:nvSpPr>
            <p:cNvPr name="Freeform 9" id="9"/>
            <p:cNvSpPr/>
            <p:nvPr/>
          </p:nvSpPr>
          <p:spPr>
            <a:xfrm flipH="false" flipV="false" rot="0">
              <a:off x="46990" y="45720"/>
              <a:ext cx="50800" cy="52070"/>
            </a:xfrm>
            <a:custGeom>
              <a:avLst/>
              <a:gdLst/>
              <a:ahLst/>
              <a:cxnLst/>
              <a:rect r="r" b="b" t="t" l="l"/>
              <a:pathLst>
                <a:path h="52070" w="50800">
                  <a:moveTo>
                    <a:pt x="50800" y="16510"/>
                  </a:moveTo>
                  <a:cubicBezTo>
                    <a:pt x="29210" y="52070"/>
                    <a:pt x="7620" y="45720"/>
                    <a:pt x="3810" y="38100"/>
                  </a:cubicBezTo>
                  <a:cubicBezTo>
                    <a:pt x="0" y="30480"/>
                    <a:pt x="3810" y="10160"/>
                    <a:pt x="10160" y="5080"/>
                  </a:cubicBezTo>
                  <a:cubicBezTo>
                    <a:pt x="16510" y="0"/>
                    <a:pt x="44450" y="6350"/>
                    <a:pt x="44450" y="6350"/>
                  </a:cubicBezTo>
                </a:path>
              </a:pathLst>
            </a:custGeom>
            <a:solidFill>
              <a:srgbClr val="2D90EB"/>
            </a:solidFill>
            <a:ln cap="sq">
              <a:noFill/>
              <a:prstDash val="solid"/>
              <a:miter/>
            </a:ln>
          </p:spPr>
        </p:sp>
      </p:grpSp>
      <p:grpSp>
        <p:nvGrpSpPr>
          <p:cNvPr name="Group 10" id="10"/>
          <p:cNvGrpSpPr/>
          <p:nvPr/>
        </p:nvGrpSpPr>
        <p:grpSpPr>
          <a:xfrm rot="0">
            <a:off x="16548735" y="1450658"/>
            <a:ext cx="110490" cy="108585"/>
            <a:chOff x="0" y="0"/>
            <a:chExt cx="147320" cy="144780"/>
          </a:xfrm>
        </p:grpSpPr>
        <p:sp>
          <p:nvSpPr>
            <p:cNvPr name="Freeform 11" id="11"/>
            <p:cNvSpPr/>
            <p:nvPr/>
          </p:nvSpPr>
          <p:spPr>
            <a:xfrm flipH="false" flipV="false" rot="0">
              <a:off x="46990" y="45720"/>
              <a:ext cx="49530" cy="52070"/>
            </a:xfrm>
            <a:custGeom>
              <a:avLst/>
              <a:gdLst/>
              <a:ahLst/>
              <a:cxnLst/>
              <a:rect r="r" b="b" t="t" l="l"/>
              <a:pathLst>
                <a:path h="52070" w="49530">
                  <a:moveTo>
                    <a:pt x="49530" y="17780"/>
                  </a:moveTo>
                  <a:cubicBezTo>
                    <a:pt x="27940" y="52070"/>
                    <a:pt x="7620" y="45720"/>
                    <a:pt x="3810" y="38100"/>
                  </a:cubicBezTo>
                  <a:cubicBezTo>
                    <a:pt x="0" y="30480"/>
                    <a:pt x="3810" y="10160"/>
                    <a:pt x="10160" y="5080"/>
                  </a:cubicBezTo>
                  <a:cubicBezTo>
                    <a:pt x="16510" y="0"/>
                    <a:pt x="43180" y="7620"/>
                    <a:pt x="43180" y="7620"/>
                  </a:cubicBezTo>
                </a:path>
              </a:pathLst>
            </a:custGeom>
            <a:solidFill>
              <a:srgbClr val="2D90EB"/>
            </a:solidFill>
            <a:ln cap="sq">
              <a:noFill/>
              <a:prstDash val="solid"/>
              <a:miter/>
            </a:ln>
          </p:spPr>
        </p:sp>
      </p:grpSp>
      <p:sp>
        <p:nvSpPr>
          <p:cNvPr name="Freeform 12" id="12"/>
          <p:cNvSpPr/>
          <p:nvPr/>
        </p:nvSpPr>
        <p:spPr>
          <a:xfrm flipH="false" flipV="false" rot="4877845">
            <a:off x="4273786" y="935065"/>
            <a:ext cx="1430694" cy="1887007"/>
          </a:xfrm>
          <a:custGeom>
            <a:avLst/>
            <a:gdLst/>
            <a:ahLst/>
            <a:cxnLst/>
            <a:rect r="r" b="b" t="t" l="l"/>
            <a:pathLst>
              <a:path h="1887007" w="1430694">
                <a:moveTo>
                  <a:pt x="0" y="0"/>
                </a:moveTo>
                <a:lnTo>
                  <a:pt x="1430695" y="0"/>
                </a:lnTo>
                <a:lnTo>
                  <a:pt x="1430695" y="1887007"/>
                </a:lnTo>
                <a:lnTo>
                  <a:pt x="0" y="188700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2652798" y="3932044"/>
            <a:ext cx="3630739" cy="2897990"/>
          </a:xfrm>
          <a:custGeom>
            <a:avLst/>
            <a:gdLst/>
            <a:ahLst/>
            <a:cxnLst/>
            <a:rect r="r" b="b" t="t" l="l"/>
            <a:pathLst>
              <a:path h="2897990" w="3630739">
                <a:moveTo>
                  <a:pt x="0" y="0"/>
                </a:moveTo>
                <a:lnTo>
                  <a:pt x="3630739" y="0"/>
                </a:lnTo>
                <a:lnTo>
                  <a:pt x="3630739" y="2897990"/>
                </a:lnTo>
                <a:lnTo>
                  <a:pt x="0" y="289799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4" id="14"/>
          <p:cNvSpPr txBox="true"/>
          <p:nvPr/>
        </p:nvSpPr>
        <p:spPr>
          <a:xfrm rot="0">
            <a:off x="2450102" y="4724207"/>
            <a:ext cx="4089103" cy="908050"/>
          </a:xfrm>
          <a:prstGeom prst="rect">
            <a:avLst/>
          </a:prstGeom>
        </p:spPr>
        <p:txBody>
          <a:bodyPr anchor="t" rtlCol="false" tIns="0" lIns="0" bIns="0" rIns="0">
            <a:spAutoFit/>
          </a:bodyPr>
          <a:lstStyle/>
          <a:p>
            <a:pPr algn="ctr">
              <a:lnSpc>
                <a:spcPts val="3499"/>
              </a:lnSpc>
            </a:pPr>
            <a:r>
              <a:rPr lang="en-US" sz="2499">
                <a:solidFill>
                  <a:srgbClr val="000000"/>
                </a:solidFill>
                <a:latin typeface="อีฟดอวอิ้ง"/>
              </a:rPr>
              <a:t>Isolating starch utilising bacteria </a:t>
            </a:r>
          </a:p>
        </p:txBody>
      </p:sp>
      <p:sp>
        <p:nvSpPr>
          <p:cNvPr name="TextBox 15" id="15"/>
          <p:cNvSpPr txBox="true"/>
          <p:nvPr/>
        </p:nvSpPr>
        <p:spPr>
          <a:xfrm rot="77721">
            <a:off x="3962166" y="3530226"/>
            <a:ext cx="1067635" cy="1277319"/>
          </a:xfrm>
          <a:prstGeom prst="rect">
            <a:avLst/>
          </a:prstGeom>
        </p:spPr>
        <p:txBody>
          <a:bodyPr anchor="t" rtlCol="false" tIns="0" lIns="0" bIns="0" rIns="0">
            <a:spAutoFit/>
          </a:bodyPr>
          <a:lstStyle/>
          <a:p>
            <a:pPr algn="ctr">
              <a:lnSpc>
                <a:spcPts val="10342"/>
              </a:lnSpc>
            </a:pPr>
            <a:r>
              <a:rPr lang="en-US" sz="7387">
                <a:solidFill>
                  <a:srgbClr val="FFFFFF"/>
                </a:solidFill>
                <a:latin typeface="Porcelain"/>
              </a:rPr>
              <a:t>1</a:t>
            </a:r>
          </a:p>
        </p:txBody>
      </p:sp>
      <p:sp>
        <p:nvSpPr>
          <p:cNvPr name="Freeform 16" id="16"/>
          <p:cNvSpPr/>
          <p:nvPr/>
        </p:nvSpPr>
        <p:spPr>
          <a:xfrm flipH="false" flipV="false" rot="0">
            <a:off x="7052203" y="3726784"/>
            <a:ext cx="3756218" cy="2998145"/>
          </a:xfrm>
          <a:custGeom>
            <a:avLst/>
            <a:gdLst/>
            <a:ahLst/>
            <a:cxnLst/>
            <a:rect r="r" b="b" t="t" l="l"/>
            <a:pathLst>
              <a:path h="2998145" w="3756218">
                <a:moveTo>
                  <a:pt x="0" y="0"/>
                </a:moveTo>
                <a:lnTo>
                  <a:pt x="3756218" y="0"/>
                </a:lnTo>
                <a:lnTo>
                  <a:pt x="3756218" y="2998145"/>
                </a:lnTo>
                <a:lnTo>
                  <a:pt x="0" y="299814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7" id="17"/>
          <p:cNvSpPr txBox="true"/>
          <p:nvPr/>
        </p:nvSpPr>
        <p:spPr>
          <a:xfrm rot="0">
            <a:off x="6885761" y="4609784"/>
            <a:ext cx="4089103" cy="1043101"/>
          </a:xfrm>
          <a:prstGeom prst="rect">
            <a:avLst/>
          </a:prstGeom>
        </p:spPr>
        <p:txBody>
          <a:bodyPr anchor="t" rtlCol="false" tIns="0" lIns="0" bIns="0" rIns="0">
            <a:spAutoFit/>
          </a:bodyPr>
          <a:lstStyle/>
          <a:p>
            <a:pPr algn="ctr">
              <a:lnSpc>
                <a:spcPts val="3989"/>
              </a:lnSpc>
            </a:pPr>
            <a:r>
              <a:rPr lang="en-US" sz="2849">
                <a:solidFill>
                  <a:srgbClr val="000000"/>
                </a:solidFill>
                <a:latin typeface="อีฟดอวอิ้ง"/>
              </a:rPr>
              <a:t>Screening for amylase activity </a:t>
            </a:r>
          </a:p>
        </p:txBody>
      </p:sp>
      <p:sp>
        <p:nvSpPr>
          <p:cNvPr name="TextBox 18" id="18"/>
          <p:cNvSpPr txBox="true"/>
          <p:nvPr/>
        </p:nvSpPr>
        <p:spPr>
          <a:xfrm rot="77721">
            <a:off x="8560124" y="3572611"/>
            <a:ext cx="600859" cy="917768"/>
          </a:xfrm>
          <a:prstGeom prst="rect">
            <a:avLst/>
          </a:prstGeom>
        </p:spPr>
        <p:txBody>
          <a:bodyPr anchor="t" rtlCol="false" tIns="0" lIns="0" bIns="0" rIns="0">
            <a:spAutoFit/>
          </a:bodyPr>
          <a:lstStyle/>
          <a:p>
            <a:pPr algn="ctr">
              <a:lnSpc>
                <a:spcPts val="7474"/>
              </a:lnSpc>
            </a:pPr>
            <a:r>
              <a:rPr lang="en-US" sz="5338">
                <a:solidFill>
                  <a:srgbClr val="1B1B2B"/>
                </a:solidFill>
                <a:latin typeface="Porcelain"/>
              </a:rPr>
              <a:t>2</a:t>
            </a:r>
          </a:p>
        </p:txBody>
      </p:sp>
      <p:sp>
        <p:nvSpPr>
          <p:cNvPr name="Freeform 19" id="19"/>
          <p:cNvSpPr/>
          <p:nvPr/>
        </p:nvSpPr>
        <p:spPr>
          <a:xfrm flipH="false" flipV="false" rot="0">
            <a:off x="11895575" y="3644427"/>
            <a:ext cx="3756218" cy="2998145"/>
          </a:xfrm>
          <a:custGeom>
            <a:avLst/>
            <a:gdLst/>
            <a:ahLst/>
            <a:cxnLst/>
            <a:rect r="r" b="b" t="t" l="l"/>
            <a:pathLst>
              <a:path h="2998145" w="3756218">
                <a:moveTo>
                  <a:pt x="0" y="0"/>
                </a:moveTo>
                <a:lnTo>
                  <a:pt x="3756218" y="0"/>
                </a:lnTo>
                <a:lnTo>
                  <a:pt x="3756218" y="2998146"/>
                </a:lnTo>
                <a:lnTo>
                  <a:pt x="0" y="299814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0" id="20"/>
          <p:cNvSpPr txBox="true"/>
          <p:nvPr/>
        </p:nvSpPr>
        <p:spPr>
          <a:xfrm rot="77721">
            <a:off x="13417436" y="3545759"/>
            <a:ext cx="547882" cy="846087"/>
          </a:xfrm>
          <a:prstGeom prst="rect">
            <a:avLst/>
          </a:prstGeom>
        </p:spPr>
        <p:txBody>
          <a:bodyPr anchor="t" rtlCol="false" tIns="0" lIns="0" bIns="0" rIns="0">
            <a:spAutoFit/>
          </a:bodyPr>
          <a:lstStyle/>
          <a:p>
            <a:pPr algn="ctr">
              <a:lnSpc>
                <a:spcPts val="6815"/>
              </a:lnSpc>
            </a:pPr>
            <a:r>
              <a:rPr lang="en-US" sz="4868">
                <a:solidFill>
                  <a:srgbClr val="1B1B2B"/>
                </a:solidFill>
                <a:latin typeface="Porcelain"/>
              </a:rPr>
              <a:t>3</a:t>
            </a:r>
          </a:p>
        </p:txBody>
      </p:sp>
      <p:sp>
        <p:nvSpPr>
          <p:cNvPr name="TextBox 21" id="21"/>
          <p:cNvSpPr txBox="true"/>
          <p:nvPr/>
        </p:nvSpPr>
        <p:spPr>
          <a:xfrm rot="0">
            <a:off x="11736863" y="4651919"/>
            <a:ext cx="4089103" cy="1043101"/>
          </a:xfrm>
          <a:prstGeom prst="rect">
            <a:avLst/>
          </a:prstGeom>
        </p:spPr>
        <p:txBody>
          <a:bodyPr anchor="t" rtlCol="false" tIns="0" lIns="0" bIns="0" rIns="0">
            <a:spAutoFit/>
          </a:bodyPr>
          <a:lstStyle/>
          <a:p>
            <a:pPr algn="ctr">
              <a:lnSpc>
                <a:spcPts val="3989"/>
              </a:lnSpc>
            </a:pPr>
            <a:r>
              <a:rPr lang="en-US" sz="2849">
                <a:solidFill>
                  <a:srgbClr val="000000"/>
                </a:solidFill>
                <a:latin typeface="อีฟดอวอิ้ง"/>
              </a:rPr>
              <a:t>Biochemical characterization </a:t>
            </a:r>
          </a:p>
        </p:txBody>
      </p:sp>
      <p:sp>
        <p:nvSpPr>
          <p:cNvPr name="Freeform 22" id="22"/>
          <p:cNvSpPr/>
          <p:nvPr/>
        </p:nvSpPr>
        <p:spPr>
          <a:xfrm flipH="false" flipV="false" rot="0">
            <a:off x="7353812" y="6864336"/>
            <a:ext cx="3630739" cy="2897990"/>
          </a:xfrm>
          <a:custGeom>
            <a:avLst/>
            <a:gdLst/>
            <a:ahLst/>
            <a:cxnLst/>
            <a:rect r="r" b="b" t="t" l="l"/>
            <a:pathLst>
              <a:path h="2897990" w="3630739">
                <a:moveTo>
                  <a:pt x="0" y="0"/>
                </a:moveTo>
                <a:lnTo>
                  <a:pt x="3630739" y="0"/>
                </a:lnTo>
                <a:lnTo>
                  <a:pt x="3630739" y="2897990"/>
                </a:lnTo>
                <a:lnTo>
                  <a:pt x="0" y="289799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3" id="23"/>
          <p:cNvSpPr txBox="true"/>
          <p:nvPr/>
        </p:nvSpPr>
        <p:spPr>
          <a:xfrm rot="77721">
            <a:off x="8564006" y="6502108"/>
            <a:ext cx="1067635" cy="1277319"/>
          </a:xfrm>
          <a:prstGeom prst="rect">
            <a:avLst/>
          </a:prstGeom>
        </p:spPr>
        <p:txBody>
          <a:bodyPr anchor="t" rtlCol="false" tIns="0" lIns="0" bIns="0" rIns="0">
            <a:spAutoFit/>
          </a:bodyPr>
          <a:lstStyle/>
          <a:p>
            <a:pPr algn="ctr">
              <a:lnSpc>
                <a:spcPts val="10342"/>
              </a:lnSpc>
            </a:pPr>
            <a:r>
              <a:rPr lang="en-US" sz="7387">
                <a:solidFill>
                  <a:srgbClr val="FFFFFF"/>
                </a:solidFill>
                <a:latin typeface="Porcelain"/>
              </a:rPr>
              <a:t>4</a:t>
            </a:r>
          </a:p>
        </p:txBody>
      </p:sp>
      <p:sp>
        <p:nvSpPr>
          <p:cNvPr name="TextBox 24" id="24"/>
          <p:cNvSpPr txBox="true"/>
          <p:nvPr/>
        </p:nvSpPr>
        <p:spPr>
          <a:xfrm rot="0">
            <a:off x="7353812" y="7960719"/>
            <a:ext cx="3630739" cy="816940"/>
          </a:xfrm>
          <a:prstGeom prst="rect">
            <a:avLst/>
          </a:prstGeom>
        </p:spPr>
        <p:txBody>
          <a:bodyPr anchor="t" rtlCol="false" tIns="0" lIns="0" bIns="0" rIns="0">
            <a:spAutoFit/>
          </a:bodyPr>
          <a:lstStyle/>
          <a:p>
            <a:pPr algn="ctr">
              <a:lnSpc>
                <a:spcPts val="3107"/>
              </a:lnSpc>
            </a:pPr>
            <a:r>
              <a:rPr lang="en-US" sz="2219">
                <a:solidFill>
                  <a:srgbClr val="000000"/>
                </a:solidFill>
                <a:latin typeface="อีฟดอวอิ้ง"/>
              </a:rPr>
              <a:t>Contribution to microbial diversity knowledge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525174" y="-2459830"/>
            <a:ext cx="9237651" cy="15287104"/>
          </a:xfrm>
          <a:custGeom>
            <a:avLst/>
            <a:gdLst/>
            <a:ahLst/>
            <a:cxnLst/>
            <a:rect r="r" b="b" t="t" l="l"/>
            <a:pathLst>
              <a:path h="15287104" w="9237651">
                <a:moveTo>
                  <a:pt x="0" y="0"/>
                </a:moveTo>
                <a:lnTo>
                  <a:pt x="9237652" y="0"/>
                </a:lnTo>
                <a:lnTo>
                  <a:pt x="9237652" y="15287104"/>
                </a:lnTo>
                <a:lnTo>
                  <a:pt x="0" y="15287104"/>
                </a:lnTo>
                <a:lnTo>
                  <a:pt x="0" y="0"/>
                </a:lnTo>
                <a:close/>
              </a:path>
            </a:pathLst>
          </a:custGeom>
          <a:blipFill>
            <a:blip r:embed="rId2">
              <a:alphaModFix amt="71000"/>
            </a:blip>
            <a:stretch>
              <a:fillRect l="-9651" t="0" r="-12187" b="0"/>
            </a:stretch>
          </a:blipFill>
        </p:spPr>
      </p:sp>
      <p:sp>
        <p:nvSpPr>
          <p:cNvPr name="Freeform 3" id="3"/>
          <p:cNvSpPr/>
          <p:nvPr/>
        </p:nvSpPr>
        <p:spPr>
          <a:xfrm flipH="false" flipV="true" rot="5400000">
            <a:off x="-3184858" y="4931786"/>
            <a:ext cx="9237651" cy="503872"/>
          </a:xfrm>
          <a:custGeom>
            <a:avLst/>
            <a:gdLst/>
            <a:ahLst/>
            <a:cxnLst/>
            <a:rect r="r" b="b" t="t" l="l"/>
            <a:pathLst>
              <a:path h="503872" w="9237651">
                <a:moveTo>
                  <a:pt x="0" y="503872"/>
                </a:moveTo>
                <a:lnTo>
                  <a:pt x="9237651" y="503872"/>
                </a:lnTo>
                <a:lnTo>
                  <a:pt x="9237651" y="0"/>
                </a:lnTo>
                <a:lnTo>
                  <a:pt x="0" y="0"/>
                </a:lnTo>
                <a:lnTo>
                  <a:pt x="0"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5400000">
            <a:off x="12205614" y="4891564"/>
            <a:ext cx="9237651" cy="503872"/>
          </a:xfrm>
          <a:custGeom>
            <a:avLst/>
            <a:gdLst/>
            <a:ahLst/>
            <a:cxnLst/>
            <a:rect r="r" b="b" t="t" l="l"/>
            <a:pathLst>
              <a:path h="503872" w="9237651">
                <a:moveTo>
                  <a:pt x="9237652" y="503872"/>
                </a:moveTo>
                <a:lnTo>
                  <a:pt x="0" y="503872"/>
                </a:lnTo>
                <a:lnTo>
                  <a:pt x="0" y="0"/>
                </a:lnTo>
                <a:lnTo>
                  <a:pt x="9237652" y="0"/>
                </a:lnTo>
                <a:lnTo>
                  <a:pt x="9237652"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5132061" y="461724"/>
            <a:ext cx="8023877" cy="2200640"/>
          </a:xfrm>
          <a:prstGeom prst="rect">
            <a:avLst/>
          </a:prstGeom>
        </p:spPr>
        <p:txBody>
          <a:bodyPr anchor="t" rtlCol="false" tIns="0" lIns="0" bIns="0" rIns="0">
            <a:spAutoFit/>
          </a:bodyPr>
          <a:lstStyle/>
          <a:p>
            <a:pPr algn="ctr">
              <a:lnSpc>
                <a:spcPts val="17955"/>
              </a:lnSpc>
            </a:pPr>
            <a:r>
              <a:rPr lang="en-US" sz="12825">
                <a:solidFill>
                  <a:srgbClr val="000000"/>
                </a:solidFill>
                <a:latin typeface="Porcelain"/>
              </a:rPr>
              <a:t>Process</a:t>
            </a:r>
          </a:p>
        </p:txBody>
      </p:sp>
      <p:grpSp>
        <p:nvGrpSpPr>
          <p:cNvPr name="Group 6" id="6"/>
          <p:cNvGrpSpPr/>
          <p:nvPr/>
        </p:nvGrpSpPr>
        <p:grpSpPr>
          <a:xfrm rot="0">
            <a:off x="16225838" y="1271588"/>
            <a:ext cx="110490" cy="108585"/>
            <a:chOff x="0" y="0"/>
            <a:chExt cx="147320" cy="144780"/>
          </a:xfrm>
        </p:grpSpPr>
        <p:sp>
          <p:nvSpPr>
            <p:cNvPr name="Freeform 7" id="7"/>
            <p:cNvSpPr/>
            <p:nvPr/>
          </p:nvSpPr>
          <p:spPr>
            <a:xfrm flipH="false" flipV="false" rot="0">
              <a:off x="46990" y="45720"/>
              <a:ext cx="49530" cy="52070"/>
            </a:xfrm>
            <a:custGeom>
              <a:avLst/>
              <a:gdLst/>
              <a:ahLst/>
              <a:cxnLst/>
              <a:rect r="r" b="b" t="t" l="l"/>
              <a:pathLst>
                <a:path h="52070" w="49530">
                  <a:moveTo>
                    <a:pt x="49530" y="17780"/>
                  </a:moveTo>
                  <a:cubicBezTo>
                    <a:pt x="27940" y="52070"/>
                    <a:pt x="7620" y="45720"/>
                    <a:pt x="3810" y="38100"/>
                  </a:cubicBezTo>
                  <a:cubicBezTo>
                    <a:pt x="0" y="30480"/>
                    <a:pt x="3810" y="10160"/>
                    <a:pt x="10160" y="5080"/>
                  </a:cubicBezTo>
                  <a:cubicBezTo>
                    <a:pt x="16510" y="0"/>
                    <a:pt x="43180" y="7620"/>
                    <a:pt x="43180" y="7620"/>
                  </a:cubicBezTo>
                </a:path>
              </a:pathLst>
            </a:custGeom>
            <a:solidFill>
              <a:srgbClr val="2D90EB"/>
            </a:solidFill>
            <a:ln cap="sq">
              <a:noFill/>
              <a:prstDash val="solid"/>
              <a:miter/>
            </a:ln>
          </p:spPr>
        </p:sp>
      </p:grpSp>
      <p:grpSp>
        <p:nvGrpSpPr>
          <p:cNvPr name="Group 8" id="8"/>
          <p:cNvGrpSpPr/>
          <p:nvPr/>
        </p:nvGrpSpPr>
        <p:grpSpPr>
          <a:xfrm rot="0">
            <a:off x="16404907" y="1415415"/>
            <a:ext cx="111442" cy="108585"/>
            <a:chOff x="0" y="0"/>
            <a:chExt cx="148590" cy="144780"/>
          </a:xfrm>
        </p:grpSpPr>
        <p:sp>
          <p:nvSpPr>
            <p:cNvPr name="Freeform 9" id="9"/>
            <p:cNvSpPr/>
            <p:nvPr/>
          </p:nvSpPr>
          <p:spPr>
            <a:xfrm flipH="false" flipV="false" rot="0">
              <a:off x="46990" y="45720"/>
              <a:ext cx="50800" cy="52070"/>
            </a:xfrm>
            <a:custGeom>
              <a:avLst/>
              <a:gdLst/>
              <a:ahLst/>
              <a:cxnLst/>
              <a:rect r="r" b="b" t="t" l="l"/>
              <a:pathLst>
                <a:path h="52070" w="50800">
                  <a:moveTo>
                    <a:pt x="50800" y="16510"/>
                  </a:moveTo>
                  <a:cubicBezTo>
                    <a:pt x="29210" y="52070"/>
                    <a:pt x="7620" y="45720"/>
                    <a:pt x="3810" y="38100"/>
                  </a:cubicBezTo>
                  <a:cubicBezTo>
                    <a:pt x="0" y="30480"/>
                    <a:pt x="3810" y="10160"/>
                    <a:pt x="10160" y="5080"/>
                  </a:cubicBezTo>
                  <a:cubicBezTo>
                    <a:pt x="16510" y="0"/>
                    <a:pt x="44450" y="6350"/>
                    <a:pt x="44450" y="6350"/>
                  </a:cubicBezTo>
                </a:path>
              </a:pathLst>
            </a:custGeom>
            <a:solidFill>
              <a:srgbClr val="2D90EB"/>
            </a:solidFill>
            <a:ln cap="sq">
              <a:noFill/>
              <a:prstDash val="solid"/>
              <a:miter/>
            </a:ln>
          </p:spPr>
        </p:sp>
      </p:grpSp>
      <p:grpSp>
        <p:nvGrpSpPr>
          <p:cNvPr name="Group 10" id="10"/>
          <p:cNvGrpSpPr/>
          <p:nvPr/>
        </p:nvGrpSpPr>
        <p:grpSpPr>
          <a:xfrm rot="0">
            <a:off x="16548735" y="1450658"/>
            <a:ext cx="110490" cy="108585"/>
            <a:chOff x="0" y="0"/>
            <a:chExt cx="147320" cy="144780"/>
          </a:xfrm>
        </p:grpSpPr>
        <p:sp>
          <p:nvSpPr>
            <p:cNvPr name="Freeform 11" id="11"/>
            <p:cNvSpPr/>
            <p:nvPr/>
          </p:nvSpPr>
          <p:spPr>
            <a:xfrm flipH="false" flipV="false" rot="0">
              <a:off x="46990" y="45720"/>
              <a:ext cx="49530" cy="52070"/>
            </a:xfrm>
            <a:custGeom>
              <a:avLst/>
              <a:gdLst/>
              <a:ahLst/>
              <a:cxnLst/>
              <a:rect r="r" b="b" t="t" l="l"/>
              <a:pathLst>
                <a:path h="52070" w="49530">
                  <a:moveTo>
                    <a:pt x="49530" y="17780"/>
                  </a:moveTo>
                  <a:cubicBezTo>
                    <a:pt x="27940" y="52070"/>
                    <a:pt x="7620" y="45720"/>
                    <a:pt x="3810" y="38100"/>
                  </a:cubicBezTo>
                  <a:cubicBezTo>
                    <a:pt x="0" y="30480"/>
                    <a:pt x="3810" y="10160"/>
                    <a:pt x="10160" y="5080"/>
                  </a:cubicBezTo>
                  <a:cubicBezTo>
                    <a:pt x="16510" y="0"/>
                    <a:pt x="43180" y="7620"/>
                    <a:pt x="43180" y="7620"/>
                  </a:cubicBezTo>
                </a:path>
              </a:pathLst>
            </a:custGeom>
            <a:solidFill>
              <a:srgbClr val="2D90EB"/>
            </a:solidFill>
            <a:ln cap="sq">
              <a:noFill/>
              <a:prstDash val="solid"/>
              <a:miter/>
            </a:ln>
          </p:spPr>
        </p:sp>
      </p:grpSp>
      <p:sp>
        <p:nvSpPr>
          <p:cNvPr name="Freeform 12" id="12"/>
          <p:cNvSpPr/>
          <p:nvPr/>
        </p:nvSpPr>
        <p:spPr>
          <a:xfrm flipH="false" flipV="false" rot="4877845">
            <a:off x="5457591" y="742366"/>
            <a:ext cx="1430694" cy="1887007"/>
          </a:xfrm>
          <a:custGeom>
            <a:avLst/>
            <a:gdLst/>
            <a:ahLst/>
            <a:cxnLst/>
            <a:rect r="r" b="b" t="t" l="l"/>
            <a:pathLst>
              <a:path h="1887007" w="1430694">
                <a:moveTo>
                  <a:pt x="0" y="0"/>
                </a:moveTo>
                <a:lnTo>
                  <a:pt x="1430694" y="0"/>
                </a:lnTo>
                <a:lnTo>
                  <a:pt x="1430694" y="1887007"/>
                </a:lnTo>
                <a:lnTo>
                  <a:pt x="0" y="188700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12887325" y="5183722"/>
            <a:ext cx="3237392" cy="4316523"/>
          </a:xfrm>
          <a:custGeom>
            <a:avLst/>
            <a:gdLst/>
            <a:ahLst/>
            <a:cxnLst/>
            <a:rect r="r" b="b" t="t" l="l"/>
            <a:pathLst>
              <a:path h="4316523" w="3237392">
                <a:moveTo>
                  <a:pt x="0" y="0"/>
                </a:moveTo>
                <a:lnTo>
                  <a:pt x="3237392" y="0"/>
                </a:lnTo>
                <a:lnTo>
                  <a:pt x="3237392" y="4316523"/>
                </a:lnTo>
                <a:lnTo>
                  <a:pt x="0" y="4316523"/>
                </a:lnTo>
                <a:lnTo>
                  <a:pt x="0" y="0"/>
                </a:lnTo>
                <a:close/>
              </a:path>
            </a:pathLst>
          </a:custGeom>
          <a:blipFill>
            <a:blip r:embed="rId7"/>
            <a:stretch>
              <a:fillRect l="0" t="0" r="0" b="0"/>
            </a:stretch>
          </a:blipFill>
        </p:spPr>
      </p:sp>
      <p:sp>
        <p:nvSpPr>
          <p:cNvPr name="TextBox 14" id="14"/>
          <p:cNvSpPr txBox="true"/>
          <p:nvPr/>
        </p:nvSpPr>
        <p:spPr>
          <a:xfrm rot="77721">
            <a:off x="2199168" y="2439186"/>
            <a:ext cx="735526" cy="879766"/>
          </a:xfrm>
          <a:prstGeom prst="rect">
            <a:avLst/>
          </a:prstGeom>
        </p:spPr>
        <p:txBody>
          <a:bodyPr anchor="t" rtlCol="false" tIns="0" lIns="0" bIns="0" rIns="0">
            <a:spAutoFit/>
          </a:bodyPr>
          <a:lstStyle/>
          <a:p>
            <a:pPr algn="ctr">
              <a:lnSpc>
                <a:spcPts val="7125"/>
              </a:lnSpc>
            </a:pPr>
            <a:r>
              <a:rPr lang="en-US" sz="5089">
                <a:solidFill>
                  <a:srgbClr val="000000"/>
                </a:solidFill>
                <a:latin typeface="Porcelain"/>
              </a:rPr>
              <a:t>1.</a:t>
            </a:r>
          </a:p>
        </p:txBody>
      </p:sp>
      <p:sp>
        <p:nvSpPr>
          <p:cNvPr name="TextBox 15" id="15"/>
          <p:cNvSpPr txBox="true"/>
          <p:nvPr/>
        </p:nvSpPr>
        <p:spPr>
          <a:xfrm rot="77721">
            <a:off x="2200297" y="4594961"/>
            <a:ext cx="824270" cy="982796"/>
          </a:xfrm>
          <a:prstGeom prst="rect">
            <a:avLst/>
          </a:prstGeom>
        </p:spPr>
        <p:txBody>
          <a:bodyPr anchor="t" rtlCol="false" tIns="0" lIns="0" bIns="0" rIns="0">
            <a:spAutoFit/>
          </a:bodyPr>
          <a:lstStyle/>
          <a:p>
            <a:pPr algn="ctr">
              <a:lnSpc>
                <a:spcPts val="7984"/>
              </a:lnSpc>
            </a:pPr>
            <a:r>
              <a:rPr lang="en-US" sz="5703">
                <a:solidFill>
                  <a:srgbClr val="000000"/>
                </a:solidFill>
                <a:latin typeface="Porcelain"/>
              </a:rPr>
              <a:t>2</a:t>
            </a:r>
          </a:p>
        </p:txBody>
      </p:sp>
      <p:sp>
        <p:nvSpPr>
          <p:cNvPr name="TextBox 16" id="16"/>
          <p:cNvSpPr txBox="true"/>
          <p:nvPr/>
        </p:nvSpPr>
        <p:spPr>
          <a:xfrm rot="0">
            <a:off x="2942446" y="2836198"/>
            <a:ext cx="13242806" cy="1705529"/>
          </a:xfrm>
          <a:prstGeom prst="rect">
            <a:avLst/>
          </a:prstGeom>
        </p:spPr>
        <p:txBody>
          <a:bodyPr anchor="t" rtlCol="false" tIns="0" lIns="0" bIns="0" rIns="0">
            <a:spAutoFit/>
          </a:bodyPr>
          <a:lstStyle/>
          <a:p>
            <a:pPr algn="ctr">
              <a:lnSpc>
                <a:spcPts val="3296"/>
              </a:lnSpc>
            </a:pPr>
          </a:p>
          <a:p>
            <a:pPr algn="ctr">
              <a:lnSpc>
                <a:spcPts val="3296"/>
              </a:lnSpc>
            </a:pPr>
            <a:r>
              <a:rPr lang="en-US" sz="2354">
                <a:solidFill>
                  <a:srgbClr val="000000"/>
                </a:solidFill>
                <a:latin typeface="อีฟดอวอิ้ง"/>
              </a:rPr>
              <a:t>rice starch agar-: ½ cup of uncooked rice is soaked in 2-3 cups of water. Rice is boiled and the starch water is strained into a conical flask and 2% agar (w/v) is added to it. After autoclaving at 120 for 15 min, the media is poured into sterilized petri plates and solidified.</a:t>
            </a:r>
          </a:p>
        </p:txBody>
      </p:sp>
      <p:sp>
        <p:nvSpPr>
          <p:cNvPr name="TextBox 17" id="17"/>
          <p:cNvSpPr txBox="true"/>
          <p:nvPr/>
        </p:nvSpPr>
        <p:spPr>
          <a:xfrm rot="0">
            <a:off x="5752506" y="2421013"/>
            <a:ext cx="6586991" cy="906145"/>
          </a:xfrm>
          <a:prstGeom prst="rect">
            <a:avLst/>
          </a:prstGeom>
        </p:spPr>
        <p:txBody>
          <a:bodyPr anchor="t" rtlCol="false" tIns="0" lIns="0" bIns="0" rIns="0">
            <a:spAutoFit/>
          </a:bodyPr>
          <a:lstStyle/>
          <a:p>
            <a:pPr algn="ctr">
              <a:lnSpc>
                <a:spcPts val="7279"/>
              </a:lnSpc>
            </a:pPr>
            <a:r>
              <a:rPr lang="en-US" sz="5199" u="sng">
                <a:solidFill>
                  <a:srgbClr val="000000"/>
                </a:solidFill>
                <a:latin typeface="Bobby Jones Condensed Soft"/>
              </a:rPr>
              <a:t>Preparation of culture media </a:t>
            </a:r>
          </a:p>
        </p:txBody>
      </p:sp>
      <p:sp>
        <p:nvSpPr>
          <p:cNvPr name="TextBox 18" id="18"/>
          <p:cNvSpPr txBox="true"/>
          <p:nvPr/>
        </p:nvSpPr>
        <p:spPr>
          <a:xfrm rot="0">
            <a:off x="5652465" y="4827477"/>
            <a:ext cx="6787073" cy="906145"/>
          </a:xfrm>
          <a:prstGeom prst="rect">
            <a:avLst/>
          </a:prstGeom>
        </p:spPr>
        <p:txBody>
          <a:bodyPr anchor="t" rtlCol="false" tIns="0" lIns="0" bIns="0" rIns="0">
            <a:spAutoFit/>
          </a:bodyPr>
          <a:lstStyle/>
          <a:p>
            <a:pPr algn="ctr">
              <a:lnSpc>
                <a:spcPts val="7279"/>
              </a:lnSpc>
            </a:pPr>
            <a:r>
              <a:rPr lang="en-US" sz="5199" u="sng">
                <a:solidFill>
                  <a:srgbClr val="000000"/>
                </a:solidFill>
                <a:latin typeface="Bobby Jones Condensed Soft"/>
              </a:rPr>
              <a:t>Isolation Of Bacterial Strains </a:t>
            </a:r>
          </a:p>
        </p:txBody>
      </p:sp>
      <p:sp>
        <p:nvSpPr>
          <p:cNvPr name="TextBox 19" id="19"/>
          <p:cNvSpPr txBox="true"/>
          <p:nvPr/>
        </p:nvSpPr>
        <p:spPr>
          <a:xfrm rot="0">
            <a:off x="2507801" y="5905072"/>
            <a:ext cx="13242806" cy="452966"/>
          </a:xfrm>
          <a:prstGeom prst="rect">
            <a:avLst/>
          </a:prstGeom>
        </p:spPr>
        <p:txBody>
          <a:bodyPr anchor="t" rtlCol="false" tIns="0" lIns="0" bIns="0" rIns="0">
            <a:spAutoFit/>
          </a:bodyPr>
          <a:lstStyle/>
          <a:p>
            <a:pPr algn="ctr">
              <a:lnSpc>
                <a:spcPts val="3296"/>
              </a:lnSpc>
            </a:pPr>
          </a:p>
        </p:txBody>
      </p:sp>
      <p:sp>
        <p:nvSpPr>
          <p:cNvPr name="TextBox 20" id="20"/>
          <p:cNvSpPr txBox="true"/>
          <p:nvPr/>
        </p:nvSpPr>
        <p:spPr>
          <a:xfrm rot="0">
            <a:off x="2189588" y="6057472"/>
            <a:ext cx="9896355" cy="2524027"/>
          </a:xfrm>
          <a:prstGeom prst="rect">
            <a:avLst/>
          </a:prstGeom>
        </p:spPr>
        <p:txBody>
          <a:bodyPr anchor="t" rtlCol="false" tIns="0" lIns="0" bIns="0" rIns="0">
            <a:spAutoFit/>
          </a:bodyPr>
          <a:lstStyle/>
          <a:p>
            <a:pPr algn="ctr">
              <a:lnSpc>
                <a:spcPts val="2818"/>
              </a:lnSpc>
            </a:pPr>
            <a:r>
              <a:rPr lang="en-US" sz="2013">
                <a:solidFill>
                  <a:srgbClr val="000000"/>
                </a:solidFill>
                <a:latin typeface="อีฟดอวอิ้ง"/>
                <a:ea typeface="อีฟดอวอิ้ง"/>
              </a:rPr>
              <a:t>● 1ml of overnight and freshly prepared rice water samples are added to 9 ml of         autoclaved water in sterilized test tube. Serial dilution was performed and spread on the plates containing starch enriched media (100 and incubated overnight at 37.</a:t>
            </a:r>
          </a:p>
          <a:p>
            <a:pPr algn="ctr">
              <a:lnSpc>
                <a:spcPts val="2818"/>
              </a:lnSpc>
            </a:pPr>
            <a:r>
              <a:rPr lang="en-US" sz="2013">
                <a:solidFill>
                  <a:srgbClr val="000000"/>
                </a:solidFill>
                <a:latin typeface="อีฟดอวอิ้ง"/>
                <a:ea typeface="อีฟดอวอิ้ง"/>
              </a:rPr>
              <a:t>●    Strains appeared on the plate containing rice starch agar media which was spread with the rice water kept overnight.                                                  </a:t>
            </a:r>
          </a:p>
          <a:p>
            <a:pPr algn="ctr">
              <a:lnSpc>
                <a:spcPts val="2818"/>
              </a:lnSpc>
            </a:pPr>
            <a:r>
              <a:rPr lang="en-US" sz="2013">
                <a:solidFill>
                  <a:srgbClr val="000000"/>
                </a:solidFill>
                <a:latin typeface="อีฟดอวอิ้ง"/>
                <a:ea typeface="อีฟดอวอิ้ง"/>
              </a:rPr>
              <a:t>●  These strains were subcultured in nutrient agar slants and stored at 4 for   charecterisaton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525174" y="-2459830"/>
            <a:ext cx="9237651" cy="15287104"/>
          </a:xfrm>
          <a:custGeom>
            <a:avLst/>
            <a:gdLst/>
            <a:ahLst/>
            <a:cxnLst/>
            <a:rect r="r" b="b" t="t" l="l"/>
            <a:pathLst>
              <a:path h="15287104" w="9237651">
                <a:moveTo>
                  <a:pt x="0" y="0"/>
                </a:moveTo>
                <a:lnTo>
                  <a:pt x="9237652" y="0"/>
                </a:lnTo>
                <a:lnTo>
                  <a:pt x="9237652" y="15287104"/>
                </a:lnTo>
                <a:lnTo>
                  <a:pt x="0" y="15287104"/>
                </a:lnTo>
                <a:lnTo>
                  <a:pt x="0" y="0"/>
                </a:lnTo>
                <a:close/>
              </a:path>
            </a:pathLst>
          </a:custGeom>
          <a:blipFill>
            <a:blip r:embed="rId2">
              <a:alphaModFix amt="71000"/>
            </a:blip>
            <a:stretch>
              <a:fillRect l="-9651" t="0" r="-12187" b="0"/>
            </a:stretch>
          </a:blipFill>
        </p:spPr>
      </p:sp>
      <p:sp>
        <p:nvSpPr>
          <p:cNvPr name="Freeform 3" id="3"/>
          <p:cNvSpPr/>
          <p:nvPr/>
        </p:nvSpPr>
        <p:spPr>
          <a:xfrm flipH="false" flipV="true" rot="5400000">
            <a:off x="-3184858" y="4931786"/>
            <a:ext cx="9237651" cy="503872"/>
          </a:xfrm>
          <a:custGeom>
            <a:avLst/>
            <a:gdLst/>
            <a:ahLst/>
            <a:cxnLst/>
            <a:rect r="r" b="b" t="t" l="l"/>
            <a:pathLst>
              <a:path h="503872" w="9237651">
                <a:moveTo>
                  <a:pt x="0" y="503872"/>
                </a:moveTo>
                <a:lnTo>
                  <a:pt x="9237651" y="503872"/>
                </a:lnTo>
                <a:lnTo>
                  <a:pt x="9237651" y="0"/>
                </a:lnTo>
                <a:lnTo>
                  <a:pt x="0" y="0"/>
                </a:lnTo>
                <a:lnTo>
                  <a:pt x="0"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5400000">
            <a:off x="12205614" y="4891564"/>
            <a:ext cx="9237651" cy="503872"/>
          </a:xfrm>
          <a:custGeom>
            <a:avLst/>
            <a:gdLst/>
            <a:ahLst/>
            <a:cxnLst/>
            <a:rect r="r" b="b" t="t" l="l"/>
            <a:pathLst>
              <a:path h="503872" w="9237651">
                <a:moveTo>
                  <a:pt x="9237652" y="503872"/>
                </a:moveTo>
                <a:lnTo>
                  <a:pt x="0" y="503872"/>
                </a:lnTo>
                <a:lnTo>
                  <a:pt x="0" y="0"/>
                </a:lnTo>
                <a:lnTo>
                  <a:pt x="9237652" y="0"/>
                </a:lnTo>
                <a:lnTo>
                  <a:pt x="9237652"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5132061" y="461724"/>
            <a:ext cx="8023877" cy="2200640"/>
          </a:xfrm>
          <a:prstGeom prst="rect">
            <a:avLst/>
          </a:prstGeom>
        </p:spPr>
        <p:txBody>
          <a:bodyPr anchor="t" rtlCol="false" tIns="0" lIns="0" bIns="0" rIns="0">
            <a:spAutoFit/>
          </a:bodyPr>
          <a:lstStyle/>
          <a:p>
            <a:pPr algn="ctr">
              <a:lnSpc>
                <a:spcPts val="17955"/>
              </a:lnSpc>
            </a:pPr>
            <a:r>
              <a:rPr lang="en-US" sz="12825">
                <a:solidFill>
                  <a:srgbClr val="000000"/>
                </a:solidFill>
                <a:latin typeface="Porcelain"/>
              </a:rPr>
              <a:t>Process</a:t>
            </a:r>
          </a:p>
        </p:txBody>
      </p:sp>
      <p:grpSp>
        <p:nvGrpSpPr>
          <p:cNvPr name="Group 6" id="6"/>
          <p:cNvGrpSpPr/>
          <p:nvPr/>
        </p:nvGrpSpPr>
        <p:grpSpPr>
          <a:xfrm rot="0">
            <a:off x="16225838" y="1271588"/>
            <a:ext cx="110490" cy="108585"/>
            <a:chOff x="0" y="0"/>
            <a:chExt cx="147320" cy="144780"/>
          </a:xfrm>
        </p:grpSpPr>
        <p:sp>
          <p:nvSpPr>
            <p:cNvPr name="Freeform 7" id="7"/>
            <p:cNvSpPr/>
            <p:nvPr/>
          </p:nvSpPr>
          <p:spPr>
            <a:xfrm flipH="false" flipV="false" rot="0">
              <a:off x="46990" y="45720"/>
              <a:ext cx="49530" cy="52070"/>
            </a:xfrm>
            <a:custGeom>
              <a:avLst/>
              <a:gdLst/>
              <a:ahLst/>
              <a:cxnLst/>
              <a:rect r="r" b="b" t="t" l="l"/>
              <a:pathLst>
                <a:path h="52070" w="49530">
                  <a:moveTo>
                    <a:pt x="49530" y="17780"/>
                  </a:moveTo>
                  <a:cubicBezTo>
                    <a:pt x="27940" y="52070"/>
                    <a:pt x="7620" y="45720"/>
                    <a:pt x="3810" y="38100"/>
                  </a:cubicBezTo>
                  <a:cubicBezTo>
                    <a:pt x="0" y="30480"/>
                    <a:pt x="3810" y="10160"/>
                    <a:pt x="10160" y="5080"/>
                  </a:cubicBezTo>
                  <a:cubicBezTo>
                    <a:pt x="16510" y="0"/>
                    <a:pt x="43180" y="7620"/>
                    <a:pt x="43180" y="7620"/>
                  </a:cubicBezTo>
                </a:path>
              </a:pathLst>
            </a:custGeom>
            <a:solidFill>
              <a:srgbClr val="2D90EB"/>
            </a:solidFill>
            <a:ln cap="sq">
              <a:noFill/>
              <a:prstDash val="solid"/>
              <a:miter/>
            </a:ln>
          </p:spPr>
        </p:sp>
      </p:grpSp>
      <p:grpSp>
        <p:nvGrpSpPr>
          <p:cNvPr name="Group 8" id="8"/>
          <p:cNvGrpSpPr/>
          <p:nvPr/>
        </p:nvGrpSpPr>
        <p:grpSpPr>
          <a:xfrm rot="0">
            <a:off x="16404907" y="1415415"/>
            <a:ext cx="111442" cy="108585"/>
            <a:chOff x="0" y="0"/>
            <a:chExt cx="148590" cy="144780"/>
          </a:xfrm>
        </p:grpSpPr>
        <p:sp>
          <p:nvSpPr>
            <p:cNvPr name="Freeform 9" id="9"/>
            <p:cNvSpPr/>
            <p:nvPr/>
          </p:nvSpPr>
          <p:spPr>
            <a:xfrm flipH="false" flipV="false" rot="0">
              <a:off x="46990" y="45720"/>
              <a:ext cx="50800" cy="52070"/>
            </a:xfrm>
            <a:custGeom>
              <a:avLst/>
              <a:gdLst/>
              <a:ahLst/>
              <a:cxnLst/>
              <a:rect r="r" b="b" t="t" l="l"/>
              <a:pathLst>
                <a:path h="52070" w="50800">
                  <a:moveTo>
                    <a:pt x="50800" y="16510"/>
                  </a:moveTo>
                  <a:cubicBezTo>
                    <a:pt x="29210" y="52070"/>
                    <a:pt x="7620" y="45720"/>
                    <a:pt x="3810" y="38100"/>
                  </a:cubicBezTo>
                  <a:cubicBezTo>
                    <a:pt x="0" y="30480"/>
                    <a:pt x="3810" y="10160"/>
                    <a:pt x="10160" y="5080"/>
                  </a:cubicBezTo>
                  <a:cubicBezTo>
                    <a:pt x="16510" y="0"/>
                    <a:pt x="44450" y="6350"/>
                    <a:pt x="44450" y="6350"/>
                  </a:cubicBezTo>
                </a:path>
              </a:pathLst>
            </a:custGeom>
            <a:solidFill>
              <a:srgbClr val="2D90EB"/>
            </a:solidFill>
            <a:ln cap="sq">
              <a:noFill/>
              <a:prstDash val="solid"/>
              <a:miter/>
            </a:ln>
          </p:spPr>
        </p:sp>
      </p:grpSp>
      <p:grpSp>
        <p:nvGrpSpPr>
          <p:cNvPr name="Group 10" id="10"/>
          <p:cNvGrpSpPr/>
          <p:nvPr/>
        </p:nvGrpSpPr>
        <p:grpSpPr>
          <a:xfrm rot="0">
            <a:off x="16548735" y="1450658"/>
            <a:ext cx="110490" cy="108585"/>
            <a:chOff x="0" y="0"/>
            <a:chExt cx="147320" cy="144780"/>
          </a:xfrm>
        </p:grpSpPr>
        <p:sp>
          <p:nvSpPr>
            <p:cNvPr name="Freeform 11" id="11"/>
            <p:cNvSpPr/>
            <p:nvPr/>
          </p:nvSpPr>
          <p:spPr>
            <a:xfrm flipH="false" flipV="false" rot="0">
              <a:off x="46990" y="45720"/>
              <a:ext cx="49530" cy="52070"/>
            </a:xfrm>
            <a:custGeom>
              <a:avLst/>
              <a:gdLst/>
              <a:ahLst/>
              <a:cxnLst/>
              <a:rect r="r" b="b" t="t" l="l"/>
              <a:pathLst>
                <a:path h="52070" w="49530">
                  <a:moveTo>
                    <a:pt x="49530" y="17780"/>
                  </a:moveTo>
                  <a:cubicBezTo>
                    <a:pt x="27940" y="52070"/>
                    <a:pt x="7620" y="45720"/>
                    <a:pt x="3810" y="38100"/>
                  </a:cubicBezTo>
                  <a:cubicBezTo>
                    <a:pt x="0" y="30480"/>
                    <a:pt x="3810" y="10160"/>
                    <a:pt x="10160" y="5080"/>
                  </a:cubicBezTo>
                  <a:cubicBezTo>
                    <a:pt x="16510" y="0"/>
                    <a:pt x="43180" y="7620"/>
                    <a:pt x="43180" y="7620"/>
                  </a:cubicBezTo>
                </a:path>
              </a:pathLst>
            </a:custGeom>
            <a:solidFill>
              <a:srgbClr val="2D90EB"/>
            </a:solidFill>
            <a:ln cap="sq">
              <a:noFill/>
              <a:prstDash val="solid"/>
              <a:miter/>
            </a:ln>
          </p:spPr>
        </p:sp>
      </p:grpSp>
      <p:sp>
        <p:nvSpPr>
          <p:cNvPr name="Freeform 12" id="12"/>
          <p:cNvSpPr/>
          <p:nvPr/>
        </p:nvSpPr>
        <p:spPr>
          <a:xfrm flipH="false" flipV="false" rot="4877845">
            <a:off x="5457591" y="742366"/>
            <a:ext cx="1430694" cy="1887007"/>
          </a:xfrm>
          <a:custGeom>
            <a:avLst/>
            <a:gdLst/>
            <a:ahLst/>
            <a:cxnLst/>
            <a:rect r="r" b="b" t="t" l="l"/>
            <a:pathLst>
              <a:path h="1887007" w="1430694">
                <a:moveTo>
                  <a:pt x="0" y="0"/>
                </a:moveTo>
                <a:lnTo>
                  <a:pt x="1430694" y="0"/>
                </a:lnTo>
                <a:lnTo>
                  <a:pt x="1430694" y="1887007"/>
                </a:lnTo>
                <a:lnTo>
                  <a:pt x="0" y="188700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12384935" y="4347101"/>
            <a:ext cx="3951393" cy="4986657"/>
          </a:xfrm>
          <a:custGeom>
            <a:avLst/>
            <a:gdLst/>
            <a:ahLst/>
            <a:cxnLst/>
            <a:rect r="r" b="b" t="t" l="l"/>
            <a:pathLst>
              <a:path h="4986657" w="3951393">
                <a:moveTo>
                  <a:pt x="0" y="0"/>
                </a:moveTo>
                <a:lnTo>
                  <a:pt x="3951393" y="0"/>
                </a:lnTo>
                <a:lnTo>
                  <a:pt x="3951393" y="4986658"/>
                </a:lnTo>
                <a:lnTo>
                  <a:pt x="0" y="4986658"/>
                </a:lnTo>
                <a:lnTo>
                  <a:pt x="0" y="0"/>
                </a:lnTo>
                <a:close/>
              </a:path>
            </a:pathLst>
          </a:custGeom>
          <a:blipFill>
            <a:blip r:embed="rId7"/>
            <a:stretch>
              <a:fillRect l="0" t="0" r="0" b="0"/>
            </a:stretch>
          </a:blipFill>
        </p:spPr>
      </p:sp>
      <p:sp>
        <p:nvSpPr>
          <p:cNvPr name="TextBox 14" id="14"/>
          <p:cNvSpPr txBox="true"/>
          <p:nvPr/>
        </p:nvSpPr>
        <p:spPr>
          <a:xfrm rot="77721">
            <a:off x="2199168" y="2439186"/>
            <a:ext cx="735526" cy="879766"/>
          </a:xfrm>
          <a:prstGeom prst="rect">
            <a:avLst/>
          </a:prstGeom>
        </p:spPr>
        <p:txBody>
          <a:bodyPr anchor="t" rtlCol="false" tIns="0" lIns="0" bIns="0" rIns="0">
            <a:spAutoFit/>
          </a:bodyPr>
          <a:lstStyle/>
          <a:p>
            <a:pPr algn="ctr">
              <a:lnSpc>
                <a:spcPts val="7125"/>
              </a:lnSpc>
            </a:pPr>
            <a:r>
              <a:rPr lang="en-US" sz="5089">
                <a:solidFill>
                  <a:srgbClr val="000000"/>
                </a:solidFill>
                <a:latin typeface="Porcelain"/>
              </a:rPr>
              <a:t>3</a:t>
            </a:r>
          </a:p>
        </p:txBody>
      </p:sp>
      <p:sp>
        <p:nvSpPr>
          <p:cNvPr name="TextBox 15" id="15"/>
          <p:cNvSpPr txBox="true"/>
          <p:nvPr/>
        </p:nvSpPr>
        <p:spPr>
          <a:xfrm rot="0">
            <a:off x="2566017" y="3468668"/>
            <a:ext cx="13242806" cy="896620"/>
          </a:xfrm>
          <a:prstGeom prst="rect">
            <a:avLst/>
          </a:prstGeom>
        </p:spPr>
        <p:txBody>
          <a:bodyPr anchor="t" rtlCol="false" tIns="0" lIns="0" bIns="0" rIns="0">
            <a:spAutoFit/>
          </a:bodyPr>
          <a:lstStyle/>
          <a:p>
            <a:pPr algn="ctr">
              <a:lnSpc>
                <a:spcPts val="7279"/>
              </a:lnSpc>
            </a:pPr>
            <a:r>
              <a:rPr lang="en-US" sz="5199">
                <a:solidFill>
                  <a:srgbClr val="000000"/>
                </a:solidFill>
                <a:latin typeface="Bobby Jones Soft"/>
                <a:ea typeface="Bobby Jones Soft"/>
              </a:rPr>
              <a:t>■ Biochemical test </a:t>
            </a:r>
          </a:p>
        </p:txBody>
      </p:sp>
      <p:sp>
        <p:nvSpPr>
          <p:cNvPr name="TextBox 16" id="16"/>
          <p:cNvSpPr txBox="true"/>
          <p:nvPr/>
        </p:nvSpPr>
        <p:spPr>
          <a:xfrm rot="0">
            <a:off x="5824142" y="2421013"/>
            <a:ext cx="6443719" cy="906145"/>
          </a:xfrm>
          <a:prstGeom prst="rect">
            <a:avLst/>
          </a:prstGeom>
        </p:spPr>
        <p:txBody>
          <a:bodyPr anchor="t" rtlCol="false" tIns="0" lIns="0" bIns="0" rIns="0">
            <a:spAutoFit/>
          </a:bodyPr>
          <a:lstStyle/>
          <a:p>
            <a:pPr algn="ctr">
              <a:lnSpc>
                <a:spcPts val="7279"/>
              </a:lnSpc>
            </a:pPr>
            <a:r>
              <a:rPr lang="en-US" sz="5199" u="sng">
                <a:solidFill>
                  <a:srgbClr val="000000"/>
                </a:solidFill>
                <a:latin typeface="Bobby Jones Condensed Soft"/>
              </a:rPr>
              <a:t>Characterization of strains </a:t>
            </a:r>
          </a:p>
        </p:txBody>
      </p:sp>
      <p:sp>
        <p:nvSpPr>
          <p:cNvPr name="TextBox 17" id="17"/>
          <p:cNvSpPr txBox="true"/>
          <p:nvPr/>
        </p:nvSpPr>
        <p:spPr>
          <a:xfrm rot="0">
            <a:off x="2507801" y="5905072"/>
            <a:ext cx="13242806" cy="452966"/>
          </a:xfrm>
          <a:prstGeom prst="rect">
            <a:avLst/>
          </a:prstGeom>
        </p:spPr>
        <p:txBody>
          <a:bodyPr anchor="t" rtlCol="false" tIns="0" lIns="0" bIns="0" rIns="0">
            <a:spAutoFit/>
          </a:bodyPr>
          <a:lstStyle/>
          <a:p>
            <a:pPr algn="ctr">
              <a:lnSpc>
                <a:spcPts val="3296"/>
              </a:lnSpc>
            </a:pPr>
          </a:p>
        </p:txBody>
      </p:sp>
      <p:sp>
        <p:nvSpPr>
          <p:cNvPr name="TextBox 18" id="18"/>
          <p:cNvSpPr txBox="true"/>
          <p:nvPr/>
        </p:nvSpPr>
        <p:spPr>
          <a:xfrm rot="0">
            <a:off x="2359379" y="4603332"/>
            <a:ext cx="5545364" cy="580390"/>
          </a:xfrm>
          <a:prstGeom prst="rect">
            <a:avLst/>
          </a:prstGeom>
        </p:spPr>
        <p:txBody>
          <a:bodyPr anchor="t" rtlCol="false" tIns="0" lIns="0" bIns="0" rIns="0">
            <a:spAutoFit/>
          </a:bodyPr>
          <a:lstStyle/>
          <a:p>
            <a:pPr algn="ctr">
              <a:lnSpc>
                <a:spcPts val="4759"/>
              </a:lnSpc>
            </a:pPr>
            <a:r>
              <a:rPr lang="en-US" sz="3399" u="sng">
                <a:solidFill>
                  <a:srgbClr val="000000"/>
                </a:solidFill>
                <a:latin typeface="League Spartan"/>
              </a:rPr>
              <a:t>a) Starch Hydrolysis Test</a:t>
            </a:r>
          </a:p>
        </p:txBody>
      </p:sp>
      <p:sp>
        <p:nvSpPr>
          <p:cNvPr name="TextBox 19" id="19"/>
          <p:cNvSpPr txBox="true"/>
          <p:nvPr/>
        </p:nvSpPr>
        <p:spPr>
          <a:xfrm rot="0">
            <a:off x="1685903" y="5285082"/>
            <a:ext cx="10113311" cy="3024971"/>
          </a:xfrm>
          <a:prstGeom prst="rect">
            <a:avLst/>
          </a:prstGeom>
        </p:spPr>
        <p:txBody>
          <a:bodyPr anchor="t" rtlCol="false" tIns="0" lIns="0" bIns="0" rIns="0">
            <a:spAutoFit/>
          </a:bodyPr>
          <a:lstStyle/>
          <a:p>
            <a:pPr algn="ctr">
              <a:lnSpc>
                <a:spcPts val="3380"/>
              </a:lnSpc>
            </a:pPr>
            <a:r>
              <a:rPr lang="en-US" sz="2414">
                <a:solidFill>
                  <a:srgbClr val="000000"/>
                </a:solidFill>
                <a:latin typeface="อีฟดอวอิ้ง"/>
                <a:ea typeface="อีฟดอวอิ้ง"/>
              </a:rPr>
              <a:t>●Inoculation- streak the bacterial isolates onto the prepared starch agar plates using an inoculating loop and Inoculated with the plates at 37°c 24 to 48 hours</a:t>
            </a:r>
          </a:p>
          <a:p>
            <a:pPr algn="ctr">
              <a:lnSpc>
                <a:spcPts val="3380"/>
              </a:lnSpc>
            </a:pPr>
            <a:r>
              <a:rPr lang="en-US" sz="2414">
                <a:solidFill>
                  <a:srgbClr val="000000"/>
                </a:solidFill>
                <a:latin typeface="อีฟดอวอิ้ง"/>
                <a:ea typeface="อีฟดอวอิ้ง"/>
              </a:rPr>
              <a:t>● Detection of starch hydrolysis- after incubation flood the plates with iodine solution. Solution from complex with starch and gives blue black colour. If clear zones appeared around the colonies then it indicates that the bacteria produce amylase which hydrolyse the starch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525174" y="-2459830"/>
            <a:ext cx="9237651" cy="15287104"/>
          </a:xfrm>
          <a:custGeom>
            <a:avLst/>
            <a:gdLst/>
            <a:ahLst/>
            <a:cxnLst/>
            <a:rect r="r" b="b" t="t" l="l"/>
            <a:pathLst>
              <a:path h="15287104" w="9237651">
                <a:moveTo>
                  <a:pt x="0" y="0"/>
                </a:moveTo>
                <a:lnTo>
                  <a:pt x="9237652" y="0"/>
                </a:lnTo>
                <a:lnTo>
                  <a:pt x="9237652" y="15287104"/>
                </a:lnTo>
                <a:lnTo>
                  <a:pt x="0" y="15287104"/>
                </a:lnTo>
                <a:lnTo>
                  <a:pt x="0" y="0"/>
                </a:lnTo>
                <a:close/>
              </a:path>
            </a:pathLst>
          </a:custGeom>
          <a:blipFill>
            <a:blip r:embed="rId2">
              <a:alphaModFix amt="71000"/>
            </a:blip>
            <a:stretch>
              <a:fillRect l="-9651" t="0" r="-12187" b="0"/>
            </a:stretch>
          </a:blipFill>
        </p:spPr>
      </p:sp>
      <p:sp>
        <p:nvSpPr>
          <p:cNvPr name="Freeform 3" id="3"/>
          <p:cNvSpPr/>
          <p:nvPr/>
        </p:nvSpPr>
        <p:spPr>
          <a:xfrm flipH="false" flipV="true" rot="5400000">
            <a:off x="-3184858" y="4931786"/>
            <a:ext cx="9237651" cy="503872"/>
          </a:xfrm>
          <a:custGeom>
            <a:avLst/>
            <a:gdLst/>
            <a:ahLst/>
            <a:cxnLst/>
            <a:rect r="r" b="b" t="t" l="l"/>
            <a:pathLst>
              <a:path h="503872" w="9237651">
                <a:moveTo>
                  <a:pt x="0" y="503872"/>
                </a:moveTo>
                <a:lnTo>
                  <a:pt x="9237651" y="503872"/>
                </a:lnTo>
                <a:lnTo>
                  <a:pt x="9237651" y="0"/>
                </a:lnTo>
                <a:lnTo>
                  <a:pt x="0" y="0"/>
                </a:lnTo>
                <a:lnTo>
                  <a:pt x="0"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5400000">
            <a:off x="12205614" y="4891564"/>
            <a:ext cx="9237651" cy="503872"/>
          </a:xfrm>
          <a:custGeom>
            <a:avLst/>
            <a:gdLst/>
            <a:ahLst/>
            <a:cxnLst/>
            <a:rect r="r" b="b" t="t" l="l"/>
            <a:pathLst>
              <a:path h="503872" w="9237651">
                <a:moveTo>
                  <a:pt x="9237652" y="503872"/>
                </a:moveTo>
                <a:lnTo>
                  <a:pt x="0" y="503872"/>
                </a:lnTo>
                <a:lnTo>
                  <a:pt x="0" y="0"/>
                </a:lnTo>
                <a:lnTo>
                  <a:pt x="9237652" y="0"/>
                </a:lnTo>
                <a:lnTo>
                  <a:pt x="9237652"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5132061" y="461724"/>
            <a:ext cx="8023877" cy="2200640"/>
          </a:xfrm>
          <a:prstGeom prst="rect">
            <a:avLst/>
          </a:prstGeom>
        </p:spPr>
        <p:txBody>
          <a:bodyPr anchor="t" rtlCol="false" tIns="0" lIns="0" bIns="0" rIns="0">
            <a:spAutoFit/>
          </a:bodyPr>
          <a:lstStyle/>
          <a:p>
            <a:pPr algn="ctr">
              <a:lnSpc>
                <a:spcPts val="17955"/>
              </a:lnSpc>
            </a:pPr>
            <a:r>
              <a:rPr lang="en-US" sz="12825">
                <a:solidFill>
                  <a:srgbClr val="000000"/>
                </a:solidFill>
                <a:latin typeface="Porcelain"/>
              </a:rPr>
              <a:t>Process</a:t>
            </a:r>
          </a:p>
        </p:txBody>
      </p:sp>
      <p:grpSp>
        <p:nvGrpSpPr>
          <p:cNvPr name="Group 6" id="6"/>
          <p:cNvGrpSpPr/>
          <p:nvPr/>
        </p:nvGrpSpPr>
        <p:grpSpPr>
          <a:xfrm rot="0">
            <a:off x="16225838" y="1271588"/>
            <a:ext cx="110490" cy="108585"/>
            <a:chOff x="0" y="0"/>
            <a:chExt cx="147320" cy="144780"/>
          </a:xfrm>
        </p:grpSpPr>
        <p:sp>
          <p:nvSpPr>
            <p:cNvPr name="Freeform 7" id="7"/>
            <p:cNvSpPr/>
            <p:nvPr/>
          </p:nvSpPr>
          <p:spPr>
            <a:xfrm flipH="false" flipV="false" rot="0">
              <a:off x="46990" y="45720"/>
              <a:ext cx="49530" cy="52070"/>
            </a:xfrm>
            <a:custGeom>
              <a:avLst/>
              <a:gdLst/>
              <a:ahLst/>
              <a:cxnLst/>
              <a:rect r="r" b="b" t="t" l="l"/>
              <a:pathLst>
                <a:path h="52070" w="49530">
                  <a:moveTo>
                    <a:pt x="49530" y="17780"/>
                  </a:moveTo>
                  <a:cubicBezTo>
                    <a:pt x="27940" y="52070"/>
                    <a:pt x="7620" y="45720"/>
                    <a:pt x="3810" y="38100"/>
                  </a:cubicBezTo>
                  <a:cubicBezTo>
                    <a:pt x="0" y="30480"/>
                    <a:pt x="3810" y="10160"/>
                    <a:pt x="10160" y="5080"/>
                  </a:cubicBezTo>
                  <a:cubicBezTo>
                    <a:pt x="16510" y="0"/>
                    <a:pt x="43180" y="7620"/>
                    <a:pt x="43180" y="7620"/>
                  </a:cubicBezTo>
                </a:path>
              </a:pathLst>
            </a:custGeom>
            <a:solidFill>
              <a:srgbClr val="2D90EB"/>
            </a:solidFill>
            <a:ln cap="sq">
              <a:noFill/>
              <a:prstDash val="solid"/>
              <a:miter/>
            </a:ln>
          </p:spPr>
        </p:sp>
      </p:grpSp>
      <p:grpSp>
        <p:nvGrpSpPr>
          <p:cNvPr name="Group 8" id="8"/>
          <p:cNvGrpSpPr/>
          <p:nvPr/>
        </p:nvGrpSpPr>
        <p:grpSpPr>
          <a:xfrm rot="0">
            <a:off x="16404907" y="1415415"/>
            <a:ext cx="111442" cy="108585"/>
            <a:chOff x="0" y="0"/>
            <a:chExt cx="148590" cy="144780"/>
          </a:xfrm>
        </p:grpSpPr>
        <p:sp>
          <p:nvSpPr>
            <p:cNvPr name="Freeform 9" id="9"/>
            <p:cNvSpPr/>
            <p:nvPr/>
          </p:nvSpPr>
          <p:spPr>
            <a:xfrm flipH="false" flipV="false" rot="0">
              <a:off x="46990" y="45720"/>
              <a:ext cx="50800" cy="52070"/>
            </a:xfrm>
            <a:custGeom>
              <a:avLst/>
              <a:gdLst/>
              <a:ahLst/>
              <a:cxnLst/>
              <a:rect r="r" b="b" t="t" l="l"/>
              <a:pathLst>
                <a:path h="52070" w="50800">
                  <a:moveTo>
                    <a:pt x="50800" y="16510"/>
                  </a:moveTo>
                  <a:cubicBezTo>
                    <a:pt x="29210" y="52070"/>
                    <a:pt x="7620" y="45720"/>
                    <a:pt x="3810" y="38100"/>
                  </a:cubicBezTo>
                  <a:cubicBezTo>
                    <a:pt x="0" y="30480"/>
                    <a:pt x="3810" y="10160"/>
                    <a:pt x="10160" y="5080"/>
                  </a:cubicBezTo>
                  <a:cubicBezTo>
                    <a:pt x="16510" y="0"/>
                    <a:pt x="44450" y="6350"/>
                    <a:pt x="44450" y="6350"/>
                  </a:cubicBezTo>
                </a:path>
              </a:pathLst>
            </a:custGeom>
            <a:solidFill>
              <a:srgbClr val="2D90EB"/>
            </a:solidFill>
            <a:ln cap="sq">
              <a:noFill/>
              <a:prstDash val="solid"/>
              <a:miter/>
            </a:ln>
          </p:spPr>
        </p:sp>
      </p:grpSp>
      <p:grpSp>
        <p:nvGrpSpPr>
          <p:cNvPr name="Group 10" id="10"/>
          <p:cNvGrpSpPr/>
          <p:nvPr/>
        </p:nvGrpSpPr>
        <p:grpSpPr>
          <a:xfrm rot="0">
            <a:off x="16548735" y="1450658"/>
            <a:ext cx="110490" cy="108585"/>
            <a:chOff x="0" y="0"/>
            <a:chExt cx="147320" cy="144780"/>
          </a:xfrm>
        </p:grpSpPr>
        <p:sp>
          <p:nvSpPr>
            <p:cNvPr name="Freeform 11" id="11"/>
            <p:cNvSpPr/>
            <p:nvPr/>
          </p:nvSpPr>
          <p:spPr>
            <a:xfrm flipH="false" flipV="false" rot="0">
              <a:off x="46990" y="45720"/>
              <a:ext cx="49530" cy="52070"/>
            </a:xfrm>
            <a:custGeom>
              <a:avLst/>
              <a:gdLst/>
              <a:ahLst/>
              <a:cxnLst/>
              <a:rect r="r" b="b" t="t" l="l"/>
              <a:pathLst>
                <a:path h="52070" w="49530">
                  <a:moveTo>
                    <a:pt x="49530" y="17780"/>
                  </a:moveTo>
                  <a:cubicBezTo>
                    <a:pt x="27940" y="52070"/>
                    <a:pt x="7620" y="45720"/>
                    <a:pt x="3810" y="38100"/>
                  </a:cubicBezTo>
                  <a:cubicBezTo>
                    <a:pt x="0" y="30480"/>
                    <a:pt x="3810" y="10160"/>
                    <a:pt x="10160" y="5080"/>
                  </a:cubicBezTo>
                  <a:cubicBezTo>
                    <a:pt x="16510" y="0"/>
                    <a:pt x="43180" y="7620"/>
                    <a:pt x="43180" y="7620"/>
                  </a:cubicBezTo>
                </a:path>
              </a:pathLst>
            </a:custGeom>
            <a:solidFill>
              <a:srgbClr val="2D90EB"/>
            </a:solidFill>
            <a:ln cap="sq">
              <a:noFill/>
              <a:prstDash val="solid"/>
              <a:miter/>
            </a:ln>
          </p:spPr>
        </p:sp>
      </p:grpSp>
      <p:sp>
        <p:nvSpPr>
          <p:cNvPr name="Freeform 12" id="12"/>
          <p:cNvSpPr/>
          <p:nvPr/>
        </p:nvSpPr>
        <p:spPr>
          <a:xfrm flipH="false" flipV="false" rot="4877845">
            <a:off x="5457591" y="742366"/>
            <a:ext cx="1430694" cy="1887007"/>
          </a:xfrm>
          <a:custGeom>
            <a:avLst/>
            <a:gdLst/>
            <a:ahLst/>
            <a:cxnLst/>
            <a:rect r="r" b="b" t="t" l="l"/>
            <a:pathLst>
              <a:path h="1887007" w="1430694">
                <a:moveTo>
                  <a:pt x="0" y="0"/>
                </a:moveTo>
                <a:lnTo>
                  <a:pt x="1430694" y="0"/>
                </a:lnTo>
                <a:lnTo>
                  <a:pt x="1430694" y="1887007"/>
                </a:lnTo>
                <a:lnTo>
                  <a:pt x="0" y="188700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77721">
            <a:off x="2199168" y="2439186"/>
            <a:ext cx="735526" cy="879766"/>
          </a:xfrm>
          <a:prstGeom prst="rect">
            <a:avLst/>
          </a:prstGeom>
        </p:spPr>
        <p:txBody>
          <a:bodyPr anchor="t" rtlCol="false" tIns="0" lIns="0" bIns="0" rIns="0">
            <a:spAutoFit/>
          </a:bodyPr>
          <a:lstStyle/>
          <a:p>
            <a:pPr algn="ctr">
              <a:lnSpc>
                <a:spcPts val="7125"/>
              </a:lnSpc>
            </a:pPr>
            <a:r>
              <a:rPr lang="en-US" sz="5089">
                <a:solidFill>
                  <a:srgbClr val="000000"/>
                </a:solidFill>
                <a:latin typeface="Porcelain"/>
              </a:rPr>
              <a:t>3</a:t>
            </a:r>
          </a:p>
        </p:txBody>
      </p:sp>
      <p:sp>
        <p:nvSpPr>
          <p:cNvPr name="TextBox 14" id="14"/>
          <p:cNvSpPr txBox="true"/>
          <p:nvPr/>
        </p:nvSpPr>
        <p:spPr>
          <a:xfrm rot="0">
            <a:off x="2566017" y="3468668"/>
            <a:ext cx="13242806" cy="896620"/>
          </a:xfrm>
          <a:prstGeom prst="rect">
            <a:avLst/>
          </a:prstGeom>
        </p:spPr>
        <p:txBody>
          <a:bodyPr anchor="t" rtlCol="false" tIns="0" lIns="0" bIns="0" rIns="0">
            <a:spAutoFit/>
          </a:bodyPr>
          <a:lstStyle/>
          <a:p>
            <a:pPr algn="ctr">
              <a:lnSpc>
                <a:spcPts val="7279"/>
              </a:lnSpc>
            </a:pPr>
            <a:r>
              <a:rPr lang="en-US" sz="5199">
                <a:solidFill>
                  <a:srgbClr val="000000"/>
                </a:solidFill>
                <a:latin typeface="Bobby Jones Soft"/>
                <a:ea typeface="Bobby Jones Soft"/>
              </a:rPr>
              <a:t>■ Biochemical test </a:t>
            </a:r>
          </a:p>
        </p:txBody>
      </p:sp>
      <p:sp>
        <p:nvSpPr>
          <p:cNvPr name="TextBox 15" id="15"/>
          <p:cNvSpPr txBox="true"/>
          <p:nvPr/>
        </p:nvSpPr>
        <p:spPr>
          <a:xfrm rot="0">
            <a:off x="5824142" y="2421013"/>
            <a:ext cx="6443719" cy="906145"/>
          </a:xfrm>
          <a:prstGeom prst="rect">
            <a:avLst/>
          </a:prstGeom>
        </p:spPr>
        <p:txBody>
          <a:bodyPr anchor="t" rtlCol="false" tIns="0" lIns="0" bIns="0" rIns="0">
            <a:spAutoFit/>
          </a:bodyPr>
          <a:lstStyle/>
          <a:p>
            <a:pPr algn="ctr">
              <a:lnSpc>
                <a:spcPts val="7279"/>
              </a:lnSpc>
            </a:pPr>
            <a:r>
              <a:rPr lang="en-US" sz="5199" u="sng">
                <a:solidFill>
                  <a:srgbClr val="000000"/>
                </a:solidFill>
                <a:latin typeface="Bobby Jones Condensed Soft"/>
              </a:rPr>
              <a:t>Characterization of strains </a:t>
            </a:r>
          </a:p>
        </p:txBody>
      </p:sp>
      <p:sp>
        <p:nvSpPr>
          <p:cNvPr name="TextBox 16" id="16"/>
          <p:cNvSpPr txBox="true"/>
          <p:nvPr/>
        </p:nvSpPr>
        <p:spPr>
          <a:xfrm rot="0">
            <a:off x="2507801" y="5905072"/>
            <a:ext cx="13242806" cy="452966"/>
          </a:xfrm>
          <a:prstGeom prst="rect">
            <a:avLst/>
          </a:prstGeom>
        </p:spPr>
        <p:txBody>
          <a:bodyPr anchor="t" rtlCol="false" tIns="0" lIns="0" bIns="0" rIns="0">
            <a:spAutoFit/>
          </a:bodyPr>
          <a:lstStyle/>
          <a:p>
            <a:pPr algn="ctr">
              <a:lnSpc>
                <a:spcPts val="3296"/>
              </a:lnSpc>
            </a:pPr>
          </a:p>
        </p:txBody>
      </p:sp>
      <p:sp>
        <p:nvSpPr>
          <p:cNvPr name="TextBox 17" id="17"/>
          <p:cNvSpPr txBox="true"/>
          <p:nvPr/>
        </p:nvSpPr>
        <p:spPr>
          <a:xfrm rot="0">
            <a:off x="3316131" y="4603332"/>
            <a:ext cx="3631860" cy="580390"/>
          </a:xfrm>
          <a:prstGeom prst="rect">
            <a:avLst/>
          </a:prstGeom>
        </p:spPr>
        <p:txBody>
          <a:bodyPr anchor="t" rtlCol="false" tIns="0" lIns="0" bIns="0" rIns="0">
            <a:spAutoFit/>
          </a:bodyPr>
          <a:lstStyle/>
          <a:p>
            <a:pPr algn="ctr">
              <a:lnSpc>
                <a:spcPts val="4759"/>
              </a:lnSpc>
            </a:pPr>
            <a:r>
              <a:rPr lang="en-US" sz="3399" u="sng">
                <a:solidFill>
                  <a:srgbClr val="000000"/>
                </a:solidFill>
                <a:latin typeface="League Spartan"/>
              </a:rPr>
              <a:t>b) INDOLE TEST-</a:t>
            </a:r>
          </a:p>
        </p:txBody>
      </p:sp>
      <p:sp>
        <p:nvSpPr>
          <p:cNvPr name="TextBox 18" id="18"/>
          <p:cNvSpPr txBox="true"/>
          <p:nvPr/>
        </p:nvSpPr>
        <p:spPr>
          <a:xfrm rot="0">
            <a:off x="2682450" y="5289189"/>
            <a:ext cx="13126374" cy="1236980"/>
          </a:xfrm>
          <a:prstGeom prst="rect">
            <a:avLst/>
          </a:prstGeom>
        </p:spPr>
        <p:txBody>
          <a:bodyPr anchor="t" rtlCol="false" tIns="0" lIns="0" bIns="0" rIns="0">
            <a:spAutoFit/>
          </a:bodyPr>
          <a:lstStyle/>
          <a:p>
            <a:pPr algn="ctr">
              <a:lnSpc>
                <a:spcPts val="3220"/>
              </a:lnSpc>
            </a:pPr>
            <a:r>
              <a:rPr lang="en-US" sz="2300">
                <a:solidFill>
                  <a:srgbClr val="000000"/>
                </a:solidFill>
                <a:latin typeface="อีฟดอวอิ้ง"/>
              </a:rPr>
              <a:t>This test demonstrates the ability of certain bacteria to hydrolyse amino acid tryptophan to indole by producing tryptophanase enzyme. When indole is combined with Kovac's reagent (which contains hydrochloric acid and p-dimethylaminobenzaldehyde) the solution turns yellow to cherry red.</a:t>
            </a:r>
          </a:p>
        </p:txBody>
      </p:sp>
      <p:sp>
        <p:nvSpPr>
          <p:cNvPr name="TextBox 19" id="19"/>
          <p:cNvSpPr txBox="true"/>
          <p:nvPr/>
        </p:nvSpPr>
        <p:spPr>
          <a:xfrm rot="0">
            <a:off x="3531338" y="6764294"/>
            <a:ext cx="2306297" cy="563880"/>
          </a:xfrm>
          <a:prstGeom prst="rect">
            <a:avLst/>
          </a:prstGeom>
        </p:spPr>
        <p:txBody>
          <a:bodyPr anchor="t" rtlCol="false" tIns="0" lIns="0" bIns="0" rIns="0">
            <a:spAutoFit/>
          </a:bodyPr>
          <a:lstStyle/>
          <a:p>
            <a:pPr algn="ctr">
              <a:lnSpc>
                <a:spcPts val="4620"/>
              </a:lnSpc>
            </a:pPr>
            <a:r>
              <a:rPr lang="en-US" sz="3300" u="sng">
                <a:solidFill>
                  <a:srgbClr val="000000"/>
                </a:solidFill>
                <a:latin typeface="Canva Sans Bold"/>
              </a:rPr>
              <a:t>Procedure-</a:t>
            </a:r>
          </a:p>
        </p:txBody>
      </p:sp>
      <p:sp>
        <p:nvSpPr>
          <p:cNvPr name="TextBox 20" id="20"/>
          <p:cNvSpPr txBox="true"/>
          <p:nvPr/>
        </p:nvSpPr>
        <p:spPr>
          <a:xfrm rot="0">
            <a:off x="2038513" y="7432949"/>
            <a:ext cx="14297815" cy="2037080"/>
          </a:xfrm>
          <a:prstGeom prst="rect">
            <a:avLst/>
          </a:prstGeom>
        </p:spPr>
        <p:txBody>
          <a:bodyPr anchor="t" rtlCol="false" tIns="0" lIns="0" bIns="0" rIns="0">
            <a:spAutoFit/>
          </a:bodyPr>
          <a:lstStyle/>
          <a:p>
            <a:pPr algn="ctr">
              <a:lnSpc>
                <a:spcPts val="3220"/>
              </a:lnSpc>
            </a:pPr>
            <a:r>
              <a:rPr lang="en-US" sz="2300">
                <a:solidFill>
                  <a:srgbClr val="000000"/>
                </a:solidFill>
                <a:latin typeface="อีฟดอวอิ้ง"/>
                <a:ea typeface="อีฟดอวอิ้ง"/>
              </a:rPr>
              <a:t>● 0.8 g tryptone and 0.2 g Nacl is added to 40 ml distilled water and autoclaved at 120 and poured into sterilized test tubes.</a:t>
            </a:r>
          </a:p>
          <a:p>
            <a:pPr algn="ctr">
              <a:lnSpc>
                <a:spcPts val="3220"/>
              </a:lnSpc>
            </a:pPr>
            <a:r>
              <a:rPr lang="en-US" sz="2300">
                <a:solidFill>
                  <a:srgbClr val="000000"/>
                </a:solidFill>
                <a:ea typeface="อีฟดอวอิ้ง"/>
              </a:rPr>
              <a:t>● </a:t>
            </a:r>
            <a:r>
              <a:rPr lang="en-US" sz="2300">
                <a:solidFill>
                  <a:srgbClr val="000000"/>
                </a:solidFill>
                <a:latin typeface="อีฟดอวอิ้ง"/>
              </a:rPr>
              <a:t>The test tubes were inoculated with the strains that were subcultured in liquid broth from slants . The inoculums were incubated for 24 hrs and then Kovac's reagent was added to them.</a:t>
            </a:r>
          </a:p>
          <a:p>
            <a:pPr algn="ctr">
              <a:lnSpc>
                <a:spcPts val="3220"/>
              </a:lnSpc>
            </a:pPr>
            <a:r>
              <a:rPr lang="en-US" sz="2300">
                <a:solidFill>
                  <a:srgbClr val="000000"/>
                </a:solidFill>
                <a:ea typeface="อีฟดอวอิ้ง"/>
              </a:rPr>
              <a:t>● </a:t>
            </a:r>
            <a:r>
              <a:rPr lang="en-US" sz="2300">
                <a:solidFill>
                  <a:srgbClr val="000000"/>
                </a:solidFill>
                <a:latin typeface="อีฟดอวอิ้ง"/>
              </a:rPr>
              <a:t>A red coloured ring formation at the top indicates that the bacteria is positive for indole test.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525174" y="-2459830"/>
            <a:ext cx="9237651" cy="15287104"/>
          </a:xfrm>
          <a:custGeom>
            <a:avLst/>
            <a:gdLst/>
            <a:ahLst/>
            <a:cxnLst/>
            <a:rect r="r" b="b" t="t" l="l"/>
            <a:pathLst>
              <a:path h="15287104" w="9237651">
                <a:moveTo>
                  <a:pt x="0" y="0"/>
                </a:moveTo>
                <a:lnTo>
                  <a:pt x="9237652" y="0"/>
                </a:lnTo>
                <a:lnTo>
                  <a:pt x="9237652" y="15287104"/>
                </a:lnTo>
                <a:lnTo>
                  <a:pt x="0" y="15287104"/>
                </a:lnTo>
                <a:lnTo>
                  <a:pt x="0" y="0"/>
                </a:lnTo>
                <a:close/>
              </a:path>
            </a:pathLst>
          </a:custGeom>
          <a:blipFill>
            <a:blip r:embed="rId2">
              <a:alphaModFix amt="71000"/>
            </a:blip>
            <a:stretch>
              <a:fillRect l="-9651" t="0" r="-12187" b="0"/>
            </a:stretch>
          </a:blipFill>
        </p:spPr>
      </p:sp>
      <p:sp>
        <p:nvSpPr>
          <p:cNvPr name="Freeform 3" id="3"/>
          <p:cNvSpPr/>
          <p:nvPr/>
        </p:nvSpPr>
        <p:spPr>
          <a:xfrm flipH="false" flipV="true" rot="5400000">
            <a:off x="-3184858" y="4931786"/>
            <a:ext cx="9237651" cy="503872"/>
          </a:xfrm>
          <a:custGeom>
            <a:avLst/>
            <a:gdLst/>
            <a:ahLst/>
            <a:cxnLst/>
            <a:rect r="r" b="b" t="t" l="l"/>
            <a:pathLst>
              <a:path h="503872" w="9237651">
                <a:moveTo>
                  <a:pt x="0" y="503872"/>
                </a:moveTo>
                <a:lnTo>
                  <a:pt x="9237651" y="503872"/>
                </a:lnTo>
                <a:lnTo>
                  <a:pt x="9237651" y="0"/>
                </a:lnTo>
                <a:lnTo>
                  <a:pt x="0" y="0"/>
                </a:lnTo>
                <a:lnTo>
                  <a:pt x="0"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5400000">
            <a:off x="12205614" y="4891564"/>
            <a:ext cx="9237651" cy="503872"/>
          </a:xfrm>
          <a:custGeom>
            <a:avLst/>
            <a:gdLst/>
            <a:ahLst/>
            <a:cxnLst/>
            <a:rect r="r" b="b" t="t" l="l"/>
            <a:pathLst>
              <a:path h="503872" w="9237651">
                <a:moveTo>
                  <a:pt x="9237652" y="503872"/>
                </a:moveTo>
                <a:lnTo>
                  <a:pt x="0" y="503872"/>
                </a:lnTo>
                <a:lnTo>
                  <a:pt x="0" y="0"/>
                </a:lnTo>
                <a:lnTo>
                  <a:pt x="9237652" y="0"/>
                </a:lnTo>
                <a:lnTo>
                  <a:pt x="9237652"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5132061" y="461724"/>
            <a:ext cx="8023877" cy="2200640"/>
          </a:xfrm>
          <a:prstGeom prst="rect">
            <a:avLst/>
          </a:prstGeom>
        </p:spPr>
        <p:txBody>
          <a:bodyPr anchor="t" rtlCol="false" tIns="0" lIns="0" bIns="0" rIns="0">
            <a:spAutoFit/>
          </a:bodyPr>
          <a:lstStyle/>
          <a:p>
            <a:pPr algn="ctr">
              <a:lnSpc>
                <a:spcPts val="17955"/>
              </a:lnSpc>
            </a:pPr>
            <a:r>
              <a:rPr lang="en-US" sz="12825">
                <a:solidFill>
                  <a:srgbClr val="000000"/>
                </a:solidFill>
                <a:latin typeface="Porcelain"/>
              </a:rPr>
              <a:t>Process</a:t>
            </a:r>
          </a:p>
        </p:txBody>
      </p:sp>
      <p:grpSp>
        <p:nvGrpSpPr>
          <p:cNvPr name="Group 6" id="6"/>
          <p:cNvGrpSpPr/>
          <p:nvPr/>
        </p:nvGrpSpPr>
        <p:grpSpPr>
          <a:xfrm rot="0">
            <a:off x="16225838" y="1271588"/>
            <a:ext cx="110490" cy="108585"/>
            <a:chOff x="0" y="0"/>
            <a:chExt cx="147320" cy="144780"/>
          </a:xfrm>
        </p:grpSpPr>
        <p:sp>
          <p:nvSpPr>
            <p:cNvPr name="Freeform 7" id="7"/>
            <p:cNvSpPr/>
            <p:nvPr/>
          </p:nvSpPr>
          <p:spPr>
            <a:xfrm flipH="false" flipV="false" rot="0">
              <a:off x="46990" y="45720"/>
              <a:ext cx="49530" cy="52070"/>
            </a:xfrm>
            <a:custGeom>
              <a:avLst/>
              <a:gdLst/>
              <a:ahLst/>
              <a:cxnLst/>
              <a:rect r="r" b="b" t="t" l="l"/>
              <a:pathLst>
                <a:path h="52070" w="49530">
                  <a:moveTo>
                    <a:pt x="49530" y="17780"/>
                  </a:moveTo>
                  <a:cubicBezTo>
                    <a:pt x="27940" y="52070"/>
                    <a:pt x="7620" y="45720"/>
                    <a:pt x="3810" y="38100"/>
                  </a:cubicBezTo>
                  <a:cubicBezTo>
                    <a:pt x="0" y="30480"/>
                    <a:pt x="3810" y="10160"/>
                    <a:pt x="10160" y="5080"/>
                  </a:cubicBezTo>
                  <a:cubicBezTo>
                    <a:pt x="16510" y="0"/>
                    <a:pt x="43180" y="7620"/>
                    <a:pt x="43180" y="7620"/>
                  </a:cubicBezTo>
                </a:path>
              </a:pathLst>
            </a:custGeom>
            <a:solidFill>
              <a:srgbClr val="2D90EB"/>
            </a:solidFill>
            <a:ln cap="sq">
              <a:noFill/>
              <a:prstDash val="solid"/>
              <a:miter/>
            </a:ln>
          </p:spPr>
        </p:sp>
      </p:grpSp>
      <p:grpSp>
        <p:nvGrpSpPr>
          <p:cNvPr name="Group 8" id="8"/>
          <p:cNvGrpSpPr/>
          <p:nvPr/>
        </p:nvGrpSpPr>
        <p:grpSpPr>
          <a:xfrm rot="0">
            <a:off x="16404907" y="1415415"/>
            <a:ext cx="111442" cy="108585"/>
            <a:chOff x="0" y="0"/>
            <a:chExt cx="148590" cy="144780"/>
          </a:xfrm>
        </p:grpSpPr>
        <p:sp>
          <p:nvSpPr>
            <p:cNvPr name="Freeform 9" id="9"/>
            <p:cNvSpPr/>
            <p:nvPr/>
          </p:nvSpPr>
          <p:spPr>
            <a:xfrm flipH="false" flipV="false" rot="0">
              <a:off x="46990" y="45720"/>
              <a:ext cx="50800" cy="52070"/>
            </a:xfrm>
            <a:custGeom>
              <a:avLst/>
              <a:gdLst/>
              <a:ahLst/>
              <a:cxnLst/>
              <a:rect r="r" b="b" t="t" l="l"/>
              <a:pathLst>
                <a:path h="52070" w="50800">
                  <a:moveTo>
                    <a:pt x="50800" y="16510"/>
                  </a:moveTo>
                  <a:cubicBezTo>
                    <a:pt x="29210" y="52070"/>
                    <a:pt x="7620" y="45720"/>
                    <a:pt x="3810" y="38100"/>
                  </a:cubicBezTo>
                  <a:cubicBezTo>
                    <a:pt x="0" y="30480"/>
                    <a:pt x="3810" y="10160"/>
                    <a:pt x="10160" y="5080"/>
                  </a:cubicBezTo>
                  <a:cubicBezTo>
                    <a:pt x="16510" y="0"/>
                    <a:pt x="44450" y="6350"/>
                    <a:pt x="44450" y="6350"/>
                  </a:cubicBezTo>
                </a:path>
              </a:pathLst>
            </a:custGeom>
            <a:solidFill>
              <a:srgbClr val="2D90EB"/>
            </a:solidFill>
            <a:ln cap="sq">
              <a:noFill/>
              <a:prstDash val="solid"/>
              <a:miter/>
            </a:ln>
          </p:spPr>
        </p:sp>
      </p:grpSp>
      <p:grpSp>
        <p:nvGrpSpPr>
          <p:cNvPr name="Group 10" id="10"/>
          <p:cNvGrpSpPr/>
          <p:nvPr/>
        </p:nvGrpSpPr>
        <p:grpSpPr>
          <a:xfrm rot="0">
            <a:off x="16548735" y="1450658"/>
            <a:ext cx="110490" cy="108585"/>
            <a:chOff x="0" y="0"/>
            <a:chExt cx="147320" cy="144780"/>
          </a:xfrm>
        </p:grpSpPr>
        <p:sp>
          <p:nvSpPr>
            <p:cNvPr name="Freeform 11" id="11"/>
            <p:cNvSpPr/>
            <p:nvPr/>
          </p:nvSpPr>
          <p:spPr>
            <a:xfrm flipH="false" flipV="false" rot="0">
              <a:off x="46990" y="45720"/>
              <a:ext cx="49530" cy="52070"/>
            </a:xfrm>
            <a:custGeom>
              <a:avLst/>
              <a:gdLst/>
              <a:ahLst/>
              <a:cxnLst/>
              <a:rect r="r" b="b" t="t" l="l"/>
              <a:pathLst>
                <a:path h="52070" w="49530">
                  <a:moveTo>
                    <a:pt x="49530" y="17780"/>
                  </a:moveTo>
                  <a:cubicBezTo>
                    <a:pt x="27940" y="52070"/>
                    <a:pt x="7620" y="45720"/>
                    <a:pt x="3810" y="38100"/>
                  </a:cubicBezTo>
                  <a:cubicBezTo>
                    <a:pt x="0" y="30480"/>
                    <a:pt x="3810" y="10160"/>
                    <a:pt x="10160" y="5080"/>
                  </a:cubicBezTo>
                  <a:cubicBezTo>
                    <a:pt x="16510" y="0"/>
                    <a:pt x="43180" y="7620"/>
                    <a:pt x="43180" y="7620"/>
                  </a:cubicBezTo>
                </a:path>
              </a:pathLst>
            </a:custGeom>
            <a:solidFill>
              <a:srgbClr val="2D90EB"/>
            </a:solidFill>
            <a:ln cap="sq">
              <a:noFill/>
              <a:prstDash val="solid"/>
              <a:miter/>
            </a:ln>
          </p:spPr>
        </p:sp>
      </p:grpSp>
      <p:sp>
        <p:nvSpPr>
          <p:cNvPr name="Freeform 12" id="12"/>
          <p:cNvSpPr/>
          <p:nvPr/>
        </p:nvSpPr>
        <p:spPr>
          <a:xfrm flipH="false" flipV="false" rot="4877845">
            <a:off x="5457591" y="742366"/>
            <a:ext cx="1430694" cy="1887007"/>
          </a:xfrm>
          <a:custGeom>
            <a:avLst/>
            <a:gdLst/>
            <a:ahLst/>
            <a:cxnLst/>
            <a:rect r="r" b="b" t="t" l="l"/>
            <a:pathLst>
              <a:path h="1887007" w="1430694">
                <a:moveTo>
                  <a:pt x="0" y="0"/>
                </a:moveTo>
                <a:lnTo>
                  <a:pt x="1430694" y="0"/>
                </a:lnTo>
                <a:lnTo>
                  <a:pt x="1430694" y="1887007"/>
                </a:lnTo>
                <a:lnTo>
                  <a:pt x="0" y="188700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77721">
            <a:off x="2199168" y="2439186"/>
            <a:ext cx="735526" cy="879766"/>
          </a:xfrm>
          <a:prstGeom prst="rect">
            <a:avLst/>
          </a:prstGeom>
        </p:spPr>
        <p:txBody>
          <a:bodyPr anchor="t" rtlCol="false" tIns="0" lIns="0" bIns="0" rIns="0">
            <a:spAutoFit/>
          </a:bodyPr>
          <a:lstStyle/>
          <a:p>
            <a:pPr algn="ctr">
              <a:lnSpc>
                <a:spcPts val="7125"/>
              </a:lnSpc>
            </a:pPr>
            <a:r>
              <a:rPr lang="en-US" sz="5089">
                <a:solidFill>
                  <a:srgbClr val="000000"/>
                </a:solidFill>
                <a:latin typeface="Porcelain"/>
              </a:rPr>
              <a:t>3</a:t>
            </a:r>
          </a:p>
        </p:txBody>
      </p:sp>
      <p:sp>
        <p:nvSpPr>
          <p:cNvPr name="TextBox 14" id="14"/>
          <p:cNvSpPr txBox="true"/>
          <p:nvPr/>
        </p:nvSpPr>
        <p:spPr>
          <a:xfrm rot="0">
            <a:off x="2566017" y="3468668"/>
            <a:ext cx="13242806" cy="896620"/>
          </a:xfrm>
          <a:prstGeom prst="rect">
            <a:avLst/>
          </a:prstGeom>
        </p:spPr>
        <p:txBody>
          <a:bodyPr anchor="t" rtlCol="false" tIns="0" lIns="0" bIns="0" rIns="0">
            <a:spAutoFit/>
          </a:bodyPr>
          <a:lstStyle/>
          <a:p>
            <a:pPr algn="ctr">
              <a:lnSpc>
                <a:spcPts val="7279"/>
              </a:lnSpc>
            </a:pPr>
            <a:r>
              <a:rPr lang="en-US" sz="5199">
                <a:solidFill>
                  <a:srgbClr val="000000"/>
                </a:solidFill>
                <a:latin typeface="Bobby Jones Soft"/>
                <a:ea typeface="Bobby Jones Soft"/>
              </a:rPr>
              <a:t>■ Biochemical test </a:t>
            </a:r>
          </a:p>
        </p:txBody>
      </p:sp>
      <p:sp>
        <p:nvSpPr>
          <p:cNvPr name="TextBox 15" id="15"/>
          <p:cNvSpPr txBox="true"/>
          <p:nvPr/>
        </p:nvSpPr>
        <p:spPr>
          <a:xfrm rot="0">
            <a:off x="5824142" y="2421013"/>
            <a:ext cx="6443719" cy="906145"/>
          </a:xfrm>
          <a:prstGeom prst="rect">
            <a:avLst/>
          </a:prstGeom>
        </p:spPr>
        <p:txBody>
          <a:bodyPr anchor="t" rtlCol="false" tIns="0" lIns="0" bIns="0" rIns="0">
            <a:spAutoFit/>
          </a:bodyPr>
          <a:lstStyle/>
          <a:p>
            <a:pPr algn="ctr">
              <a:lnSpc>
                <a:spcPts val="7279"/>
              </a:lnSpc>
            </a:pPr>
            <a:r>
              <a:rPr lang="en-US" sz="5199" u="sng">
                <a:solidFill>
                  <a:srgbClr val="000000"/>
                </a:solidFill>
                <a:latin typeface="Bobby Jones Condensed Soft"/>
              </a:rPr>
              <a:t>Characterization of strains </a:t>
            </a:r>
          </a:p>
        </p:txBody>
      </p:sp>
      <p:sp>
        <p:nvSpPr>
          <p:cNvPr name="TextBox 16" id="16"/>
          <p:cNvSpPr txBox="true"/>
          <p:nvPr/>
        </p:nvSpPr>
        <p:spPr>
          <a:xfrm rot="0">
            <a:off x="2507801" y="5905072"/>
            <a:ext cx="13242806" cy="452966"/>
          </a:xfrm>
          <a:prstGeom prst="rect">
            <a:avLst/>
          </a:prstGeom>
        </p:spPr>
        <p:txBody>
          <a:bodyPr anchor="t" rtlCol="false" tIns="0" lIns="0" bIns="0" rIns="0">
            <a:spAutoFit/>
          </a:bodyPr>
          <a:lstStyle/>
          <a:p>
            <a:pPr algn="ctr">
              <a:lnSpc>
                <a:spcPts val="3296"/>
              </a:lnSpc>
            </a:pPr>
          </a:p>
        </p:txBody>
      </p:sp>
      <p:sp>
        <p:nvSpPr>
          <p:cNvPr name="TextBox 17" id="17"/>
          <p:cNvSpPr txBox="true"/>
          <p:nvPr/>
        </p:nvSpPr>
        <p:spPr>
          <a:xfrm rot="0">
            <a:off x="2715348" y="4603332"/>
            <a:ext cx="4833427" cy="580390"/>
          </a:xfrm>
          <a:prstGeom prst="rect">
            <a:avLst/>
          </a:prstGeom>
        </p:spPr>
        <p:txBody>
          <a:bodyPr anchor="t" rtlCol="false" tIns="0" lIns="0" bIns="0" rIns="0">
            <a:spAutoFit/>
          </a:bodyPr>
          <a:lstStyle/>
          <a:p>
            <a:pPr algn="ctr">
              <a:lnSpc>
                <a:spcPts val="4759"/>
              </a:lnSpc>
            </a:pPr>
            <a:r>
              <a:rPr lang="en-US" sz="3399" u="sng">
                <a:solidFill>
                  <a:srgbClr val="000000"/>
                </a:solidFill>
                <a:latin typeface="League Spartan"/>
              </a:rPr>
              <a:t>  c) METHYL RED TEST </a:t>
            </a:r>
          </a:p>
        </p:txBody>
      </p:sp>
      <p:sp>
        <p:nvSpPr>
          <p:cNvPr name="TextBox 18" id="18"/>
          <p:cNvSpPr txBox="true"/>
          <p:nvPr/>
        </p:nvSpPr>
        <p:spPr>
          <a:xfrm rot="0">
            <a:off x="1432778" y="5193939"/>
            <a:ext cx="15226447" cy="1637030"/>
          </a:xfrm>
          <a:prstGeom prst="rect">
            <a:avLst/>
          </a:prstGeom>
        </p:spPr>
        <p:txBody>
          <a:bodyPr anchor="t" rtlCol="false" tIns="0" lIns="0" bIns="0" rIns="0">
            <a:spAutoFit/>
          </a:bodyPr>
          <a:lstStyle/>
          <a:p>
            <a:pPr algn="ctr">
              <a:lnSpc>
                <a:spcPts val="3220"/>
              </a:lnSpc>
            </a:pPr>
            <a:r>
              <a:rPr lang="en-US" sz="2300">
                <a:solidFill>
                  <a:srgbClr val="000000"/>
                </a:solidFill>
                <a:latin typeface="อีฟดอวอิ้ง"/>
              </a:rPr>
              <a:t>- This test is done to detect the ability of the bacteria to produce and maintain stable acid end products from glucose fermentation. The fermentative enteric bacteria cause the conversion of glucose into pyruvic acid through their complex enzyme system. Pyruvic Acid enters the mixed acid pathway and forms stable acidic products and one molecule of ethanol, Carbon Dioxide and hydrogen by fermenting a single glucose molecule.</a:t>
            </a:r>
          </a:p>
        </p:txBody>
      </p:sp>
      <p:sp>
        <p:nvSpPr>
          <p:cNvPr name="TextBox 19" id="19"/>
          <p:cNvSpPr txBox="true"/>
          <p:nvPr/>
        </p:nvSpPr>
        <p:spPr>
          <a:xfrm rot="0">
            <a:off x="1789297" y="6764294"/>
            <a:ext cx="2306297" cy="563880"/>
          </a:xfrm>
          <a:prstGeom prst="rect">
            <a:avLst/>
          </a:prstGeom>
        </p:spPr>
        <p:txBody>
          <a:bodyPr anchor="t" rtlCol="false" tIns="0" lIns="0" bIns="0" rIns="0">
            <a:spAutoFit/>
          </a:bodyPr>
          <a:lstStyle/>
          <a:p>
            <a:pPr algn="ctr">
              <a:lnSpc>
                <a:spcPts val="4620"/>
              </a:lnSpc>
            </a:pPr>
            <a:r>
              <a:rPr lang="en-US" sz="3300" u="sng">
                <a:solidFill>
                  <a:srgbClr val="000000"/>
                </a:solidFill>
                <a:latin typeface="Canva Sans Bold"/>
              </a:rPr>
              <a:t>Procedure-</a:t>
            </a:r>
          </a:p>
        </p:txBody>
      </p:sp>
      <p:sp>
        <p:nvSpPr>
          <p:cNvPr name="TextBox 20" id="20"/>
          <p:cNvSpPr txBox="true"/>
          <p:nvPr/>
        </p:nvSpPr>
        <p:spPr>
          <a:xfrm rot="0">
            <a:off x="1928023" y="7232924"/>
            <a:ext cx="14297815" cy="2437130"/>
          </a:xfrm>
          <a:prstGeom prst="rect">
            <a:avLst/>
          </a:prstGeom>
        </p:spPr>
        <p:txBody>
          <a:bodyPr anchor="t" rtlCol="false" tIns="0" lIns="0" bIns="0" rIns="0">
            <a:spAutoFit/>
          </a:bodyPr>
          <a:lstStyle/>
          <a:p>
            <a:pPr algn="ctr">
              <a:lnSpc>
                <a:spcPts val="3220"/>
              </a:lnSpc>
            </a:pPr>
            <a:r>
              <a:rPr lang="en-US" sz="2300">
                <a:solidFill>
                  <a:srgbClr val="000000"/>
                </a:solidFill>
                <a:latin typeface="อีฟดอวอิ้ง"/>
                <a:ea typeface="อีฟดอวอิ้ง"/>
              </a:rPr>
              <a:t>●0.7% peptone (w/v), 0.5% glucose (w/v) and 0.5% dipotassium phosphate (w/v) are added in 80 ml of distilled water. The glucose-phosphate broth is pored into test tubes and autoclaved.</a:t>
            </a:r>
          </a:p>
          <a:p>
            <a:pPr algn="ctr">
              <a:lnSpc>
                <a:spcPts val="3220"/>
              </a:lnSpc>
            </a:pPr>
            <a:r>
              <a:rPr lang="en-US" sz="2300">
                <a:solidFill>
                  <a:srgbClr val="000000"/>
                </a:solidFill>
                <a:latin typeface="อีฟดอวอิ้ง"/>
              </a:rPr>
              <a:t>After autoclaving, the strains are inoculated into the broth from the liquid culture and incubated for around 48 hrs. Within this time sufficient acid can be produced if mixed-acid producing bacteria are present.</a:t>
            </a:r>
          </a:p>
          <a:p>
            <a:pPr algn="ctr">
              <a:lnSpc>
                <a:spcPts val="3220"/>
              </a:lnSpc>
            </a:pPr>
            <a:r>
              <a:rPr lang="en-US" sz="2300">
                <a:solidFill>
                  <a:srgbClr val="000000"/>
                </a:solidFill>
                <a:ea typeface="อีฟดอวอิ้ง"/>
              </a:rPr>
              <a:t>● </a:t>
            </a:r>
            <a:r>
              <a:rPr lang="en-US" sz="2300">
                <a:solidFill>
                  <a:srgbClr val="000000"/>
                </a:solidFill>
                <a:latin typeface="อีฟดอวอิ้ง"/>
              </a:rPr>
              <a:t>5 drops of methyl red reagent is added to check the pH.If colour changes to red, it indicates that the bacteria resulted positive for methyl red.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525174" y="-2459830"/>
            <a:ext cx="9237651" cy="15287104"/>
          </a:xfrm>
          <a:custGeom>
            <a:avLst/>
            <a:gdLst/>
            <a:ahLst/>
            <a:cxnLst/>
            <a:rect r="r" b="b" t="t" l="l"/>
            <a:pathLst>
              <a:path h="15287104" w="9237651">
                <a:moveTo>
                  <a:pt x="0" y="0"/>
                </a:moveTo>
                <a:lnTo>
                  <a:pt x="9237652" y="0"/>
                </a:lnTo>
                <a:lnTo>
                  <a:pt x="9237652" y="15287104"/>
                </a:lnTo>
                <a:lnTo>
                  <a:pt x="0" y="15287104"/>
                </a:lnTo>
                <a:lnTo>
                  <a:pt x="0" y="0"/>
                </a:lnTo>
                <a:close/>
              </a:path>
            </a:pathLst>
          </a:custGeom>
          <a:blipFill>
            <a:blip r:embed="rId2">
              <a:alphaModFix amt="71000"/>
            </a:blip>
            <a:stretch>
              <a:fillRect l="-9651" t="0" r="-12187" b="0"/>
            </a:stretch>
          </a:blipFill>
        </p:spPr>
      </p:sp>
      <p:sp>
        <p:nvSpPr>
          <p:cNvPr name="Freeform 3" id="3"/>
          <p:cNvSpPr/>
          <p:nvPr/>
        </p:nvSpPr>
        <p:spPr>
          <a:xfrm flipH="false" flipV="true" rot="5400000">
            <a:off x="-3184858" y="4931786"/>
            <a:ext cx="9237651" cy="503872"/>
          </a:xfrm>
          <a:custGeom>
            <a:avLst/>
            <a:gdLst/>
            <a:ahLst/>
            <a:cxnLst/>
            <a:rect r="r" b="b" t="t" l="l"/>
            <a:pathLst>
              <a:path h="503872" w="9237651">
                <a:moveTo>
                  <a:pt x="0" y="503872"/>
                </a:moveTo>
                <a:lnTo>
                  <a:pt x="9237651" y="503872"/>
                </a:lnTo>
                <a:lnTo>
                  <a:pt x="9237651" y="0"/>
                </a:lnTo>
                <a:lnTo>
                  <a:pt x="0" y="0"/>
                </a:lnTo>
                <a:lnTo>
                  <a:pt x="0"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5400000">
            <a:off x="12205614" y="4891564"/>
            <a:ext cx="9237651" cy="503872"/>
          </a:xfrm>
          <a:custGeom>
            <a:avLst/>
            <a:gdLst/>
            <a:ahLst/>
            <a:cxnLst/>
            <a:rect r="r" b="b" t="t" l="l"/>
            <a:pathLst>
              <a:path h="503872" w="9237651">
                <a:moveTo>
                  <a:pt x="9237652" y="503872"/>
                </a:moveTo>
                <a:lnTo>
                  <a:pt x="0" y="503872"/>
                </a:lnTo>
                <a:lnTo>
                  <a:pt x="0" y="0"/>
                </a:lnTo>
                <a:lnTo>
                  <a:pt x="9237652" y="0"/>
                </a:lnTo>
                <a:lnTo>
                  <a:pt x="9237652"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5132061" y="461724"/>
            <a:ext cx="8023877" cy="2200640"/>
          </a:xfrm>
          <a:prstGeom prst="rect">
            <a:avLst/>
          </a:prstGeom>
        </p:spPr>
        <p:txBody>
          <a:bodyPr anchor="t" rtlCol="false" tIns="0" lIns="0" bIns="0" rIns="0">
            <a:spAutoFit/>
          </a:bodyPr>
          <a:lstStyle/>
          <a:p>
            <a:pPr algn="ctr">
              <a:lnSpc>
                <a:spcPts val="17955"/>
              </a:lnSpc>
            </a:pPr>
            <a:r>
              <a:rPr lang="en-US" sz="12825">
                <a:solidFill>
                  <a:srgbClr val="000000"/>
                </a:solidFill>
                <a:latin typeface="Porcelain"/>
              </a:rPr>
              <a:t>Process</a:t>
            </a:r>
          </a:p>
        </p:txBody>
      </p:sp>
      <p:grpSp>
        <p:nvGrpSpPr>
          <p:cNvPr name="Group 6" id="6"/>
          <p:cNvGrpSpPr/>
          <p:nvPr/>
        </p:nvGrpSpPr>
        <p:grpSpPr>
          <a:xfrm rot="0">
            <a:off x="16225838" y="1271588"/>
            <a:ext cx="110490" cy="108585"/>
            <a:chOff x="0" y="0"/>
            <a:chExt cx="147320" cy="144780"/>
          </a:xfrm>
        </p:grpSpPr>
        <p:sp>
          <p:nvSpPr>
            <p:cNvPr name="Freeform 7" id="7"/>
            <p:cNvSpPr/>
            <p:nvPr/>
          </p:nvSpPr>
          <p:spPr>
            <a:xfrm flipH="false" flipV="false" rot="0">
              <a:off x="46990" y="45720"/>
              <a:ext cx="49530" cy="52070"/>
            </a:xfrm>
            <a:custGeom>
              <a:avLst/>
              <a:gdLst/>
              <a:ahLst/>
              <a:cxnLst/>
              <a:rect r="r" b="b" t="t" l="l"/>
              <a:pathLst>
                <a:path h="52070" w="49530">
                  <a:moveTo>
                    <a:pt x="49530" y="17780"/>
                  </a:moveTo>
                  <a:cubicBezTo>
                    <a:pt x="27940" y="52070"/>
                    <a:pt x="7620" y="45720"/>
                    <a:pt x="3810" y="38100"/>
                  </a:cubicBezTo>
                  <a:cubicBezTo>
                    <a:pt x="0" y="30480"/>
                    <a:pt x="3810" y="10160"/>
                    <a:pt x="10160" y="5080"/>
                  </a:cubicBezTo>
                  <a:cubicBezTo>
                    <a:pt x="16510" y="0"/>
                    <a:pt x="43180" y="7620"/>
                    <a:pt x="43180" y="7620"/>
                  </a:cubicBezTo>
                </a:path>
              </a:pathLst>
            </a:custGeom>
            <a:solidFill>
              <a:srgbClr val="2D90EB"/>
            </a:solidFill>
            <a:ln cap="sq">
              <a:noFill/>
              <a:prstDash val="solid"/>
              <a:miter/>
            </a:ln>
          </p:spPr>
        </p:sp>
      </p:grpSp>
      <p:grpSp>
        <p:nvGrpSpPr>
          <p:cNvPr name="Group 8" id="8"/>
          <p:cNvGrpSpPr/>
          <p:nvPr/>
        </p:nvGrpSpPr>
        <p:grpSpPr>
          <a:xfrm rot="0">
            <a:off x="16404907" y="1415415"/>
            <a:ext cx="111442" cy="108585"/>
            <a:chOff x="0" y="0"/>
            <a:chExt cx="148590" cy="144780"/>
          </a:xfrm>
        </p:grpSpPr>
        <p:sp>
          <p:nvSpPr>
            <p:cNvPr name="Freeform 9" id="9"/>
            <p:cNvSpPr/>
            <p:nvPr/>
          </p:nvSpPr>
          <p:spPr>
            <a:xfrm flipH="false" flipV="false" rot="0">
              <a:off x="46990" y="45720"/>
              <a:ext cx="50800" cy="52070"/>
            </a:xfrm>
            <a:custGeom>
              <a:avLst/>
              <a:gdLst/>
              <a:ahLst/>
              <a:cxnLst/>
              <a:rect r="r" b="b" t="t" l="l"/>
              <a:pathLst>
                <a:path h="52070" w="50800">
                  <a:moveTo>
                    <a:pt x="50800" y="16510"/>
                  </a:moveTo>
                  <a:cubicBezTo>
                    <a:pt x="29210" y="52070"/>
                    <a:pt x="7620" y="45720"/>
                    <a:pt x="3810" y="38100"/>
                  </a:cubicBezTo>
                  <a:cubicBezTo>
                    <a:pt x="0" y="30480"/>
                    <a:pt x="3810" y="10160"/>
                    <a:pt x="10160" y="5080"/>
                  </a:cubicBezTo>
                  <a:cubicBezTo>
                    <a:pt x="16510" y="0"/>
                    <a:pt x="44450" y="6350"/>
                    <a:pt x="44450" y="6350"/>
                  </a:cubicBezTo>
                </a:path>
              </a:pathLst>
            </a:custGeom>
            <a:solidFill>
              <a:srgbClr val="2D90EB"/>
            </a:solidFill>
            <a:ln cap="sq">
              <a:noFill/>
              <a:prstDash val="solid"/>
              <a:miter/>
            </a:ln>
          </p:spPr>
        </p:sp>
      </p:grpSp>
      <p:grpSp>
        <p:nvGrpSpPr>
          <p:cNvPr name="Group 10" id="10"/>
          <p:cNvGrpSpPr/>
          <p:nvPr/>
        </p:nvGrpSpPr>
        <p:grpSpPr>
          <a:xfrm rot="0">
            <a:off x="16548735" y="1450658"/>
            <a:ext cx="110490" cy="108585"/>
            <a:chOff x="0" y="0"/>
            <a:chExt cx="147320" cy="144780"/>
          </a:xfrm>
        </p:grpSpPr>
        <p:sp>
          <p:nvSpPr>
            <p:cNvPr name="Freeform 11" id="11"/>
            <p:cNvSpPr/>
            <p:nvPr/>
          </p:nvSpPr>
          <p:spPr>
            <a:xfrm flipH="false" flipV="false" rot="0">
              <a:off x="46990" y="45720"/>
              <a:ext cx="49530" cy="52070"/>
            </a:xfrm>
            <a:custGeom>
              <a:avLst/>
              <a:gdLst/>
              <a:ahLst/>
              <a:cxnLst/>
              <a:rect r="r" b="b" t="t" l="l"/>
              <a:pathLst>
                <a:path h="52070" w="49530">
                  <a:moveTo>
                    <a:pt x="49530" y="17780"/>
                  </a:moveTo>
                  <a:cubicBezTo>
                    <a:pt x="27940" y="52070"/>
                    <a:pt x="7620" y="45720"/>
                    <a:pt x="3810" y="38100"/>
                  </a:cubicBezTo>
                  <a:cubicBezTo>
                    <a:pt x="0" y="30480"/>
                    <a:pt x="3810" y="10160"/>
                    <a:pt x="10160" y="5080"/>
                  </a:cubicBezTo>
                  <a:cubicBezTo>
                    <a:pt x="16510" y="0"/>
                    <a:pt x="43180" y="7620"/>
                    <a:pt x="43180" y="7620"/>
                  </a:cubicBezTo>
                </a:path>
              </a:pathLst>
            </a:custGeom>
            <a:solidFill>
              <a:srgbClr val="2D90EB"/>
            </a:solidFill>
            <a:ln cap="sq">
              <a:noFill/>
              <a:prstDash val="solid"/>
              <a:miter/>
            </a:ln>
          </p:spPr>
        </p:sp>
      </p:grpSp>
      <p:sp>
        <p:nvSpPr>
          <p:cNvPr name="Freeform 12" id="12"/>
          <p:cNvSpPr/>
          <p:nvPr/>
        </p:nvSpPr>
        <p:spPr>
          <a:xfrm flipH="false" flipV="false" rot="4877845">
            <a:off x="5457591" y="742366"/>
            <a:ext cx="1430694" cy="1887007"/>
          </a:xfrm>
          <a:custGeom>
            <a:avLst/>
            <a:gdLst/>
            <a:ahLst/>
            <a:cxnLst/>
            <a:rect r="r" b="b" t="t" l="l"/>
            <a:pathLst>
              <a:path h="1887007" w="1430694">
                <a:moveTo>
                  <a:pt x="0" y="0"/>
                </a:moveTo>
                <a:lnTo>
                  <a:pt x="1430694" y="0"/>
                </a:lnTo>
                <a:lnTo>
                  <a:pt x="1430694" y="1887007"/>
                </a:lnTo>
                <a:lnTo>
                  <a:pt x="0" y="188700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77721">
            <a:off x="2199168" y="2439186"/>
            <a:ext cx="735526" cy="879766"/>
          </a:xfrm>
          <a:prstGeom prst="rect">
            <a:avLst/>
          </a:prstGeom>
        </p:spPr>
        <p:txBody>
          <a:bodyPr anchor="t" rtlCol="false" tIns="0" lIns="0" bIns="0" rIns="0">
            <a:spAutoFit/>
          </a:bodyPr>
          <a:lstStyle/>
          <a:p>
            <a:pPr algn="ctr">
              <a:lnSpc>
                <a:spcPts val="7125"/>
              </a:lnSpc>
            </a:pPr>
            <a:r>
              <a:rPr lang="en-US" sz="5089">
                <a:solidFill>
                  <a:srgbClr val="000000"/>
                </a:solidFill>
                <a:latin typeface="Porcelain"/>
              </a:rPr>
              <a:t>3</a:t>
            </a:r>
          </a:p>
        </p:txBody>
      </p:sp>
      <p:sp>
        <p:nvSpPr>
          <p:cNvPr name="TextBox 14" id="14"/>
          <p:cNvSpPr txBox="true"/>
          <p:nvPr/>
        </p:nvSpPr>
        <p:spPr>
          <a:xfrm rot="0">
            <a:off x="2566017" y="3468668"/>
            <a:ext cx="13242806" cy="896620"/>
          </a:xfrm>
          <a:prstGeom prst="rect">
            <a:avLst/>
          </a:prstGeom>
        </p:spPr>
        <p:txBody>
          <a:bodyPr anchor="t" rtlCol="false" tIns="0" lIns="0" bIns="0" rIns="0">
            <a:spAutoFit/>
          </a:bodyPr>
          <a:lstStyle/>
          <a:p>
            <a:pPr algn="ctr">
              <a:lnSpc>
                <a:spcPts val="7279"/>
              </a:lnSpc>
            </a:pPr>
            <a:r>
              <a:rPr lang="en-US" sz="5199">
                <a:solidFill>
                  <a:srgbClr val="000000"/>
                </a:solidFill>
                <a:latin typeface="Bobby Jones Soft"/>
                <a:ea typeface="Bobby Jones Soft"/>
              </a:rPr>
              <a:t>■ Biochemical test </a:t>
            </a:r>
          </a:p>
        </p:txBody>
      </p:sp>
      <p:sp>
        <p:nvSpPr>
          <p:cNvPr name="TextBox 15" id="15"/>
          <p:cNvSpPr txBox="true"/>
          <p:nvPr/>
        </p:nvSpPr>
        <p:spPr>
          <a:xfrm rot="0">
            <a:off x="5824142" y="2421013"/>
            <a:ext cx="6443719" cy="906145"/>
          </a:xfrm>
          <a:prstGeom prst="rect">
            <a:avLst/>
          </a:prstGeom>
        </p:spPr>
        <p:txBody>
          <a:bodyPr anchor="t" rtlCol="false" tIns="0" lIns="0" bIns="0" rIns="0">
            <a:spAutoFit/>
          </a:bodyPr>
          <a:lstStyle/>
          <a:p>
            <a:pPr algn="ctr">
              <a:lnSpc>
                <a:spcPts val="7279"/>
              </a:lnSpc>
            </a:pPr>
            <a:r>
              <a:rPr lang="en-US" sz="5199" u="sng">
                <a:solidFill>
                  <a:srgbClr val="000000"/>
                </a:solidFill>
                <a:latin typeface="Bobby Jones Condensed Soft"/>
              </a:rPr>
              <a:t>Characterization of strains </a:t>
            </a:r>
          </a:p>
        </p:txBody>
      </p:sp>
      <p:sp>
        <p:nvSpPr>
          <p:cNvPr name="TextBox 16" id="16"/>
          <p:cNvSpPr txBox="true"/>
          <p:nvPr/>
        </p:nvSpPr>
        <p:spPr>
          <a:xfrm rot="0">
            <a:off x="2507801" y="5905072"/>
            <a:ext cx="13242806" cy="452966"/>
          </a:xfrm>
          <a:prstGeom prst="rect">
            <a:avLst/>
          </a:prstGeom>
        </p:spPr>
        <p:txBody>
          <a:bodyPr anchor="t" rtlCol="false" tIns="0" lIns="0" bIns="0" rIns="0">
            <a:spAutoFit/>
          </a:bodyPr>
          <a:lstStyle/>
          <a:p>
            <a:pPr algn="ctr">
              <a:lnSpc>
                <a:spcPts val="3296"/>
              </a:lnSpc>
            </a:pPr>
          </a:p>
        </p:txBody>
      </p:sp>
      <p:sp>
        <p:nvSpPr>
          <p:cNvPr name="TextBox 17" id="17"/>
          <p:cNvSpPr txBox="true"/>
          <p:nvPr/>
        </p:nvSpPr>
        <p:spPr>
          <a:xfrm rot="0">
            <a:off x="1877771" y="4603332"/>
            <a:ext cx="6508580" cy="580390"/>
          </a:xfrm>
          <a:prstGeom prst="rect">
            <a:avLst/>
          </a:prstGeom>
        </p:spPr>
        <p:txBody>
          <a:bodyPr anchor="t" rtlCol="false" tIns="0" lIns="0" bIns="0" rIns="0">
            <a:spAutoFit/>
          </a:bodyPr>
          <a:lstStyle/>
          <a:p>
            <a:pPr algn="ctr">
              <a:lnSpc>
                <a:spcPts val="4759"/>
              </a:lnSpc>
            </a:pPr>
            <a:r>
              <a:rPr lang="en-US" sz="3399" u="sng">
                <a:solidFill>
                  <a:srgbClr val="000000"/>
                </a:solidFill>
                <a:latin typeface="League Spartan"/>
              </a:rPr>
              <a:t>d) VOGES PROSKAUER TEST-</a:t>
            </a:r>
          </a:p>
        </p:txBody>
      </p:sp>
      <p:sp>
        <p:nvSpPr>
          <p:cNvPr name="TextBox 18" id="18"/>
          <p:cNvSpPr txBox="true"/>
          <p:nvPr/>
        </p:nvSpPr>
        <p:spPr>
          <a:xfrm rot="0">
            <a:off x="1432778" y="5193939"/>
            <a:ext cx="15226447" cy="1637030"/>
          </a:xfrm>
          <a:prstGeom prst="rect">
            <a:avLst/>
          </a:prstGeom>
        </p:spPr>
        <p:txBody>
          <a:bodyPr anchor="t" rtlCol="false" tIns="0" lIns="0" bIns="0" rIns="0">
            <a:spAutoFit/>
          </a:bodyPr>
          <a:lstStyle/>
          <a:p>
            <a:pPr algn="ctr">
              <a:lnSpc>
                <a:spcPts val="3220"/>
              </a:lnSpc>
            </a:pPr>
            <a:r>
              <a:rPr lang="en-US" sz="2300">
                <a:solidFill>
                  <a:srgbClr val="000000"/>
                </a:solidFill>
                <a:latin typeface="อีฟดอวอิ้ง"/>
              </a:rPr>
              <a:t>This test is done to detect the ability of bacteria to metabolise pyruvate into a neutral intermediate called acetylmethylcarbinol or acetoin.</a:t>
            </a:r>
          </a:p>
          <a:p>
            <a:pPr algn="ctr">
              <a:lnSpc>
                <a:spcPts val="3220"/>
              </a:lnSpc>
            </a:pPr>
            <a:r>
              <a:rPr lang="en-US" sz="2300">
                <a:solidFill>
                  <a:srgbClr val="000000"/>
                </a:solidFill>
                <a:latin typeface="อีฟดอวอิ้ง"/>
              </a:rPr>
              <a:t>The acetoin will be oxidized to diacetyl after addition of KOH. The diacetyl after addition of alpha napthol reacts with the guanidine component of peptone forming a pink to red cooured polymer.</a:t>
            </a:r>
          </a:p>
        </p:txBody>
      </p:sp>
      <p:sp>
        <p:nvSpPr>
          <p:cNvPr name="TextBox 19" id="19"/>
          <p:cNvSpPr txBox="true"/>
          <p:nvPr/>
        </p:nvSpPr>
        <p:spPr>
          <a:xfrm rot="0">
            <a:off x="1789297" y="6764294"/>
            <a:ext cx="2306297" cy="563880"/>
          </a:xfrm>
          <a:prstGeom prst="rect">
            <a:avLst/>
          </a:prstGeom>
        </p:spPr>
        <p:txBody>
          <a:bodyPr anchor="t" rtlCol="false" tIns="0" lIns="0" bIns="0" rIns="0">
            <a:spAutoFit/>
          </a:bodyPr>
          <a:lstStyle/>
          <a:p>
            <a:pPr algn="ctr">
              <a:lnSpc>
                <a:spcPts val="4620"/>
              </a:lnSpc>
            </a:pPr>
            <a:r>
              <a:rPr lang="en-US" sz="3300" u="sng">
                <a:solidFill>
                  <a:srgbClr val="000000"/>
                </a:solidFill>
                <a:latin typeface="Canva Sans Bold"/>
              </a:rPr>
              <a:t>Procedure-</a:t>
            </a:r>
          </a:p>
        </p:txBody>
      </p:sp>
      <p:sp>
        <p:nvSpPr>
          <p:cNvPr name="TextBox 20" id="20"/>
          <p:cNvSpPr txBox="true"/>
          <p:nvPr/>
        </p:nvSpPr>
        <p:spPr>
          <a:xfrm rot="0">
            <a:off x="1928023" y="7232924"/>
            <a:ext cx="14297815" cy="1236980"/>
          </a:xfrm>
          <a:prstGeom prst="rect">
            <a:avLst/>
          </a:prstGeom>
        </p:spPr>
        <p:txBody>
          <a:bodyPr anchor="t" rtlCol="false" tIns="0" lIns="0" bIns="0" rIns="0">
            <a:spAutoFit/>
          </a:bodyPr>
          <a:lstStyle/>
          <a:p>
            <a:pPr algn="ctr">
              <a:lnSpc>
                <a:spcPts val="3220"/>
              </a:lnSpc>
            </a:pPr>
            <a:r>
              <a:rPr lang="en-US" sz="2300">
                <a:solidFill>
                  <a:srgbClr val="000000"/>
                </a:solidFill>
                <a:latin typeface="อีฟดอวอิ้ง"/>
                <a:ea typeface="อีฟดอวอิ้ง"/>
              </a:rPr>
              <a:t>● 0.6 ml of alpha-napthol is added to it and shaken</a:t>
            </a:r>
          </a:p>
          <a:p>
            <a:pPr algn="ctr">
              <a:lnSpc>
                <a:spcPts val="3220"/>
              </a:lnSpc>
            </a:pPr>
            <a:r>
              <a:rPr lang="en-US" sz="2300">
                <a:solidFill>
                  <a:srgbClr val="000000"/>
                </a:solidFill>
                <a:latin typeface="อีฟดอวอิ้ง"/>
                <a:ea typeface="อีฟดอวอิ้ง"/>
              </a:rPr>
              <a:t>● 0.2 ml of 40% KOH is added to it and shaken. Kept for 15 min.</a:t>
            </a:r>
          </a:p>
          <a:p>
            <a:pPr algn="ctr">
              <a:lnSpc>
                <a:spcPts val="3220"/>
              </a:lnSpc>
            </a:pPr>
            <a:r>
              <a:rPr lang="en-US" sz="2300">
                <a:solidFill>
                  <a:srgbClr val="000000"/>
                </a:solidFill>
                <a:latin typeface="อีฟดอวอิ้ง"/>
                <a:ea typeface="อีฟดอวอิ้ง"/>
              </a:rPr>
              <a:t>● Appearance of red colour indicates positive result.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525174" y="-2459830"/>
            <a:ext cx="9237651" cy="15287104"/>
          </a:xfrm>
          <a:custGeom>
            <a:avLst/>
            <a:gdLst/>
            <a:ahLst/>
            <a:cxnLst/>
            <a:rect r="r" b="b" t="t" l="l"/>
            <a:pathLst>
              <a:path h="15287104" w="9237651">
                <a:moveTo>
                  <a:pt x="0" y="0"/>
                </a:moveTo>
                <a:lnTo>
                  <a:pt x="9237652" y="0"/>
                </a:lnTo>
                <a:lnTo>
                  <a:pt x="9237652" y="15287104"/>
                </a:lnTo>
                <a:lnTo>
                  <a:pt x="0" y="15287104"/>
                </a:lnTo>
                <a:lnTo>
                  <a:pt x="0" y="0"/>
                </a:lnTo>
                <a:close/>
              </a:path>
            </a:pathLst>
          </a:custGeom>
          <a:blipFill>
            <a:blip r:embed="rId2">
              <a:alphaModFix amt="71000"/>
            </a:blip>
            <a:stretch>
              <a:fillRect l="-9651" t="0" r="-12187" b="0"/>
            </a:stretch>
          </a:blipFill>
        </p:spPr>
      </p:sp>
      <p:sp>
        <p:nvSpPr>
          <p:cNvPr name="Freeform 3" id="3"/>
          <p:cNvSpPr/>
          <p:nvPr/>
        </p:nvSpPr>
        <p:spPr>
          <a:xfrm flipH="false" flipV="true" rot="5400000">
            <a:off x="-3184858" y="4931786"/>
            <a:ext cx="9237651" cy="503872"/>
          </a:xfrm>
          <a:custGeom>
            <a:avLst/>
            <a:gdLst/>
            <a:ahLst/>
            <a:cxnLst/>
            <a:rect r="r" b="b" t="t" l="l"/>
            <a:pathLst>
              <a:path h="503872" w="9237651">
                <a:moveTo>
                  <a:pt x="0" y="503872"/>
                </a:moveTo>
                <a:lnTo>
                  <a:pt x="9237651" y="503872"/>
                </a:lnTo>
                <a:lnTo>
                  <a:pt x="9237651" y="0"/>
                </a:lnTo>
                <a:lnTo>
                  <a:pt x="0" y="0"/>
                </a:lnTo>
                <a:lnTo>
                  <a:pt x="0"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5400000">
            <a:off x="12205614" y="4891564"/>
            <a:ext cx="9237651" cy="503872"/>
          </a:xfrm>
          <a:custGeom>
            <a:avLst/>
            <a:gdLst/>
            <a:ahLst/>
            <a:cxnLst/>
            <a:rect r="r" b="b" t="t" l="l"/>
            <a:pathLst>
              <a:path h="503872" w="9237651">
                <a:moveTo>
                  <a:pt x="9237652" y="503872"/>
                </a:moveTo>
                <a:lnTo>
                  <a:pt x="0" y="503872"/>
                </a:lnTo>
                <a:lnTo>
                  <a:pt x="0" y="0"/>
                </a:lnTo>
                <a:lnTo>
                  <a:pt x="9237652" y="0"/>
                </a:lnTo>
                <a:lnTo>
                  <a:pt x="9237652"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5132061" y="461724"/>
            <a:ext cx="8023877" cy="2200640"/>
          </a:xfrm>
          <a:prstGeom prst="rect">
            <a:avLst/>
          </a:prstGeom>
        </p:spPr>
        <p:txBody>
          <a:bodyPr anchor="t" rtlCol="false" tIns="0" lIns="0" bIns="0" rIns="0">
            <a:spAutoFit/>
          </a:bodyPr>
          <a:lstStyle/>
          <a:p>
            <a:pPr algn="ctr">
              <a:lnSpc>
                <a:spcPts val="17955"/>
              </a:lnSpc>
            </a:pPr>
            <a:r>
              <a:rPr lang="en-US" sz="12825">
                <a:solidFill>
                  <a:srgbClr val="000000"/>
                </a:solidFill>
                <a:latin typeface="Porcelain"/>
              </a:rPr>
              <a:t>Process</a:t>
            </a:r>
          </a:p>
        </p:txBody>
      </p:sp>
      <p:grpSp>
        <p:nvGrpSpPr>
          <p:cNvPr name="Group 6" id="6"/>
          <p:cNvGrpSpPr/>
          <p:nvPr/>
        </p:nvGrpSpPr>
        <p:grpSpPr>
          <a:xfrm rot="0">
            <a:off x="16225838" y="1271588"/>
            <a:ext cx="110490" cy="108585"/>
            <a:chOff x="0" y="0"/>
            <a:chExt cx="147320" cy="144780"/>
          </a:xfrm>
        </p:grpSpPr>
        <p:sp>
          <p:nvSpPr>
            <p:cNvPr name="Freeform 7" id="7"/>
            <p:cNvSpPr/>
            <p:nvPr/>
          </p:nvSpPr>
          <p:spPr>
            <a:xfrm flipH="false" flipV="false" rot="0">
              <a:off x="46990" y="45720"/>
              <a:ext cx="49530" cy="52070"/>
            </a:xfrm>
            <a:custGeom>
              <a:avLst/>
              <a:gdLst/>
              <a:ahLst/>
              <a:cxnLst/>
              <a:rect r="r" b="b" t="t" l="l"/>
              <a:pathLst>
                <a:path h="52070" w="49530">
                  <a:moveTo>
                    <a:pt x="49530" y="17780"/>
                  </a:moveTo>
                  <a:cubicBezTo>
                    <a:pt x="27940" y="52070"/>
                    <a:pt x="7620" y="45720"/>
                    <a:pt x="3810" y="38100"/>
                  </a:cubicBezTo>
                  <a:cubicBezTo>
                    <a:pt x="0" y="30480"/>
                    <a:pt x="3810" y="10160"/>
                    <a:pt x="10160" y="5080"/>
                  </a:cubicBezTo>
                  <a:cubicBezTo>
                    <a:pt x="16510" y="0"/>
                    <a:pt x="43180" y="7620"/>
                    <a:pt x="43180" y="7620"/>
                  </a:cubicBezTo>
                </a:path>
              </a:pathLst>
            </a:custGeom>
            <a:solidFill>
              <a:srgbClr val="2D90EB"/>
            </a:solidFill>
            <a:ln cap="sq">
              <a:noFill/>
              <a:prstDash val="solid"/>
              <a:miter/>
            </a:ln>
          </p:spPr>
        </p:sp>
      </p:grpSp>
      <p:grpSp>
        <p:nvGrpSpPr>
          <p:cNvPr name="Group 8" id="8"/>
          <p:cNvGrpSpPr/>
          <p:nvPr/>
        </p:nvGrpSpPr>
        <p:grpSpPr>
          <a:xfrm rot="0">
            <a:off x="16404907" y="1415415"/>
            <a:ext cx="111442" cy="108585"/>
            <a:chOff x="0" y="0"/>
            <a:chExt cx="148590" cy="144780"/>
          </a:xfrm>
        </p:grpSpPr>
        <p:sp>
          <p:nvSpPr>
            <p:cNvPr name="Freeform 9" id="9"/>
            <p:cNvSpPr/>
            <p:nvPr/>
          </p:nvSpPr>
          <p:spPr>
            <a:xfrm flipH="false" flipV="false" rot="0">
              <a:off x="46990" y="45720"/>
              <a:ext cx="50800" cy="52070"/>
            </a:xfrm>
            <a:custGeom>
              <a:avLst/>
              <a:gdLst/>
              <a:ahLst/>
              <a:cxnLst/>
              <a:rect r="r" b="b" t="t" l="l"/>
              <a:pathLst>
                <a:path h="52070" w="50800">
                  <a:moveTo>
                    <a:pt x="50800" y="16510"/>
                  </a:moveTo>
                  <a:cubicBezTo>
                    <a:pt x="29210" y="52070"/>
                    <a:pt x="7620" y="45720"/>
                    <a:pt x="3810" y="38100"/>
                  </a:cubicBezTo>
                  <a:cubicBezTo>
                    <a:pt x="0" y="30480"/>
                    <a:pt x="3810" y="10160"/>
                    <a:pt x="10160" y="5080"/>
                  </a:cubicBezTo>
                  <a:cubicBezTo>
                    <a:pt x="16510" y="0"/>
                    <a:pt x="44450" y="6350"/>
                    <a:pt x="44450" y="6350"/>
                  </a:cubicBezTo>
                </a:path>
              </a:pathLst>
            </a:custGeom>
            <a:solidFill>
              <a:srgbClr val="2D90EB"/>
            </a:solidFill>
            <a:ln cap="sq">
              <a:noFill/>
              <a:prstDash val="solid"/>
              <a:miter/>
            </a:ln>
          </p:spPr>
        </p:sp>
      </p:grpSp>
      <p:grpSp>
        <p:nvGrpSpPr>
          <p:cNvPr name="Group 10" id="10"/>
          <p:cNvGrpSpPr/>
          <p:nvPr/>
        </p:nvGrpSpPr>
        <p:grpSpPr>
          <a:xfrm rot="0">
            <a:off x="16548735" y="1450658"/>
            <a:ext cx="110490" cy="108585"/>
            <a:chOff x="0" y="0"/>
            <a:chExt cx="147320" cy="144780"/>
          </a:xfrm>
        </p:grpSpPr>
        <p:sp>
          <p:nvSpPr>
            <p:cNvPr name="Freeform 11" id="11"/>
            <p:cNvSpPr/>
            <p:nvPr/>
          </p:nvSpPr>
          <p:spPr>
            <a:xfrm flipH="false" flipV="false" rot="0">
              <a:off x="46990" y="45720"/>
              <a:ext cx="49530" cy="52070"/>
            </a:xfrm>
            <a:custGeom>
              <a:avLst/>
              <a:gdLst/>
              <a:ahLst/>
              <a:cxnLst/>
              <a:rect r="r" b="b" t="t" l="l"/>
              <a:pathLst>
                <a:path h="52070" w="49530">
                  <a:moveTo>
                    <a:pt x="49530" y="17780"/>
                  </a:moveTo>
                  <a:cubicBezTo>
                    <a:pt x="27940" y="52070"/>
                    <a:pt x="7620" y="45720"/>
                    <a:pt x="3810" y="38100"/>
                  </a:cubicBezTo>
                  <a:cubicBezTo>
                    <a:pt x="0" y="30480"/>
                    <a:pt x="3810" y="10160"/>
                    <a:pt x="10160" y="5080"/>
                  </a:cubicBezTo>
                  <a:cubicBezTo>
                    <a:pt x="16510" y="0"/>
                    <a:pt x="43180" y="7620"/>
                    <a:pt x="43180" y="7620"/>
                  </a:cubicBezTo>
                </a:path>
              </a:pathLst>
            </a:custGeom>
            <a:solidFill>
              <a:srgbClr val="2D90EB"/>
            </a:solidFill>
            <a:ln cap="sq">
              <a:noFill/>
              <a:prstDash val="solid"/>
              <a:miter/>
            </a:ln>
          </p:spPr>
        </p:sp>
      </p:grpSp>
      <p:sp>
        <p:nvSpPr>
          <p:cNvPr name="Freeform 12" id="12"/>
          <p:cNvSpPr/>
          <p:nvPr/>
        </p:nvSpPr>
        <p:spPr>
          <a:xfrm flipH="false" flipV="false" rot="4877845">
            <a:off x="5457591" y="742366"/>
            <a:ext cx="1430694" cy="1887007"/>
          </a:xfrm>
          <a:custGeom>
            <a:avLst/>
            <a:gdLst/>
            <a:ahLst/>
            <a:cxnLst/>
            <a:rect r="r" b="b" t="t" l="l"/>
            <a:pathLst>
              <a:path h="1887007" w="1430694">
                <a:moveTo>
                  <a:pt x="0" y="0"/>
                </a:moveTo>
                <a:lnTo>
                  <a:pt x="1430694" y="0"/>
                </a:lnTo>
                <a:lnTo>
                  <a:pt x="1430694" y="1887007"/>
                </a:lnTo>
                <a:lnTo>
                  <a:pt x="0" y="188700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77721">
            <a:off x="2199168" y="2439186"/>
            <a:ext cx="735526" cy="879766"/>
          </a:xfrm>
          <a:prstGeom prst="rect">
            <a:avLst/>
          </a:prstGeom>
        </p:spPr>
        <p:txBody>
          <a:bodyPr anchor="t" rtlCol="false" tIns="0" lIns="0" bIns="0" rIns="0">
            <a:spAutoFit/>
          </a:bodyPr>
          <a:lstStyle/>
          <a:p>
            <a:pPr algn="ctr">
              <a:lnSpc>
                <a:spcPts val="7125"/>
              </a:lnSpc>
            </a:pPr>
            <a:r>
              <a:rPr lang="en-US" sz="5089">
                <a:solidFill>
                  <a:srgbClr val="000000"/>
                </a:solidFill>
                <a:latin typeface="Porcelain"/>
              </a:rPr>
              <a:t>3</a:t>
            </a:r>
          </a:p>
        </p:txBody>
      </p:sp>
      <p:sp>
        <p:nvSpPr>
          <p:cNvPr name="TextBox 14" id="14"/>
          <p:cNvSpPr txBox="true"/>
          <p:nvPr/>
        </p:nvSpPr>
        <p:spPr>
          <a:xfrm rot="0">
            <a:off x="2566017" y="3468668"/>
            <a:ext cx="13242806" cy="896620"/>
          </a:xfrm>
          <a:prstGeom prst="rect">
            <a:avLst/>
          </a:prstGeom>
        </p:spPr>
        <p:txBody>
          <a:bodyPr anchor="t" rtlCol="false" tIns="0" lIns="0" bIns="0" rIns="0">
            <a:spAutoFit/>
          </a:bodyPr>
          <a:lstStyle/>
          <a:p>
            <a:pPr algn="ctr">
              <a:lnSpc>
                <a:spcPts val="7279"/>
              </a:lnSpc>
            </a:pPr>
            <a:r>
              <a:rPr lang="en-US" sz="5199">
                <a:solidFill>
                  <a:srgbClr val="000000"/>
                </a:solidFill>
                <a:latin typeface="Bobby Jones Soft"/>
                <a:ea typeface="Bobby Jones Soft"/>
              </a:rPr>
              <a:t>■ Biochemical test </a:t>
            </a:r>
          </a:p>
        </p:txBody>
      </p:sp>
      <p:sp>
        <p:nvSpPr>
          <p:cNvPr name="TextBox 15" id="15"/>
          <p:cNvSpPr txBox="true"/>
          <p:nvPr/>
        </p:nvSpPr>
        <p:spPr>
          <a:xfrm rot="0">
            <a:off x="5824142" y="2421013"/>
            <a:ext cx="6443719" cy="906145"/>
          </a:xfrm>
          <a:prstGeom prst="rect">
            <a:avLst/>
          </a:prstGeom>
        </p:spPr>
        <p:txBody>
          <a:bodyPr anchor="t" rtlCol="false" tIns="0" lIns="0" bIns="0" rIns="0">
            <a:spAutoFit/>
          </a:bodyPr>
          <a:lstStyle/>
          <a:p>
            <a:pPr algn="ctr">
              <a:lnSpc>
                <a:spcPts val="7279"/>
              </a:lnSpc>
            </a:pPr>
            <a:r>
              <a:rPr lang="en-US" sz="5199" u="sng">
                <a:solidFill>
                  <a:srgbClr val="000000"/>
                </a:solidFill>
                <a:latin typeface="Bobby Jones Condensed Soft"/>
              </a:rPr>
              <a:t>Characterization of strains </a:t>
            </a:r>
          </a:p>
        </p:txBody>
      </p:sp>
      <p:sp>
        <p:nvSpPr>
          <p:cNvPr name="TextBox 16" id="16"/>
          <p:cNvSpPr txBox="true"/>
          <p:nvPr/>
        </p:nvSpPr>
        <p:spPr>
          <a:xfrm rot="0">
            <a:off x="2507801" y="5905072"/>
            <a:ext cx="13242806" cy="452966"/>
          </a:xfrm>
          <a:prstGeom prst="rect">
            <a:avLst/>
          </a:prstGeom>
        </p:spPr>
        <p:txBody>
          <a:bodyPr anchor="t" rtlCol="false" tIns="0" lIns="0" bIns="0" rIns="0">
            <a:spAutoFit/>
          </a:bodyPr>
          <a:lstStyle/>
          <a:p>
            <a:pPr algn="ctr">
              <a:lnSpc>
                <a:spcPts val="3296"/>
              </a:lnSpc>
            </a:pPr>
          </a:p>
        </p:txBody>
      </p:sp>
      <p:sp>
        <p:nvSpPr>
          <p:cNvPr name="TextBox 17" id="17"/>
          <p:cNvSpPr txBox="true"/>
          <p:nvPr/>
        </p:nvSpPr>
        <p:spPr>
          <a:xfrm rot="0">
            <a:off x="1678540" y="4603332"/>
            <a:ext cx="6907042" cy="580390"/>
          </a:xfrm>
          <a:prstGeom prst="rect">
            <a:avLst/>
          </a:prstGeom>
        </p:spPr>
        <p:txBody>
          <a:bodyPr anchor="t" rtlCol="false" tIns="0" lIns="0" bIns="0" rIns="0">
            <a:spAutoFit/>
          </a:bodyPr>
          <a:lstStyle/>
          <a:p>
            <a:pPr algn="ctr">
              <a:lnSpc>
                <a:spcPts val="4759"/>
              </a:lnSpc>
            </a:pPr>
            <a:r>
              <a:rPr lang="en-US" sz="3399" u="sng">
                <a:solidFill>
                  <a:srgbClr val="000000"/>
                </a:solidFill>
                <a:latin typeface="League Spartan"/>
              </a:rPr>
              <a:t> e) CITRATE UTILIZATION TEST-</a:t>
            </a:r>
          </a:p>
        </p:txBody>
      </p:sp>
      <p:sp>
        <p:nvSpPr>
          <p:cNvPr name="TextBox 18" id="18"/>
          <p:cNvSpPr txBox="true"/>
          <p:nvPr/>
        </p:nvSpPr>
        <p:spPr>
          <a:xfrm rot="0">
            <a:off x="1678540" y="5212367"/>
            <a:ext cx="14734922" cy="1200124"/>
          </a:xfrm>
          <a:prstGeom prst="rect">
            <a:avLst/>
          </a:prstGeom>
        </p:spPr>
        <p:txBody>
          <a:bodyPr anchor="t" rtlCol="false" tIns="0" lIns="0" bIns="0" rIns="0">
            <a:spAutoFit/>
          </a:bodyPr>
          <a:lstStyle/>
          <a:p>
            <a:pPr algn="ctr">
              <a:lnSpc>
                <a:spcPts val="3116"/>
              </a:lnSpc>
            </a:pPr>
            <a:r>
              <a:rPr lang="en-US" sz="2225">
                <a:solidFill>
                  <a:srgbClr val="000000"/>
                </a:solidFill>
                <a:latin typeface="อีฟดอวอิ้ง"/>
              </a:rPr>
              <a:t>This test is done to detect the ability of an organism to utilise citrate as the sole source of carbon.</a:t>
            </a:r>
          </a:p>
          <a:p>
            <a:pPr algn="ctr">
              <a:lnSpc>
                <a:spcPts val="3116"/>
              </a:lnSpc>
            </a:pPr>
            <a:r>
              <a:rPr lang="en-US" sz="2225">
                <a:solidFill>
                  <a:srgbClr val="000000"/>
                </a:solidFill>
                <a:latin typeface="อีฟดอวอิ้ง"/>
              </a:rPr>
              <a:t>The growth of the organism indicates the utilization of citrate. Enzyme citrase breaks down citrate into oxaloacetate and acetate which is further brokn down to pyruvate and carbon dioxide</a:t>
            </a:r>
          </a:p>
        </p:txBody>
      </p:sp>
      <p:sp>
        <p:nvSpPr>
          <p:cNvPr name="TextBox 19" id="19"/>
          <p:cNvSpPr txBox="true"/>
          <p:nvPr/>
        </p:nvSpPr>
        <p:spPr>
          <a:xfrm rot="0">
            <a:off x="1789297" y="6764294"/>
            <a:ext cx="2306297" cy="563880"/>
          </a:xfrm>
          <a:prstGeom prst="rect">
            <a:avLst/>
          </a:prstGeom>
        </p:spPr>
        <p:txBody>
          <a:bodyPr anchor="t" rtlCol="false" tIns="0" lIns="0" bIns="0" rIns="0">
            <a:spAutoFit/>
          </a:bodyPr>
          <a:lstStyle/>
          <a:p>
            <a:pPr algn="ctr">
              <a:lnSpc>
                <a:spcPts val="4620"/>
              </a:lnSpc>
            </a:pPr>
            <a:r>
              <a:rPr lang="en-US" sz="3300" u="sng">
                <a:solidFill>
                  <a:srgbClr val="000000"/>
                </a:solidFill>
                <a:latin typeface="Canva Sans Bold"/>
              </a:rPr>
              <a:t>Procedure-</a:t>
            </a:r>
          </a:p>
        </p:txBody>
      </p:sp>
      <p:sp>
        <p:nvSpPr>
          <p:cNvPr name="TextBox 20" id="20"/>
          <p:cNvSpPr txBox="true"/>
          <p:nvPr/>
        </p:nvSpPr>
        <p:spPr>
          <a:xfrm rot="0">
            <a:off x="1928023" y="7232924"/>
            <a:ext cx="14297815" cy="2437130"/>
          </a:xfrm>
          <a:prstGeom prst="rect">
            <a:avLst/>
          </a:prstGeom>
        </p:spPr>
        <p:txBody>
          <a:bodyPr anchor="t" rtlCol="false" tIns="0" lIns="0" bIns="0" rIns="0">
            <a:spAutoFit/>
          </a:bodyPr>
          <a:lstStyle/>
          <a:p>
            <a:pPr algn="ctr">
              <a:lnSpc>
                <a:spcPts val="3220"/>
              </a:lnSpc>
            </a:pPr>
            <a:r>
              <a:rPr lang="en-US" sz="2300">
                <a:solidFill>
                  <a:srgbClr val="000000"/>
                </a:solidFill>
                <a:latin typeface="อีฟดอวอิ้ง"/>
                <a:ea typeface="อีฟดอวอิ้ง"/>
              </a:rPr>
              <a:t>●0.02% (w/v) Magnesium Sulphate, 0.1% (w/v) ammonium dihydrogen phosphate, 0.1% (w/v) dipotassium hydrogen phosphate, 0.2% (w/v) sodium citrate, 0.5% (w/v) NaCl,0.008% (w/v) bromothymol blue are added in 40 ml of distilled water.</a:t>
            </a:r>
          </a:p>
          <a:p>
            <a:pPr algn="ctr">
              <a:lnSpc>
                <a:spcPts val="3220"/>
              </a:lnSpc>
            </a:pPr>
            <a:r>
              <a:rPr lang="en-US" sz="2300">
                <a:solidFill>
                  <a:srgbClr val="000000"/>
                </a:solidFill>
                <a:ea typeface="อีฟดอวอิ้ง"/>
              </a:rPr>
              <a:t>●</a:t>
            </a:r>
            <a:r>
              <a:rPr lang="en-US" sz="2300">
                <a:solidFill>
                  <a:srgbClr val="000000"/>
                </a:solidFill>
                <a:latin typeface="อีฟดอวอิ้ง"/>
              </a:rPr>
              <a:t>After autoclaving, the citrate broth is poured into test tubes and inoculated with the bacterial strains and incubated at 37. If the colour changes from green to blue, then the bacteria can utilise citrate and hence, is citrate positive.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525174" y="-2459830"/>
            <a:ext cx="9237651" cy="15287104"/>
          </a:xfrm>
          <a:custGeom>
            <a:avLst/>
            <a:gdLst/>
            <a:ahLst/>
            <a:cxnLst/>
            <a:rect r="r" b="b" t="t" l="l"/>
            <a:pathLst>
              <a:path h="15287104" w="9237651">
                <a:moveTo>
                  <a:pt x="0" y="0"/>
                </a:moveTo>
                <a:lnTo>
                  <a:pt x="9237652" y="0"/>
                </a:lnTo>
                <a:lnTo>
                  <a:pt x="9237652" y="15287104"/>
                </a:lnTo>
                <a:lnTo>
                  <a:pt x="0" y="15287104"/>
                </a:lnTo>
                <a:lnTo>
                  <a:pt x="0" y="0"/>
                </a:lnTo>
                <a:close/>
              </a:path>
            </a:pathLst>
          </a:custGeom>
          <a:blipFill>
            <a:blip r:embed="rId2">
              <a:alphaModFix amt="71000"/>
            </a:blip>
            <a:stretch>
              <a:fillRect l="-9651" t="0" r="-12187" b="0"/>
            </a:stretch>
          </a:blipFill>
        </p:spPr>
      </p:sp>
      <p:sp>
        <p:nvSpPr>
          <p:cNvPr name="Freeform 3" id="3"/>
          <p:cNvSpPr/>
          <p:nvPr/>
        </p:nvSpPr>
        <p:spPr>
          <a:xfrm flipH="false" flipV="true" rot="5400000">
            <a:off x="-3184858" y="4931786"/>
            <a:ext cx="9237651" cy="503872"/>
          </a:xfrm>
          <a:custGeom>
            <a:avLst/>
            <a:gdLst/>
            <a:ahLst/>
            <a:cxnLst/>
            <a:rect r="r" b="b" t="t" l="l"/>
            <a:pathLst>
              <a:path h="503872" w="9237651">
                <a:moveTo>
                  <a:pt x="0" y="503872"/>
                </a:moveTo>
                <a:lnTo>
                  <a:pt x="9237651" y="503872"/>
                </a:lnTo>
                <a:lnTo>
                  <a:pt x="9237651" y="0"/>
                </a:lnTo>
                <a:lnTo>
                  <a:pt x="0" y="0"/>
                </a:lnTo>
                <a:lnTo>
                  <a:pt x="0"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5400000">
            <a:off x="12205614" y="4891564"/>
            <a:ext cx="9237651" cy="503872"/>
          </a:xfrm>
          <a:custGeom>
            <a:avLst/>
            <a:gdLst/>
            <a:ahLst/>
            <a:cxnLst/>
            <a:rect r="r" b="b" t="t" l="l"/>
            <a:pathLst>
              <a:path h="503872" w="9237651">
                <a:moveTo>
                  <a:pt x="9237652" y="503872"/>
                </a:moveTo>
                <a:lnTo>
                  <a:pt x="0" y="503872"/>
                </a:lnTo>
                <a:lnTo>
                  <a:pt x="0" y="0"/>
                </a:lnTo>
                <a:lnTo>
                  <a:pt x="9237652" y="0"/>
                </a:lnTo>
                <a:lnTo>
                  <a:pt x="9237652"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5132061" y="461724"/>
            <a:ext cx="8023877" cy="2200640"/>
          </a:xfrm>
          <a:prstGeom prst="rect">
            <a:avLst/>
          </a:prstGeom>
        </p:spPr>
        <p:txBody>
          <a:bodyPr anchor="t" rtlCol="false" tIns="0" lIns="0" bIns="0" rIns="0">
            <a:spAutoFit/>
          </a:bodyPr>
          <a:lstStyle/>
          <a:p>
            <a:pPr algn="ctr">
              <a:lnSpc>
                <a:spcPts val="17955"/>
              </a:lnSpc>
            </a:pPr>
            <a:r>
              <a:rPr lang="en-US" sz="12825">
                <a:solidFill>
                  <a:srgbClr val="000000"/>
                </a:solidFill>
                <a:latin typeface="Porcelain"/>
              </a:rPr>
              <a:t>Process</a:t>
            </a:r>
          </a:p>
        </p:txBody>
      </p:sp>
      <p:grpSp>
        <p:nvGrpSpPr>
          <p:cNvPr name="Group 6" id="6"/>
          <p:cNvGrpSpPr/>
          <p:nvPr/>
        </p:nvGrpSpPr>
        <p:grpSpPr>
          <a:xfrm rot="0">
            <a:off x="16225838" y="1271588"/>
            <a:ext cx="110490" cy="108585"/>
            <a:chOff x="0" y="0"/>
            <a:chExt cx="147320" cy="144780"/>
          </a:xfrm>
        </p:grpSpPr>
        <p:sp>
          <p:nvSpPr>
            <p:cNvPr name="Freeform 7" id="7"/>
            <p:cNvSpPr/>
            <p:nvPr/>
          </p:nvSpPr>
          <p:spPr>
            <a:xfrm flipH="false" flipV="false" rot="0">
              <a:off x="46990" y="45720"/>
              <a:ext cx="49530" cy="52070"/>
            </a:xfrm>
            <a:custGeom>
              <a:avLst/>
              <a:gdLst/>
              <a:ahLst/>
              <a:cxnLst/>
              <a:rect r="r" b="b" t="t" l="l"/>
              <a:pathLst>
                <a:path h="52070" w="49530">
                  <a:moveTo>
                    <a:pt x="49530" y="17780"/>
                  </a:moveTo>
                  <a:cubicBezTo>
                    <a:pt x="27940" y="52070"/>
                    <a:pt x="7620" y="45720"/>
                    <a:pt x="3810" y="38100"/>
                  </a:cubicBezTo>
                  <a:cubicBezTo>
                    <a:pt x="0" y="30480"/>
                    <a:pt x="3810" y="10160"/>
                    <a:pt x="10160" y="5080"/>
                  </a:cubicBezTo>
                  <a:cubicBezTo>
                    <a:pt x="16510" y="0"/>
                    <a:pt x="43180" y="7620"/>
                    <a:pt x="43180" y="7620"/>
                  </a:cubicBezTo>
                </a:path>
              </a:pathLst>
            </a:custGeom>
            <a:solidFill>
              <a:srgbClr val="2D90EB"/>
            </a:solidFill>
            <a:ln cap="sq">
              <a:noFill/>
              <a:prstDash val="solid"/>
              <a:miter/>
            </a:ln>
          </p:spPr>
        </p:sp>
      </p:grpSp>
      <p:grpSp>
        <p:nvGrpSpPr>
          <p:cNvPr name="Group 8" id="8"/>
          <p:cNvGrpSpPr/>
          <p:nvPr/>
        </p:nvGrpSpPr>
        <p:grpSpPr>
          <a:xfrm rot="0">
            <a:off x="16404907" y="1415415"/>
            <a:ext cx="111442" cy="108585"/>
            <a:chOff x="0" y="0"/>
            <a:chExt cx="148590" cy="144780"/>
          </a:xfrm>
        </p:grpSpPr>
        <p:sp>
          <p:nvSpPr>
            <p:cNvPr name="Freeform 9" id="9"/>
            <p:cNvSpPr/>
            <p:nvPr/>
          </p:nvSpPr>
          <p:spPr>
            <a:xfrm flipH="false" flipV="false" rot="0">
              <a:off x="46990" y="45720"/>
              <a:ext cx="50800" cy="52070"/>
            </a:xfrm>
            <a:custGeom>
              <a:avLst/>
              <a:gdLst/>
              <a:ahLst/>
              <a:cxnLst/>
              <a:rect r="r" b="b" t="t" l="l"/>
              <a:pathLst>
                <a:path h="52070" w="50800">
                  <a:moveTo>
                    <a:pt x="50800" y="16510"/>
                  </a:moveTo>
                  <a:cubicBezTo>
                    <a:pt x="29210" y="52070"/>
                    <a:pt x="7620" y="45720"/>
                    <a:pt x="3810" y="38100"/>
                  </a:cubicBezTo>
                  <a:cubicBezTo>
                    <a:pt x="0" y="30480"/>
                    <a:pt x="3810" y="10160"/>
                    <a:pt x="10160" y="5080"/>
                  </a:cubicBezTo>
                  <a:cubicBezTo>
                    <a:pt x="16510" y="0"/>
                    <a:pt x="44450" y="6350"/>
                    <a:pt x="44450" y="6350"/>
                  </a:cubicBezTo>
                </a:path>
              </a:pathLst>
            </a:custGeom>
            <a:solidFill>
              <a:srgbClr val="2D90EB"/>
            </a:solidFill>
            <a:ln cap="sq">
              <a:noFill/>
              <a:prstDash val="solid"/>
              <a:miter/>
            </a:ln>
          </p:spPr>
        </p:sp>
      </p:grpSp>
      <p:grpSp>
        <p:nvGrpSpPr>
          <p:cNvPr name="Group 10" id="10"/>
          <p:cNvGrpSpPr/>
          <p:nvPr/>
        </p:nvGrpSpPr>
        <p:grpSpPr>
          <a:xfrm rot="0">
            <a:off x="16548735" y="1450658"/>
            <a:ext cx="110490" cy="108585"/>
            <a:chOff x="0" y="0"/>
            <a:chExt cx="147320" cy="144780"/>
          </a:xfrm>
        </p:grpSpPr>
        <p:sp>
          <p:nvSpPr>
            <p:cNvPr name="Freeform 11" id="11"/>
            <p:cNvSpPr/>
            <p:nvPr/>
          </p:nvSpPr>
          <p:spPr>
            <a:xfrm flipH="false" flipV="false" rot="0">
              <a:off x="46990" y="45720"/>
              <a:ext cx="49530" cy="52070"/>
            </a:xfrm>
            <a:custGeom>
              <a:avLst/>
              <a:gdLst/>
              <a:ahLst/>
              <a:cxnLst/>
              <a:rect r="r" b="b" t="t" l="l"/>
              <a:pathLst>
                <a:path h="52070" w="49530">
                  <a:moveTo>
                    <a:pt x="49530" y="17780"/>
                  </a:moveTo>
                  <a:cubicBezTo>
                    <a:pt x="27940" y="52070"/>
                    <a:pt x="7620" y="45720"/>
                    <a:pt x="3810" y="38100"/>
                  </a:cubicBezTo>
                  <a:cubicBezTo>
                    <a:pt x="0" y="30480"/>
                    <a:pt x="3810" y="10160"/>
                    <a:pt x="10160" y="5080"/>
                  </a:cubicBezTo>
                  <a:cubicBezTo>
                    <a:pt x="16510" y="0"/>
                    <a:pt x="43180" y="7620"/>
                    <a:pt x="43180" y="7620"/>
                  </a:cubicBezTo>
                </a:path>
              </a:pathLst>
            </a:custGeom>
            <a:solidFill>
              <a:srgbClr val="2D90EB"/>
            </a:solidFill>
            <a:ln cap="sq">
              <a:noFill/>
              <a:prstDash val="solid"/>
              <a:miter/>
            </a:ln>
          </p:spPr>
        </p:sp>
      </p:grpSp>
      <p:sp>
        <p:nvSpPr>
          <p:cNvPr name="Freeform 12" id="12"/>
          <p:cNvSpPr/>
          <p:nvPr/>
        </p:nvSpPr>
        <p:spPr>
          <a:xfrm flipH="false" flipV="false" rot="4877845">
            <a:off x="5457591" y="742366"/>
            <a:ext cx="1430694" cy="1887007"/>
          </a:xfrm>
          <a:custGeom>
            <a:avLst/>
            <a:gdLst/>
            <a:ahLst/>
            <a:cxnLst/>
            <a:rect r="r" b="b" t="t" l="l"/>
            <a:pathLst>
              <a:path h="1887007" w="1430694">
                <a:moveTo>
                  <a:pt x="0" y="0"/>
                </a:moveTo>
                <a:lnTo>
                  <a:pt x="1430694" y="0"/>
                </a:lnTo>
                <a:lnTo>
                  <a:pt x="1430694" y="1887007"/>
                </a:lnTo>
                <a:lnTo>
                  <a:pt x="0" y="188700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77721">
            <a:off x="2199168" y="2439186"/>
            <a:ext cx="735526" cy="879766"/>
          </a:xfrm>
          <a:prstGeom prst="rect">
            <a:avLst/>
          </a:prstGeom>
        </p:spPr>
        <p:txBody>
          <a:bodyPr anchor="t" rtlCol="false" tIns="0" lIns="0" bIns="0" rIns="0">
            <a:spAutoFit/>
          </a:bodyPr>
          <a:lstStyle/>
          <a:p>
            <a:pPr algn="ctr">
              <a:lnSpc>
                <a:spcPts val="7125"/>
              </a:lnSpc>
            </a:pPr>
            <a:r>
              <a:rPr lang="en-US" sz="5089">
                <a:solidFill>
                  <a:srgbClr val="000000"/>
                </a:solidFill>
                <a:latin typeface="Porcelain"/>
              </a:rPr>
              <a:t>4</a:t>
            </a:r>
          </a:p>
        </p:txBody>
      </p:sp>
      <p:sp>
        <p:nvSpPr>
          <p:cNvPr name="TextBox 14" id="14"/>
          <p:cNvSpPr txBox="true"/>
          <p:nvPr/>
        </p:nvSpPr>
        <p:spPr>
          <a:xfrm rot="0">
            <a:off x="2566017" y="3468668"/>
            <a:ext cx="13242806" cy="896620"/>
          </a:xfrm>
          <a:prstGeom prst="rect">
            <a:avLst/>
          </a:prstGeom>
        </p:spPr>
        <p:txBody>
          <a:bodyPr anchor="t" rtlCol="false" tIns="0" lIns="0" bIns="0" rIns="0">
            <a:spAutoFit/>
          </a:bodyPr>
          <a:lstStyle/>
          <a:p>
            <a:pPr algn="ctr">
              <a:lnSpc>
                <a:spcPts val="7279"/>
              </a:lnSpc>
            </a:pPr>
            <a:r>
              <a:rPr lang="en-US" sz="5199">
                <a:solidFill>
                  <a:srgbClr val="000000"/>
                </a:solidFill>
                <a:latin typeface="Bobby Jones Soft"/>
                <a:ea typeface="Bobby Jones Soft"/>
              </a:rPr>
              <a:t>■ GRAM STAINING </a:t>
            </a:r>
          </a:p>
        </p:txBody>
      </p:sp>
      <p:sp>
        <p:nvSpPr>
          <p:cNvPr name="TextBox 15" id="15"/>
          <p:cNvSpPr txBox="true"/>
          <p:nvPr/>
        </p:nvSpPr>
        <p:spPr>
          <a:xfrm rot="0">
            <a:off x="4509692" y="2421013"/>
            <a:ext cx="9072619" cy="906145"/>
          </a:xfrm>
          <a:prstGeom prst="rect">
            <a:avLst/>
          </a:prstGeom>
        </p:spPr>
        <p:txBody>
          <a:bodyPr anchor="t" rtlCol="false" tIns="0" lIns="0" bIns="0" rIns="0">
            <a:spAutoFit/>
          </a:bodyPr>
          <a:lstStyle/>
          <a:p>
            <a:pPr algn="ctr">
              <a:lnSpc>
                <a:spcPts val="7279"/>
              </a:lnSpc>
            </a:pPr>
            <a:r>
              <a:rPr lang="en-US" sz="5199" u="sng">
                <a:solidFill>
                  <a:srgbClr val="000000"/>
                </a:solidFill>
                <a:latin typeface="Bobby Jones Condensed Soft"/>
              </a:rPr>
              <a:t> classification  &amp; identification of strain</a:t>
            </a:r>
          </a:p>
        </p:txBody>
      </p:sp>
      <p:sp>
        <p:nvSpPr>
          <p:cNvPr name="TextBox 16" id="16"/>
          <p:cNvSpPr txBox="true"/>
          <p:nvPr/>
        </p:nvSpPr>
        <p:spPr>
          <a:xfrm rot="0">
            <a:off x="2507801" y="5905072"/>
            <a:ext cx="13242806" cy="452966"/>
          </a:xfrm>
          <a:prstGeom prst="rect">
            <a:avLst/>
          </a:prstGeom>
        </p:spPr>
        <p:txBody>
          <a:bodyPr anchor="t" rtlCol="false" tIns="0" lIns="0" bIns="0" rIns="0">
            <a:spAutoFit/>
          </a:bodyPr>
          <a:lstStyle/>
          <a:p>
            <a:pPr algn="ctr">
              <a:lnSpc>
                <a:spcPts val="3296"/>
              </a:lnSpc>
            </a:pPr>
          </a:p>
        </p:txBody>
      </p:sp>
      <p:sp>
        <p:nvSpPr>
          <p:cNvPr name="TextBox 17" id="17"/>
          <p:cNvSpPr txBox="true"/>
          <p:nvPr/>
        </p:nvSpPr>
        <p:spPr>
          <a:xfrm rot="0">
            <a:off x="1845230" y="4498638"/>
            <a:ext cx="14703505" cy="1156970"/>
          </a:xfrm>
          <a:prstGeom prst="rect">
            <a:avLst/>
          </a:prstGeom>
        </p:spPr>
        <p:txBody>
          <a:bodyPr anchor="t" rtlCol="false" tIns="0" lIns="0" bIns="0" rIns="0">
            <a:spAutoFit/>
          </a:bodyPr>
          <a:lstStyle/>
          <a:p>
            <a:pPr algn="ctr">
              <a:lnSpc>
                <a:spcPts val="4480"/>
              </a:lnSpc>
            </a:pPr>
            <a:r>
              <a:rPr lang="en-US" sz="3200">
                <a:solidFill>
                  <a:srgbClr val="000000"/>
                </a:solidFill>
                <a:latin typeface="อีฟดอวอิ้ง"/>
              </a:rPr>
              <a:t>The Gram stain is a crucial, fundamental technique in microbiology, aiding in the classification, identification, and characterization of bacteria.</a:t>
            </a:r>
          </a:p>
        </p:txBody>
      </p:sp>
      <p:sp>
        <p:nvSpPr>
          <p:cNvPr name="TextBox 18" id="18"/>
          <p:cNvSpPr txBox="true"/>
          <p:nvPr/>
        </p:nvSpPr>
        <p:spPr>
          <a:xfrm rot="0">
            <a:off x="2942446" y="5863902"/>
            <a:ext cx="2306297" cy="563880"/>
          </a:xfrm>
          <a:prstGeom prst="rect">
            <a:avLst/>
          </a:prstGeom>
        </p:spPr>
        <p:txBody>
          <a:bodyPr anchor="t" rtlCol="false" tIns="0" lIns="0" bIns="0" rIns="0">
            <a:spAutoFit/>
          </a:bodyPr>
          <a:lstStyle/>
          <a:p>
            <a:pPr algn="ctr">
              <a:lnSpc>
                <a:spcPts val="4620"/>
              </a:lnSpc>
            </a:pPr>
            <a:r>
              <a:rPr lang="en-US" sz="3300" u="sng">
                <a:solidFill>
                  <a:srgbClr val="000000"/>
                </a:solidFill>
                <a:latin typeface="Canva Sans Bold"/>
              </a:rPr>
              <a:t>Procedure-</a:t>
            </a:r>
          </a:p>
        </p:txBody>
      </p:sp>
      <p:sp>
        <p:nvSpPr>
          <p:cNvPr name="TextBox 19" id="19"/>
          <p:cNvSpPr txBox="true"/>
          <p:nvPr/>
        </p:nvSpPr>
        <p:spPr>
          <a:xfrm rot="0">
            <a:off x="4059804" y="5818486"/>
            <a:ext cx="12166033" cy="3544570"/>
          </a:xfrm>
          <a:prstGeom prst="rect">
            <a:avLst/>
          </a:prstGeom>
        </p:spPr>
        <p:txBody>
          <a:bodyPr anchor="t" rtlCol="false" tIns="0" lIns="0" bIns="0" rIns="0">
            <a:spAutoFit/>
          </a:bodyPr>
          <a:lstStyle/>
          <a:p>
            <a:pPr algn="ctr">
              <a:lnSpc>
                <a:spcPts val="3079"/>
              </a:lnSpc>
            </a:pPr>
            <a:r>
              <a:rPr lang="en-US" sz="2199">
                <a:solidFill>
                  <a:srgbClr val="000000"/>
                </a:solidFill>
                <a:latin typeface="อีฟดอวอิ้ง"/>
              </a:rPr>
              <a:t>Prepared bacterial culture smear on the microscope slide.</a:t>
            </a:r>
          </a:p>
          <a:p>
            <a:pPr algn="ctr">
              <a:lnSpc>
                <a:spcPts val="3079"/>
              </a:lnSpc>
            </a:pPr>
            <a:r>
              <a:rPr lang="en-US" sz="2199">
                <a:solidFill>
                  <a:srgbClr val="000000"/>
                </a:solidFill>
                <a:latin typeface="อีฟดอวอิ้ง"/>
              </a:rPr>
              <a:t>Then heat fix the bacteria to the slide .</a:t>
            </a:r>
          </a:p>
          <a:p>
            <a:pPr algn="ctr">
              <a:lnSpc>
                <a:spcPts val="3079"/>
              </a:lnSpc>
            </a:pPr>
            <a:r>
              <a:rPr lang="en-US" sz="2199">
                <a:solidFill>
                  <a:srgbClr val="000000"/>
                </a:solidFill>
                <a:latin typeface="อีฟดอวอิ้ง"/>
              </a:rPr>
              <a:t>Then add primary stain(crystal violet)on it,wait 1 minutes. </a:t>
            </a:r>
          </a:p>
          <a:p>
            <a:pPr algn="ctr">
              <a:lnSpc>
                <a:spcPts val="3079"/>
              </a:lnSpc>
            </a:pPr>
            <a:r>
              <a:rPr lang="en-US" sz="2199">
                <a:solidFill>
                  <a:srgbClr val="000000"/>
                </a:solidFill>
                <a:latin typeface="อีฟดอวอิ้ง"/>
              </a:rPr>
              <a:t>Rinse the slide with distilled water </a:t>
            </a:r>
          </a:p>
          <a:p>
            <a:pPr algn="ctr">
              <a:lnSpc>
                <a:spcPts val="3079"/>
              </a:lnSpc>
            </a:pPr>
            <a:r>
              <a:rPr lang="en-US" sz="2199">
                <a:solidFill>
                  <a:srgbClr val="000000"/>
                </a:solidFill>
                <a:latin typeface="อีฟดอวอิ้ง"/>
              </a:rPr>
              <a:t>Add mordant(iodine), wait 1 minute rinse the slide with distilled water </a:t>
            </a:r>
          </a:p>
          <a:p>
            <a:pPr algn="ctr">
              <a:lnSpc>
                <a:spcPts val="3079"/>
              </a:lnSpc>
            </a:pPr>
            <a:r>
              <a:rPr lang="en-US" sz="2199">
                <a:solidFill>
                  <a:srgbClr val="000000"/>
                </a:solidFill>
                <a:latin typeface="อีฟดอวอิ้ง"/>
              </a:rPr>
              <a:t>Apply decolorization(acetone and alcohol)wait 10-20 seconds  rinse slide with distilled water</a:t>
            </a:r>
          </a:p>
          <a:p>
            <a:pPr algn="ctr">
              <a:lnSpc>
                <a:spcPts val="3079"/>
              </a:lnSpc>
            </a:pPr>
            <a:r>
              <a:rPr lang="en-US" sz="2199">
                <a:solidFill>
                  <a:srgbClr val="000000"/>
                </a:solidFill>
                <a:latin typeface="อีฟดอวอิ้ง"/>
              </a:rPr>
              <a:t>Add counterstain(Safranin), wait 1 minute ,rinse slide with distilled water. </a:t>
            </a:r>
          </a:p>
          <a:p>
            <a:pPr algn="ctr">
              <a:lnSpc>
                <a:spcPts val="3079"/>
              </a:lnSpc>
            </a:pPr>
            <a:r>
              <a:rPr lang="en-US" sz="2199">
                <a:solidFill>
                  <a:srgbClr val="000000"/>
                </a:solidFill>
                <a:latin typeface="อีฟดอวอิ้ง"/>
              </a:rPr>
              <a:t>Then allow the slide dry completely </a:t>
            </a:r>
          </a:p>
          <a:p>
            <a:pPr algn="ctr">
              <a:lnSpc>
                <a:spcPts val="3079"/>
              </a:lnSpc>
            </a:pPr>
            <a:r>
              <a:rPr lang="en-US" sz="2199">
                <a:solidFill>
                  <a:srgbClr val="000000"/>
                </a:solidFill>
                <a:latin typeface="อีฟดอวอิ้ง"/>
              </a:rPr>
              <a:t>Examine the slide under microscope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525174" y="-2459830"/>
            <a:ext cx="9237651" cy="15287104"/>
          </a:xfrm>
          <a:custGeom>
            <a:avLst/>
            <a:gdLst/>
            <a:ahLst/>
            <a:cxnLst/>
            <a:rect r="r" b="b" t="t" l="l"/>
            <a:pathLst>
              <a:path h="15287104" w="9237651">
                <a:moveTo>
                  <a:pt x="0" y="0"/>
                </a:moveTo>
                <a:lnTo>
                  <a:pt x="9237652" y="0"/>
                </a:lnTo>
                <a:lnTo>
                  <a:pt x="9237652" y="15287104"/>
                </a:lnTo>
                <a:lnTo>
                  <a:pt x="0" y="15287104"/>
                </a:lnTo>
                <a:lnTo>
                  <a:pt x="0" y="0"/>
                </a:lnTo>
                <a:close/>
              </a:path>
            </a:pathLst>
          </a:custGeom>
          <a:blipFill>
            <a:blip r:embed="rId2">
              <a:alphaModFix amt="71000"/>
            </a:blip>
            <a:stretch>
              <a:fillRect l="-9651" t="0" r="-12187" b="0"/>
            </a:stretch>
          </a:blipFill>
        </p:spPr>
      </p:sp>
      <p:sp>
        <p:nvSpPr>
          <p:cNvPr name="Freeform 3" id="3"/>
          <p:cNvSpPr/>
          <p:nvPr/>
        </p:nvSpPr>
        <p:spPr>
          <a:xfrm flipH="false" flipV="true" rot="5400000">
            <a:off x="-3184858" y="4931786"/>
            <a:ext cx="9237651" cy="503872"/>
          </a:xfrm>
          <a:custGeom>
            <a:avLst/>
            <a:gdLst/>
            <a:ahLst/>
            <a:cxnLst/>
            <a:rect r="r" b="b" t="t" l="l"/>
            <a:pathLst>
              <a:path h="503872" w="9237651">
                <a:moveTo>
                  <a:pt x="0" y="503872"/>
                </a:moveTo>
                <a:lnTo>
                  <a:pt x="9237651" y="503872"/>
                </a:lnTo>
                <a:lnTo>
                  <a:pt x="9237651" y="0"/>
                </a:lnTo>
                <a:lnTo>
                  <a:pt x="0" y="0"/>
                </a:lnTo>
                <a:lnTo>
                  <a:pt x="0"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5400000">
            <a:off x="12205614" y="4891564"/>
            <a:ext cx="9237651" cy="503872"/>
          </a:xfrm>
          <a:custGeom>
            <a:avLst/>
            <a:gdLst/>
            <a:ahLst/>
            <a:cxnLst/>
            <a:rect r="r" b="b" t="t" l="l"/>
            <a:pathLst>
              <a:path h="503872" w="9237651">
                <a:moveTo>
                  <a:pt x="9237652" y="503872"/>
                </a:moveTo>
                <a:lnTo>
                  <a:pt x="0" y="503872"/>
                </a:lnTo>
                <a:lnTo>
                  <a:pt x="0" y="0"/>
                </a:lnTo>
                <a:lnTo>
                  <a:pt x="9237652" y="0"/>
                </a:lnTo>
                <a:lnTo>
                  <a:pt x="9237652"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482739" y="1028700"/>
            <a:ext cx="1597839" cy="1597839"/>
          </a:xfrm>
          <a:custGeom>
            <a:avLst/>
            <a:gdLst/>
            <a:ahLst/>
            <a:cxnLst/>
            <a:rect r="r" b="b" t="t" l="l"/>
            <a:pathLst>
              <a:path h="1597839" w="1597839">
                <a:moveTo>
                  <a:pt x="0" y="0"/>
                </a:moveTo>
                <a:lnTo>
                  <a:pt x="1597838" y="0"/>
                </a:lnTo>
                <a:lnTo>
                  <a:pt x="1597838" y="1597839"/>
                </a:lnTo>
                <a:lnTo>
                  <a:pt x="0" y="159783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5119676" y="812902"/>
            <a:ext cx="8023877" cy="2200640"/>
          </a:xfrm>
          <a:prstGeom prst="rect">
            <a:avLst/>
          </a:prstGeom>
        </p:spPr>
        <p:txBody>
          <a:bodyPr anchor="t" rtlCol="false" tIns="0" lIns="0" bIns="0" rIns="0">
            <a:spAutoFit/>
          </a:bodyPr>
          <a:lstStyle/>
          <a:p>
            <a:pPr algn="ctr">
              <a:lnSpc>
                <a:spcPts val="17955"/>
              </a:lnSpc>
            </a:pPr>
            <a:r>
              <a:rPr lang="en-US" sz="12825">
                <a:solidFill>
                  <a:srgbClr val="000000"/>
                </a:solidFill>
                <a:latin typeface="Porcelain"/>
              </a:rPr>
              <a:t>Result</a:t>
            </a:r>
          </a:p>
        </p:txBody>
      </p:sp>
      <p:grpSp>
        <p:nvGrpSpPr>
          <p:cNvPr name="Group 7" id="7"/>
          <p:cNvGrpSpPr/>
          <p:nvPr/>
        </p:nvGrpSpPr>
        <p:grpSpPr>
          <a:xfrm rot="0">
            <a:off x="7805261" y="2467471"/>
            <a:ext cx="2677478" cy="318135"/>
            <a:chOff x="0" y="0"/>
            <a:chExt cx="3569970" cy="424180"/>
          </a:xfrm>
        </p:grpSpPr>
        <p:sp>
          <p:nvSpPr>
            <p:cNvPr name="Freeform 8" id="8"/>
            <p:cNvSpPr/>
            <p:nvPr/>
          </p:nvSpPr>
          <p:spPr>
            <a:xfrm flipH="false" flipV="false" rot="0">
              <a:off x="46990" y="27940"/>
              <a:ext cx="3473450" cy="359410"/>
            </a:xfrm>
            <a:custGeom>
              <a:avLst/>
              <a:gdLst/>
              <a:ahLst/>
              <a:cxnLst/>
              <a:rect r="r" b="b" t="t" l="l"/>
              <a:pathLst>
                <a:path h="359410" w="3473450">
                  <a:moveTo>
                    <a:pt x="3810" y="215900"/>
                  </a:moveTo>
                  <a:cubicBezTo>
                    <a:pt x="50800" y="160020"/>
                    <a:pt x="125730" y="128270"/>
                    <a:pt x="166370" y="111760"/>
                  </a:cubicBezTo>
                  <a:cubicBezTo>
                    <a:pt x="195580" y="100330"/>
                    <a:pt x="209550" y="95250"/>
                    <a:pt x="242570" y="88900"/>
                  </a:cubicBezTo>
                  <a:cubicBezTo>
                    <a:pt x="298450" y="77470"/>
                    <a:pt x="391160" y="64770"/>
                    <a:pt x="477520" y="59690"/>
                  </a:cubicBezTo>
                  <a:cubicBezTo>
                    <a:pt x="584200" y="53340"/>
                    <a:pt x="735330" y="39370"/>
                    <a:pt x="836930" y="58420"/>
                  </a:cubicBezTo>
                  <a:cubicBezTo>
                    <a:pt x="918210" y="73660"/>
                    <a:pt x="982980" y="107950"/>
                    <a:pt x="1046480" y="142240"/>
                  </a:cubicBezTo>
                  <a:cubicBezTo>
                    <a:pt x="1104900" y="172720"/>
                    <a:pt x="1143000" y="224790"/>
                    <a:pt x="1202690" y="250190"/>
                  </a:cubicBezTo>
                  <a:cubicBezTo>
                    <a:pt x="1270000" y="278130"/>
                    <a:pt x="1362710" y="288290"/>
                    <a:pt x="1435100" y="294640"/>
                  </a:cubicBezTo>
                  <a:cubicBezTo>
                    <a:pt x="1496060" y="300990"/>
                    <a:pt x="1532890" y="304800"/>
                    <a:pt x="1606550" y="294640"/>
                  </a:cubicBezTo>
                  <a:cubicBezTo>
                    <a:pt x="1748790" y="275590"/>
                    <a:pt x="2110740" y="161290"/>
                    <a:pt x="2216150" y="124460"/>
                  </a:cubicBezTo>
                  <a:cubicBezTo>
                    <a:pt x="2254250" y="110490"/>
                    <a:pt x="2256790" y="101600"/>
                    <a:pt x="2292350" y="91440"/>
                  </a:cubicBezTo>
                  <a:cubicBezTo>
                    <a:pt x="2371090" y="68580"/>
                    <a:pt x="2557780" y="36830"/>
                    <a:pt x="2683510" y="25400"/>
                  </a:cubicBezTo>
                  <a:cubicBezTo>
                    <a:pt x="2800350" y="15240"/>
                    <a:pt x="2926080" y="0"/>
                    <a:pt x="3022600" y="22860"/>
                  </a:cubicBezTo>
                  <a:cubicBezTo>
                    <a:pt x="3101340" y="41910"/>
                    <a:pt x="3181350" y="114300"/>
                    <a:pt x="3223260" y="127000"/>
                  </a:cubicBezTo>
                  <a:cubicBezTo>
                    <a:pt x="3241040" y="132080"/>
                    <a:pt x="3247390" y="130810"/>
                    <a:pt x="3263900" y="130810"/>
                  </a:cubicBezTo>
                  <a:cubicBezTo>
                    <a:pt x="3286760" y="129540"/>
                    <a:pt x="3319780" y="125730"/>
                    <a:pt x="3347720" y="116840"/>
                  </a:cubicBezTo>
                  <a:cubicBezTo>
                    <a:pt x="3379470" y="107950"/>
                    <a:pt x="3421380" y="72390"/>
                    <a:pt x="3442970" y="74930"/>
                  </a:cubicBezTo>
                  <a:cubicBezTo>
                    <a:pt x="3455670" y="76200"/>
                    <a:pt x="3470910" y="87630"/>
                    <a:pt x="3472180" y="96520"/>
                  </a:cubicBezTo>
                  <a:cubicBezTo>
                    <a:pt x="3473450" y="105410"/>
                    <a:pt x="3458210" y="124460"/>
                    <a:pt x="3449320" y="125730"/>
                  </a:cubicBezTo>
                  <a:cubicBezTo>
                    <a:pt x="3441700" y="127000"/>
                    <a:pt x="3427730" y="116840"/>
                    <a:pt x="3423920" y="109220"/>
                  </a:cubicBezTo>
                  <a:cubicBezTo>
                    <a:pt x="3421380" y="102870"/>
                    <a:pt x="3421380" y="90170"/>
                    <a:pt x="3426460" y="85090"/>
                  </a:cubicBezTo>
                  <a:cubicBezTo>
                    <a:pt x="3431540" y="78740"/>
                    <a:pt x="3448050" y="73660"/>
                    <a:pt x="3455670" y="76200"/>
                  </a:cubicBezTo>
                  <a:cubicBezTo>
                    <a:pt x="3463290" y="77470"/>
                    <a:pt x="3470910" y="87630"/>
                    <a:pt x="3472180" y="93980"/>
                  </a:cubicBezTo>
                  <a:cubicBezTo>
                    <a:pt x="3473450" y="100330"/>
                    <a:pt x="3470910" y="109220"/>
                    <a:pt x="3465830" y="116840"/>
                  </a:cubicBezTo>
                  <a:cubicBezTo>
                    <a:pt x="3456940" y="128270"/>
                    <a:pt x="3434080" y="138430"/>
                    <a:pt x="3412490" y="147320"/>
                  </a:cubicBezTo>
                  <a:cubicBezTo>
                    <a:pt x="3382010" y="160020"/>
                    <a:pt x="3333750" y="177800"/>
                    <a:pt x="3299460" y="181610"/>
                  </a:cubicBezTo>
                  <a:cubicBezTo>
                    <a:pt x="3270250" y="185420"/>
                    <a:pt x="3243580" y="182880"/>
                    <a:pt x="3219450" y="176530"/>
                  </a:cubicBezTo>
                  <a:cubicBezTo>
                    <a:pt x="3196590" y="170180"/>
                    <a:pt x="3169920" y="156210"/>
                    <a:pt x="3155950" y="144780"/>
                  </a:cubicBezTo>
                  <a:cubicBezTo>
                    <a:pt x="3147060" y="137160"/>
                    <a:pt x="3149600" y="129540"/>
                    <a:pt x="3139440" y="121920"/>
                  </a:cubicBezTo>
                  <a:cubicBezTo>
                    <a:pt x="3116580" y="105410"/>
                    <a:pt x="3054350" y="82550"/>
                    <a:pt x="2997200" y="73660"/>
                  </a:cubicBezTo>
                  <a:cubicBezTo>
                    <a:pt x="2914650" y="60960"/>
                    <a:pt x="2778760" y="69850"/>
                    <a:pt x="2689860" y="76200"/>
                  </a:cubicBezTo>
                  <a:cubicBezTo>
                    <a:pt x="2622550" y="81280"/>
                    <a:pt x="2573020" y="88900"/>
                    <a:pt x="2512060" y="99060"/>
                  </a:cubicBezTo>
                  <a:cubicBezTo>
                    <a:pt x="2447290" y="109220"/>
                    <a:pt x="2399030" y="116840"/>
                    <a:pt x="2312670" y="138430"/>
                  </a:cubicBezTo>
                  <a:cubicBezTo>
                    <a:pt x="2148840" y="179070"/>
                    <a:pt x="1781810" y="321310"/>
                    <a:pt x="1606550" y="345440"/>
                  </a:cubicBezTo>
                  <a:cubicBezTo>
                    <a:pt x="1504950" y="359410"/>
                    <a:pt x="1433830" y="350520"/>
                    <a:pt x="1362710" y="341630"/>
                  </a:cubicBezTo>
                  <a:cubicBezTo>
                    <a:pt x="1306830" y="334010"/>
                    <a:pt x="1247140" y="313690"/>
                    <a:pt x="1212850" y="303530"/>
                  </a:cubicBezTo>
                  <a:cubicBezTo>
                    <a:pt x="1195070" y="298450"/>
                    <a:pt x="1189990" y="298450"/>
                    <a:pt x="1173480" y="290830"/>
                  </a:cubicBezTo>
                  <a:cubicBezTo>
                    <a:pt x="1139190" y="274320"/>
                    <a:pt x="1080770" y="217170"/>
                    <a:pt x="1026160" y="187960"/>
                  </a:cubicBezTo>
                  <a:cubicBezTo>
                    <a:pt x="967740" y="156210"/>
                    <a:pt x="914400" y="124460"/>
                    <a:pt x="835660" y="109220"/>
                  </a:cubicBezTo>
                  <a:cubicBezTo>
                    <a:pt x="720090" y="87630"/>
                    <a:pt x="513080" y="104140"/>
                    <a:pt x="393700" y="116840"/>
                  </a:cubicBezTo>
                  <a:cubicBezTo>
                    <a:pt x="311150" y="125730"/>
                    <a:pt x="246380" y="138430"/>
                    <a:pt x="187960" y="157480"/>
                  </a:cubicBezTo>
                  <a:cubicBezTo>
                    <a:pt x="140970" y="172720"/>
                    <a:pt x="91440" y="193040"/>
                    <a:pt x="64770" y="213360"/>
                  </a:cubicBezTo>
                  <a:cubicBezTo>
                    <a:pt x="48260" y="226060"/>
                    <a:pt x="41910" y="251460"/>
                    <a:pt x="30480" y="254000"/>
                  </a:cubicBezTo>
                  <a:cubicBezTo>
                    <a:pt x="21590" y="256540"/>
                    <a:pt x="7620" y="250190"/>
                    <a:pt x="3810" y="243840"/>
                  </a:cubicBezTo>
                  <a:cubicBezTo>
                    <a:pt x="0" y="237490"/>
                    <a:pt x="3810" y="215900"/>
                    <a:pt x="3810" y="215900"/>
                  </a:cubicBezTo>
                </a:path>
              </a:pathLst>
            </a:custGeom>
            <a:solidFill>
              <a:srgbClr val="2D90EB"/>
            </a:solidFill>
            <a:ln cap="sq">
              <a:noFill/>
              <a:prstDash val="solid"/>
              <a:miter/>
            </a:ln>
          </p:spPr>
        </p:sp>
      </p:grpSp>
      <p:grpSp>
        <p:nvGrpSpPr>
          <p:cNvPr name="Group 9" id="9"/>
          <p:cNvGrpSpPr>
            <a:grpSpLocks noChangeAspect="true"/>
          </p:cNvGrpSpPr>
          <p:nvPr/>
        </p:nvGrpSpPr>
        <p:grpSpPr>
          <a:xfrm rot="0">
            <a:off x="1685903" y="2785606"/>
            <a:ext cx="4692273" cy="4583667"/>
            <a:chOff x="0" y="0"/>
            <a:chExt cx="4828540" cy="4716780"/>
          </a:xfrm>
        </p:grpSpPr>
        <p:sp>
          <p:nvSpPr>
            <p:cNvPr name="Freeform 10" id="10"/>
            <p:cNvSpPr/>
            <p:nvPr/>
          </p:nvSpPr>
          <p:spPr>
            <a:xfrm flipH="false" flipV="false" rot="0">
              <a:off x="0" y="-7620"/>
              <a:ext cx="4833620" cy="4726940"/>
            </a:xfrm>
            <a:custGeom>
              <a:avLst/>
              <a:gdLst/>
              <a:ahLst/>
              <a:cxnLst/>
              <a:rect r="r" b="b" t="t" l="l"/>
              <a:pathLst>
                <a:path h="4726940" w="4833620">
                  <a:moveTo>
                    <a:pt x="3416300" y="4662170"/>
                  </a:moveTo>
                  <a:cubicBezTo>
                    <a:pt x="3388360" y="4669790"/>
                    <a:pt x="3366770" y="4679950"/>
                    <a:pt x="3345180" y="4682490"/>
                  </a:cubicBezTo>
                  <a:cubicBezTo>
                    <a:pt x="3223260" y="4692650"/>
                    <a:pt x="3102610" y="4702810"/>
                    <a:pt x="2980690" y="4711700"/>
                  </a:cubicBezTo>
                  <a:cubicBezTo>
                    <a:pt x="2918460" y="4715510"/>
                    <a:pt x="2856230" y="4719320"/>
                    <a:pt x="2794000" y="4720590"/>
                  </a:cubicBezTo>
                  <a:cubicBezTo>
                    <a:pt x="2726690" y="4723130"/>
                    <a:pt x="2659380" y="4726940"/>
                    <a:pt x="2593340" y="4724400"/>
                  </a:cubicBezTo>
                  <a:cubicBezTo>
                    <a:pt x="2529840" y="4723130"/>
                    <a:pt x="2466340" y="4719320"/>
                    <a:pt x="2405380" y="4707890"/>
                  </a:cubicBezTo>
                  <a:cubicBezTo>
                    <a:pt x="2326640" y="4693920"/>
                    <a:pt x="2246630" y="4693920"/>
                    <a:pt x="2169160" y="4681220"/>
                  </a:cubicBezTo>
                  <a:cubicBezTo>
                    <a:pt x="1967230" y="4648200"/>
                    <a:pt x="1761490" y="4657090"/>
                    <a:pt x="1558290" y="4643120"/>
                  </a:cubicBezTo>
                  <a:cubicBezTo>
                    <a:pt x="1443990" y="4635500"/>
                    <a:pt x="1329690" y="4617720"/>
                    <a:pt x="1215390" y="4602480"/>
                  </a:cubicBezTo>
                  <a:cubicBezTo>
                    <a:pt x="1085850" y="4585970"/>
                    <a:pt x="956310" y="4566920"/>
                    <a:pt x="825500" y="4549140"/>
                  </a:cubicBezTo>
                  <a:cubicBezTo>
                    <a:pt x="730250" y="4536440"/>
                    <a:pt x="633730" y="4523740"/>
                    <a:pt x="538480" y="4511040"/>
                  </a:cubicBezTo>
                  <a:cubicBezTo>
                    <a:pt x="535940" y="4511040"/>
                    <a:pt x="533400" y="4509770"/>
                    <a:pt x="530860" y="4509770"/>
                  </a:cubicBezTo>
                  <a:cubicBezTo>
                    <a:pt x="450850" y="4475479"/>
                    <a:pt x="365760" y="4448810"/>
                    <a:pt x="292100" y="4404360"/>
                  </a:cubicBezTo>
                  <a:cubicBezTo>
                    <a:pt x="167640" y="4328160"/>
                    <a:pt x="114300" y="4206240"/>
                    <a:pt x="109220" y="4062730"/>
                  </a:cubicBezTo>
                  <a:cubicBezTo>
                    <a:pt x="107950" y="4013200"/>
                    <a:pt x="101600" y="3964940"/>
                    <a:pt x="101600" y="3915410"/>
                  </a:cubicBezTo>
                  <a:cubicBezTo>
                    <a:pt x="102870" y="3846830"/>
                    <a:pt x="107950" y="3779520"/>
                    <a:pt x="111760" y="3712210"/>
                  </a:cubicBezTo>
                  <a:cubicBezTo>
                    <a:pt x="121920" y="3511550"/>
                    <a:pt x="127000" y="3310890"/>
                    <a:pt x="111760" y="3110230"/>
                  </a:cubicBezTo>
                  <a:cubicBezTo>
                    <a:pt x="97790" y="2929890"/>
                    <a:pt x="85090" y="2750820"/>
                    <a:pt x="71120" y="2570480"/>
                  </a:cubicBezTo>
                  <a:cubicBezTo>
                    <a:pt x="62230" y="2454910"/>
                    <a:pt x="50800" y="2340610"/>
                    <a:pt x="43180" y="2225040"/>
                  </a:cubicBezTo>
                  <a:cubicBezTo>
                    <a:pt x="38100" y="2148840"/>
                    <a:pt x="39370" y="2071370"/>
                    <a:pt x="34290" y="1995170"/>
                  </a:cubicBezTo>
                  <a:cubicBezTo>
                    <a:pt x="31750" y="1951990"/>
                    <a:pt x="17780" y="1910080"/>
                    <a:pt x="16510" y="1866900"/>
                  </a:cubicBezTo>
                  <a:cubicBezTo>
                    <a:pt x="11430" y="1762760"/>
                    <a:pt x="10160" y="1657350"/>
                    <a:pt x="7620" y="1551940"/>
                  </a:cubicBezTo>
                  <a:cubicBezTo>
                    <a:pt x="6350" y="1511300"/>
                    <a:pt x="0" y="1470660"/>
                    <a:pt x="1270" y="1430020"/>
                  </a:cubicBezTo>
                  <a:cubicBezTo>
                    <a:pt x="2540" y="1366520"/>
                    <a:pt x="10160" y="1303020"/>
                    <a:pt x="11430" y="1239520"/>
                  </a:cubicBezTo>
                  <a:cubicBezTo>
                    <a:pt x="12700" y="1165860"/>
                    <a:pt x="5080" y="1092200"/>
                    <a:pt x="7620" y="1019810"/>
                  </a:cubicBezTo>
                  <a:cubicBezTo>
                    <a:pt x="7620" y="949960"/>
                    <a:pt x="16510" y="881380"/>
                    <a:pt x="25400" y="811530"/>
                  </a:cubicBezTo>
                  <a:cubicBezTo>
                    <a:pt x="27940" y="787400"/>
                    <a:pt x="45720" y="765810"/>
                    <a:pt x="50800" y="741680"/>
                  </a:cubicBezTo>
                  <a:cubicBezTo>
                    <a:pt x="72390" y="622300"/>
                    <a:pt x="95250" y="502920"/>
                    <a:pt x="151130" y="392430"/>
                  </a:cubicBezTo>
                  <a:cubicBezTo>
                    <a:pt x="163830" y="368300"/>
                    <a:pt x="184150" y="346710"/>
                    <a:pt x="203200" y="327660"/>
                  </a:cubicBezTo>
                  <a:cubicBezTo>
                    <a:pt x="209550" y="321310"/>
                    <a:pt x="224790" y="325120"/>
                    <a:pt x="228600" y="325120"/>
                  </a:cubicBezTo>
                  <a:cubicBezTo>
                    <a:pt x="237490" y="308610"/>
                    <a:pt x="242570" y="292100"/>
                    <a:pt x="252730" y="284480"/>
                  </a:cubicBezTo>
                  <a:cubicBezTo>
                    <a:pt x="307340" y="242570"/>
                    <a:pt x="364490" y="212090"/>
                    <a:pt x="435610" y="204470"/>
                  </a:cubicBezTo>
                  <a:cubicBezTo>
                    <a:pt x="488950" y="198120"/>
                    <a:pt x="541020" y="175260"/>
                    <a:pt x="594360" y="162560"/>
                  </a:cubicBezTo>
                  <a:cubicBezTo>
                    <a:pt x="659130" y="147320"/>
                    <a:pt x="723900" y="129540"/>
                    <a:pt x="791210" y="120650"/>
                  </a:cubicBezTo>
                  <a:cubicBezTo>
                    <a:pt x="852170" y="113030"/>
                    <a:pt x="910590" y="96520"/>
                    <a:pt x="972820" y="91440"/>
                  </a:cubicBezTo>
                  <a:cubicBezTo>
                    <a:pt x="1036320" y="86360"/>
                    <a:pt x="1099820" y="71120"/>
                    <a:pt x="1164590" y="66040"/>
                  </a:cubicBezTo>
                  <a:cubicBezTo>
                    <a:pt x="1339850" y="53340"/>
                    <a:pt x="1516380" y="44450"/>
                    <a:pt x="1691640" y="34290"/>
                  </a:cubicBezTo>
                  <a:cubicBezTo>
                    <a:pt x="1734820" y="31750"/>
                    <a:pt x="1778000" y="34290"/>
                    <a:pt x="1821180" y="35560"/>
                  </a:cubicBezTo>
                  <a:cubicBezTo>
                    <a:pt x="1842770" y="36830"/>
                    <a:pt x="1864360" y="41910"/>
                    <a:pt x="1887220" y="44450"/>
                  </a:cubicBezTo>
                  <a:cubicBezTo>
                    <a:pt x="1897380" y="45720"/>
                    <a:pt x="1907540" y="41910"/>
                    <a:pt x="1917700" y="41910"/>
                  </a:cubicBezTo>
                  <a:cubicBezTo>
                    <a:pt x="1948180" y="41910"/>
                    <a:pt x="1979930" y="41910"/>
                    <a:pt x="2010410" y="40640"/>
                  </a:cubicBezTo>
                  <a:cubicBezTo>
                    <a:pt x="2068830" y="38100"/>
                    <a:pt x="2128520" y="31750"/>
                    <a:pt x="2186940" y="31750"/>
                  </a:cubicBezTo>
                  <a:cubicBezTo>
                    <a:pt x="2244090" y="31750"/>
                    <a:pt x="2301240" y="35560"/>
                    <a:pt x="2358390" y="38100"/>
                  </a:cubicBezTo>
                  <a:lnTo>
                    <a:pt x="2404110" y="38100"/>
                  </a:lnTo>
                  <a:cubicBezTo>
                    <a:pt x="2473960" y="35560"/>
                    <a:pt x="2542540" y="35560"/>
                    <a:pt x="2612390" y="31750"/>
                  </a:cubicBezTo>
                  <a:cubicBezTo>
                    <a:pt x="2679700" y="27940"/>
                    <a:pt x="2745740" y="19050"/>
                    <a:pt x="2813050" y="15240"/>
                  </a:cubicBezTo>
                  <a:cubicBezTo>
                    <a:pt x="2844800" y="12700"/>
                    <a:pt x="2877820" y="12700"/>
                    <a:pt x="2909570" y="19050"/>
                  </a:cubicBezTo>
                  <a:cubicBezTo>
                    <a:pt x="2957830" y="27940"/>
                    <a:pt x="3003550" y="33020"/>
                    <a:pt x="3051810" y="19050"/>
                  </a:cubicBezTo>
                  <a:cubicBezTo>
                    <a:pt x="3069590" y="13970"/>
                    <a:pt x="3092450" y="22860"/>
                    <a:pt x="3112770" y="25400"/>
                  </a:cubicBezTo>
                  <a:cubicBezTo>
                    <a:pt x="3121660" y="26670"/>
                    <a:pt x="3131820" y="29210"/>
                    <a:pt x="3136900" y="25400"/>
                  </a:cubicBezTo>
                  <a:cubicBezTo>
                    <a:pt x="3171190" y="0"/>
                    <a:pt x="3202940" y="6350"/>
                    <a:pt x="3235960" y="27940"/>
                  </a:cubicBezTo>
                  <a:cubicBezTo>
                    <a:pt x="3239770" y="30480"/>
                    <a:pt x="3249930" y="24130"/>
                    <a:pt x="3257550" y="24130"/>
                  </a:cubicBezTo>
                  <a:cubicBezTo>
                    <a:pt x="3288030" y="24130"/>
                    <a:pt x="3318510" y="24130"/>
                    <a:pt x="3350260" y="25400"/>
                  </a:cubicBezTo>
                  <a:cubicBezTo>
                    <a:pt x="3373120" y="26670"/>
                    <a:pt x="3394710" y="34290"/>
                    <a:pt x="3417570" y="36830"/>
                  </a:cubicBezTo>
                  <a:cubicBezTo>
                    <a:pt x="3467100" y="43180"/>
                    <a:pt x="3517900" y="53340"/>
                    <a:pt x="3568700" y="53340"/>
                  </a:cubicBezTo>
                  <a:cubicBezTo>
                    <a:pt x="3663950" y="54610"/>
                    <a:pt x="3759200" y="58420"/>
                    <a:pt x="3853180" y="78740"/>
                  </a:cubicBezTo>
                  <a:cubicBezTo>
                    <a:pt x="3940809" y="97790"/>
                    <a:pt x="4030980" y="97790"/>
                    <a:pt x="4119880" y="113030"/>
                  </a:cubicBezTo>
                  <a:cubicBezTo>
                    <a:pt x="4173220" y="121920"/>
                    <a:pt x="4227830" y="138430"/>
                    <a:pt x="4273550" y="165100"/>
                  </a:cubicBezTo>
                  <a:cubicBezTo>
                    <a:pt x="4323080" y="193040"/>
                    <a:pt x="4361180" y="238760"/>
                    <a:pt x="4405630" y="276860"/>
                  </a:cubicBezTo>
                  <a:cubicBezTo>
                    <a:pt x="4422139" y="290830"/>
                    <a:pt x="4446270" y="300990"/>
                    <a:pt x="4457700" y="318770"/>
                  </a:cubicBezTo>
                  <a:cubicBezTo>
                    <a:pt x="4490720" y="367030"/>
                    <a:pt x="4519930" y="417830"/>
                    <a:pt x="4549140" y="468630"/>
                  </a:cubicBezTo>
                  <a:cubicBezTo>
                    <a:pt x="4570730" y="505460"/>
                    <a:pt x="4592320" y="543560"/>
                    <a:pt x="4608830" y="581660"/>
                  </a:cubicBezTo>
                  <a:cubicBezTo>
                    <a:pt x="4626610" y="626110"/>
                    <a:pt x="4640580" y="671830"/>
                    <a:pt x="4654550" y="718820"/>
                  </a:cubicBezTo>
                  <a:cubicBezTo>
                    <a:pt x="4676140" y="792480"/>
                    <a:pt x="4701540" y="866140"/>
                    <a:pt x="4715510" y="942340"/>
                  </a:cubicBezTo>
                  <a:cubicBezTo>
                    <a:pt x="4735830" y="1049020"/>
                    <a:pt x="4745990" y="1158240"/>
                    <a:pt x="4761230" y="1266190"/>
                  </a:cubicBezTo>
                  <a:cubicBezTo>
                    <a:pt x="4766310" y="1301750"/>
                    <a:pt x="4772660" y="1337310"/>
                    <a:pt x="4775200" y="1372870"/>
                  </a:cubicBezTo>
                  <a:cubicBezTo>
                    <a:pt x="4782820" y="1474470"/>
                    <a:pt x="4787900" y="1574800"/>
                    <a:pt x="4794250" y="1676400"/>
                  </a:cubicBezTo>
                  <a:cubicBezTo>
                    <a:pt x="4803140" y="1802130"/>
                    <a:pt x="4815840" y="1926590"/>
                    <a:pt x="4822190" y="2052320"/>
                  </a:cubicBezTo>
                  <a:cubicBezTo>
                    <a:pt x="4828540" y="2172970"/>
                    <a:pt x="4833620" y="2294890"/>
                    <a:pt x="4831080" y="2416810"/>
                  </a:cubicBezTo>
                  <a:cubicBezTo>
                    <a:pt x="4827270" y="2620010"/>
                    <a:pt x="4817110" y="2821940"/>
                    <a:pt x="4806950" y="3025140"/>
                  </a:cubicBezTo>
                  <a:cubicBezTo>
                    <a:pt x="4800600" y="3150870"/>
                    <a:pt x="4791710" y="3275330"/>
                    <a:pt x="4779010" y="3399790"/>
                  </a:cubicBezTo>
                  <a:cubicBezTo>
                    <a:pt x="4766310" y="3524250"/>
                    <a:pt x="4747260" y="3647440"/>
                    <a:pt x="4733290" y="3771900"/>
                  </a:cubicBezTo>
                  <a:cubicBezTo>
                    <a:pt x="4723130" y="3858260"/>
                    <a:pt x="4720590" y="3944620"/>
                    <a:pt x="4709160" y="4029710"/>
                  </a:cubicBezTo>
                  <a:cubicBezTo>
                    <a:pt x="4699000" y="4107180"/>
                    <a:pt x="4660900" y="4175760"/>
                    <a:pt x="4610100" y="4232910"/>
                  </a:cubicBezTo>
                  <a:cubicBezTo>
                    <a:pt x="4568191" y="4281170"/>
                    <a:pt x="4535170" y="4335780"/>
                    <a:pt x="4491991" y="4382770"/>
                  </a:cubicBezTo>
                  <a:cubicBezTo>
                    <a:pt x="4453891" y="4424679"/>
                    <a:pt x="4411981" y="4466590"/>
                    <a:pt x="4345941" y="4467860"/>
                  </a:cubicBezTo>
                  <a:cubicBezTo>
                    <a:pt x="4330700" y="4467860"/>
                    <a:pt x="4316731" y="4483100"/>
                    <a:pt x="4301491" y="4490720"/>
                  </a:cubicBezTo>
                  <a:cubicBezTo>
                    <a:pt x="4236720" y="4518660"/>
                    <a:pt x="4169411" y="4542790"/>
                    <a:pt x="4105911" y="4573270"/>
                  </a:cubicBezTo>
                  <a:cubicBezTo>
                    <a:pt x="3989070" y="4629150"/>
                    <a:pt x="3863341" y="4638040"/>
                    <a:pt x="3737611" y="4643120"/>
                  </a:cubicBezTo>
                  <a:cubicBezTo>
                    <a:pt x="3689351" y="4645660"/>
                    <a:pt x="3639820" y="4641850"/>
                    <a:pt x="3591561" y="4645660"/>
                  </a:cubicBezTo>
                  <a:cubicBezTo>
                    <a:pt x="3567431" y="4646930"/>
                    <a:pt x="3544570" y="4658360"/>
                    <a:pt x="3521711" y="4663440"/>
                  </a:cubicBezTo>
                  <a:cubicBezTo>
                    <a:pt x="3511551" y="4665980"/>
                    <a:pt x="3501391" y="4664710"/>
                    <a:pt x="3489961" y="4665980"/>
                  </a:cubicBezTo>
                  <a:cubicBezTo>
                    <a:pt x="3474720" y="4667250"/>
                    <a:pt x="3459481" y="4671060"/>
                    <a:pt x="3444241" y="4669790"/>
                  </a:cubicBezTo>
                  <a:cubicBezTo>
                    <a:pt x="3429000" y="4667250"/>
                    <a:pt x="3418841" y="4662170"/>
                    <a:pt x="3416300" y="4662170"/>
                  </a:cubicBezTo>
                  <a:close/>
                </a:path>
              </a:pathLst>
            </a:custGeom>
            <a:blipFill>
              <a:blip r:embed="rId7"/>
              <a:stretch>
                <a:fillRect l="-18854" t="0" r="-18854" b="0"/>
              </a:stretch>
            </a:blipFill>
          </p:spPr>
        </p:sp>
      </p:grpSp>
      <p:sp>
        <p:nvSpPr>
          <p:cNvPr name="TextBox 11" id="11"/>
          <p:cNvSpPr txBox="true"/>
          <p:nvPr/>
        </p:nvSpPr>
        <p:spPr>
          <a:xfrm rot="0">
            <a:off x="1895775" y="7370780"/>
            <a:ext cx="4272530" cy="495935"/>
          </a:xfrm>
          <a:prstGeom prst="rect">
            <a:avLst/>
          </a:prstGeom>
        </p:spPr>
        <p:txBody>
          <a:bodyPr anchor="t" rtlCol="false" tIns="0" lIns="0" bIns="0" rIns="0">
            <a:spAutoFit/>
          </a:bodyPr>
          <a:lstStyle/>
          <a:p>
            <a:pPr algn="ctr">
              <a:lnSpc>
                <a:spcPts val="3640"/>
              </a:lnSpc>
            </a:pPr>
            <a:r>
              <a:rPr lang="en-US" sz="2600">
                <a:solidFill>
                  <a:srgbClr val="000000"/>
                </a:solidFill>
                <a:latin typeface="อีฟดอวอิ้ง"/>
              </a:rPr>
              <a:t> Indole test-all are negative </a:t>
            </a:r>
          </a:p>
        </p:txBody>
      </p:sp>
      <p:grpSp>
        <p:nvGrpSpPr>
          <p:cNvPr name="Group 12" id="12"/>
          <p:cNvGrpSpPr>
            <a:grpSpLocks noChangeAspect="true"/>
          </p:cNvGrpSpPr>
          <p:nvPr/>
        </p:nvGrpSpPr>
        <p:grpSpPr>
          <a:xfrm rot="0">
            <a:off x="6890591" y="2891888"/>
            <a:ext cx="4692273" cy="4583667"/>
            <a:chOff x="0" y="0"/>
            <a:chExt cx="4828540" cy="4716780"/>
          </a:xfrm>
        </p:grpSpPr>
        <p:sp>
          <p:nvSpPr>
            <p:cNvPr name="Freeform 13" id="13"/>
            <p:cNvSpPr/>
            <p:nvPr/>
          </p:nvSpPr>
          <p:spPr>
            <a:xfrm flipH="false" flipV="false" rot="0">
              <a:off x="0" y="-7620"/>
              <a:ext cx="4833620" cy="4726940"/>
            </a:xfrm>
            <a:custGeom>
              <a:avLst/>
              <a:gdLst/>
              <a:ahLst/>
              <a:cxnLst/>
              <a:rect r="r" b="b" t="t" l="l"/>
              <a:pathLst>
                <a:path h="4726940" w="4833620">
                  <a:moveTo>
                    <a:pt x="3416300" y="4662170"/>
                  </a:moveTo>
                  <a:cubicBezTo>
                    <a:pt x="3388360" y="4669790"/>
                    <a:pt x="3366770" y="4679950"/>
                    <a:pt x="3345180" y="4682490"/>
                  </a:cubicBezTo>
                  <a:cubicBezTo>
                    <a:pt x="3223260" y="4692650"/>
                    <a:pt x="3102610" y="4702810"/>
                    <a:pt x="2980690" y="4711700"/>
                  </a:cubicBezTo>
                  <a:cubicBezTo>
                    <a:pt x="2918460" y="4715510"/>
                    <a:pt x="2856230" y="4719320"/>
                    <a:pt x="2794000" y="4720590"/>
                  </a:cubicBezTo>
                  <a:cubicBezTo>
                    <a:pt x="2726690" y="4723130"/>
                    <a:pt x="2659380" y="4726940"/>
                    <a:pt x="2593340" y="4724400"/>
                  </a:cubicBezTo>
                  <a:cubicBezTo>
                    <a:pt x="2529840" y="4723130"/>
                    <a:pt x="2466340" y="4719320"/>
                    <a:pt x="2405380" y="4707890"/>
                  </a:cubicBezTo>
                  <a:cubicBezTo>
                    <a:pt x="2326640" y="4693920"/>
                    <a:pt x="2246630" y="4693920"/>
                    <a:pt x="2169160" y="4681220"/>
                  </a:cubicBezTo>
                  <a:cubicBezTo>
                    <a:pt x="1967230" y="4648200"/>
                    <a:pt x="1761490" y="4657090"/>
                    <a:pt x="1558290" y="4643120"/>
                  </a:cubicBezTo>
                  <a:cubicBezTo>
                    <a:pt x="1443990" y="4635500"/>
                    <a:pt x="1329690" y="4617720"/>
                    <a:pt x="1215390" y="4602480"/>
                  </a:cubicBezTo>
                  <a:cubicBezTo>
                    <a:pt x="1085850" y="4585970"/>
                    <a:pt x="956310" y="4566920"/>
                    <a:pt x="825500" y="4549140"/>
                  </a:cubicBezTo>
                  <a:cubicBezTo>
                    <a:pt x="730250" y="4536440"/>
                    <a:pt x="633730" y="4523740"/>
                    <a:pt x="538480" y="4511040"/>
                  </a:cubicBezTo>
                  <a:cubicBezTo>
                    <a:pt x="535940" y="4511040"/>
                    <a:pt x="533400" y="4509770"/>
                    <a:pt x="530860" y="4509770"/>
                  </a:cubicBezTo>
                  <a:cubicBezTo>
                    <a:pt x="450850" y="4475479"/>
                    <a:pt x="365760" y="4448810"/>
                    <a:pt x="292100" y="4404360"/>
                  </a:cubicBezTo>
                  <a:cubicBezTo>
                    <a:pt x="167640" y="4328160"/>
                    <a:pt x="114300" y="4206240"/>
                    <a:pt x="109220" y="4062730"/>
                  </a:cubicBezTo>
                  <a:cubicBezTo>
                    <a:pt x="107950" y="4013200"/>
                    <a:pt x="101600" y="3964940"/>
                    <a:pt x="101600" y="3915410"/>
                  </a:cubicBezTo>
                  <a:cubicBezTo>
                    <a:pt x="102870" y="3846830"/>
                    <a:pt x="107950" y="3779520"/>
                    <a:pt x="111760" y="3712210"/>
                  </a:cubicBezTo>
                  <a:cubicBezTo>
                    <a:pt x="121920" y="3511550"/>
                    <a:pt x="127000" y="3310890"/>
                    <a:pt x="111760" y="3110230"/>
                  </a:cubicBezTo>
                  <a:cubicBezTo>
                    <a:pt x="97790" y="2929890"/>
                    <a:pt x="85090" y="2750820"/>
                    <a:pt x="71120" y="2570480"/>
                  </a:cubicBezTo>
                  <a:cubicBezTo>
                    <a:pt x="62230" y="2454910"/>
                    <a:pt x="50800" y="2340610"/>
                    <a:pt x="43180" y="2225040"/>
                  </a:cubicBezTo>
                  <a:cubicBezTo>
                    <a:pt x="38100" y="2148840"/>
                    <a:pt x="39370" y="2071370"/>
                    <a:pt x="34290" y="1995170"/>
                  </a:cubicBezTo>
                  <a:cubicBezTo>
                    <a:pt x="31750" y="1951990"/>
                    <a:pt x="17780" y="1910080"/>
                    <a:pt x="16510" y="1866900"/>
                  </a:cubicBezTo>
                  <a:cubicBezTo>
                    <a:pt x="11430" y="1762760"/>
                    <a:pt x="10160" y="1657350"/>
                    <a:pt x="7620" y="1551940"/>
                  </a:cubicBezTo>
                  <a:cubicBezTo>
                    <a:pt x="6350" y="1511300"/>
                    <a:pt x="0" y="1470660"/>
                    <a:pt x="1270" y="1430020"/>
                  </a:cubicBezTo>
                  <a:cubicBezTo>
                    <a:pt x="2540" y="1366520"/>
                    <a:pt x="10160" y="1303020"/>
                    <a:pt x="11430" y="1239520"/>
                  </a:cubicBezTo>
                  <a:cubicBezTo>
                    <a:pt x="12700" y="1165860"/>
                    <a:pt x="5080" y="1092200"/>
                    <a:pt x="7620" y="1019810"/>
                  </a:cubicBezTo>
                  <a:cubicBezTo>
                    <a:pt x="7620" y="949960"/>
                    <a:pt x="16510" y="881380"/>
                    <a:pt x="25400" y="811530"/>
                  </a:cubicBezTo>
                  <a:cubicBezTo>
                    <a:pt x="27940" y="787400"/>
                    <a:pt x="45720" y="765810"/>
                    <a:pt x="50800" y="741680"/>
                  </a:cubicBezTo>
                  <a:cubicBezTo>
                    <a:pt x="72390" y="622300"/>
                    <a:pt x="95250" y="502920"/>
                    <a:pt x="151130" y="392430"/>
                  </a:cubicBezTo>
                  <a:cubicBezTo>
                    <a:pt x="163830" y="368300"/>
                    <a:pt x="184150" y="346710"/>
                    <a:pt x="203200" y="327660"/>
                  </a:cubicBezTo>
                  <a:cubicBezTo>
                    <a:pt x="209550" y="321310"/>
                    <a:pt x="224790" y="325120"/>
                    <a:pt x="228600" y="325120"/>
                  </a:cubicBezTo>
                  <a:cubicBezTo>
                    <a:pt x="237490" y="308610"/>
                    <a:pt x="242570" y="292100"/>
                    <a:pt x="252730" y="284480"/>
                  </a:cubicBezTo>
                  <a:cubicBezTo>
                    <a:pt x="307340" y="242570"/>
                    <a:pt x="364490" y="212090"/>
                    <a:pt x="435610" y="204470"/>
                  </a:cubicBezTo>
                  <a:cubicBezTo>
                    <a:pt x="488950" y="198120"/>
                    <a:pt x="541020" y="175260"/>
                    <a:pt x="594360" y="162560"/>
                  </a:cubicBezTo>
                  <a:cubicBezTo>
                    <a:pt x="659130" y="147320"/>
                    <a:pt x="723900" y="129540"/>
                    <a:pt x="791210" y="120650"/>
                  </a:cubicBezTo>
                  <a:cubicBezTo>
                    <a:pt x="852170" y="113030"/>
                    <a:pt x="910590" y="96520"/>
                    <a:pt x="972820" y="91440"/>
                  </a:cubicBezTo>
                  <a:cubicBezTo>
                    <a:pt x="1036320" y="86360"/>
                    <a:pt x="1099820" y="71120"/>
                    <a:pt x="1164590" y="66040"/>
                  </a:cubicBezTo>
                  <a:cubicBezTo>
                    <a:pt x="1339850" y="53340"/>
                    <a:pt x="1516380" y="44450"/>
                    <a:pt x="1691640" y="34290"/>
                  </a:cubicBezTo>
                  <a:cubicBezTo>
                    <a:pt x="1734820" y="31750"/>
                    <a:pt x="1778000" y="34290"/>
                    <a:pt x="1821180" y="35560"/>
                  </a:cubicBezTo>
                  <a:cubicBezTo>
                    <a:pt x="1842770" y="36830"/>
                    <a:pt x="1864360" y="41910"/>
                    <a:pt x="1887220" y="44450"/>
                  </a:cubicBezTo>
                  <a:cubicBezTo>
                    <a:pt x="1897380" y="45720"/>
                    <a:pt x="1907540" y="41910"/>
                    <a:pt x="1917700" y="41910"/>
                  </a:cubicBezTo>
                  <a:cubicBezTo>
                    <a:pt x="1948180" y="41910"/>
                    <a:pt x="1979930" y="41910"/>
                    <a:pt x="2010410" y="40640"/>
                  </a:cubicBezTo>
                  <a:cubicBezTo>
                    <a:pt x="2068830" y="38100"/>
                    <a:pt x="2128520" y="31750"/>
                    <a:pt x="2186940" y="31750"/>
                  </a:cubicBezTo>
                  <a:cubicBezTo>
                    <a:pt x="2244090" y="31750"/>
                    <a:pt x="2301240" y="35560"/>
                    <a:pt x="2358390" y="38100"/>
                  </a:cubicBezTo>
                  <a:lnTo>
                    <a:pt x="2404110" y="38100"/>
                  </a:lnTo>
                  <a:cubicBezTo>
                    <a:pt x="2473960" y="35560"/>
                    <a:pt x="2542540" y="35560"/>
                    <a:pt x="2612390" y="31750"/>
                  </a:cubicBezTo>
                  <a:cubicBezTo>
                    <a:pt x="2679700" y="27940"/>
                    <a:pt x="2745740" y="19050"/>
                    <a:pt x="2813050" y="15240"/>
                  </a:cubicBezTo>
                  <a:cubicBezTo>
                    <a:pt x="2844800" y="12700"/>
                    <a:pt x="2877820" y="12700"/>
                    <a:pt x="2909570" y="19050"/>
                  </a:cubicBezTo>
                  <a:cubicBezTo>
                    <a:pt x="2957830" y="27940"/>
                    <a:pt x="3003550" y="33020"/>
                    <a:pt x="3051810" y="19050"/>
                  </a:cubicBezTo>
                  <a:cubicBezTo>
                    <a:pt x="3069590" y="13970"/>
                    <a:pt x="3092450" y="22860"/>
                    <a:pt x="3112770" y="25400"/>
                  </a:cubicBezTo>
                  <a:cubicBezTo>
                    <a:pt x="3121660" y="26670"/>
                    <a:pt x="3131820" y="29210"/>
                    <a:pt x="3136900" y="25400"/>
                  </a:cubicBezTo>
                  <a:cubicBezTo>
                    <a:pt x="3171190" y="0"/>
                    <a:pt x="3202940" y="6350"/>
                    <a:pt x="3235960" y="27940"/>
                  </a:cubicBezTo>
                  <a:cubicBezTo>
                    <a:pt x="3239770" y="30480"/>
                    <a:pt x="3249930" y="24130"/>
                    <a:pt x="3257550" y="24130"/>
                  </a:cubicBezTo>
                  <a:cubicBezTo>
                    <a:pt x="3288030" y="24130"/>
                    <a:pt x="3318510" y="24130"/>
                    <a:pt x="3350260" y="25400"/>
                  </a:cubicBezTo>
                  <a:cubicBezTo>
                    <a:pt x="3373120" y="26670"/>
                    <a:pt x="3394710" y="34290"/>
                    <a:pt x="3417570" y="36830"/>
                  </a:cubicBezTo>
                  <a:cubicBezTo>
                    <a:pt x="3467100" y="43180"/>
                    <a:pt x="3517900" y="53340"/>
                    <a:pt x="3568700" y="53340"/>
                  </a:cubicBezTo>
                  <a:cubicBezTo>
                    <a:pt x="3663950" y="54610"/>
                    <a:pt x="3759200" y="58420"/>
                    <a:pt x="3853180" y="78740"/>
                  </a:cubicBezTo>
                  <a:cubicBezTo>
                    <a:pt x="3940809" y="97790"/>
                    <a:pt x="4030980" y="97790"/>
                    <a:pt x="4119880" y="113030"/>
                  </a:cubicBezTo>
                  <a:cubicBezTo>
                    <a:pt x="4173220" y="121920"/>
                    <a:pt x="4227830" y="138430"/>
                    <a:pt x="4273550" y="165100"/>
                  </a:cubicBezTo>
                  <a:cubicBezTo>
                    <a:pt x="4323080" y="193040"/>
                    <a:pt x="4361180" y="238760"/>
                    <a:pt x="4405630" y="276860"/>
                  </a:cubicBezTo>
                  <a:cubicBezTo>
                    <a:pt x="4422139" y="290830"/>
                    <a:pt x="4446270" y="300990"/>
                    <a:pt x="4457700" y="318770"/>
                  </a:cubicBezTo>
                  <a:cubicBezTo>
                    <a:pt x="4490720" y="367030"/>
                    <a:pt x="4519930" y="417830"/>
                    <a:pt x="4549140" y="468630"/>
                  </a:cubicBezTo>
                  <a:cubicBezTo>
                    <a:pt x="4570730" y="505460"/>
                    <a:pt x="4592320" y="543560"/>
                    <a:pt x="4608830" y="581660"/>
                  </a:cubicBezTo>
                  <a:cubicBezTo>
                    <a:pt x="4626610" y="626110"/>
                    <a:pt x="4640580" y="671830"/>
                    <a:pt x="4654550" y="718820"/>
                  </a:cubicBezTo>
                  <a:cubicBezTo>
                    <a:pt x="4676140" y="792480"/>
                    <a:pt x="4701540" y="866140"/>
                    <a:pt x="4715510" y="942340"/>
                  </a:cubicBezTo>
                  <a:cubicBezTo>
                    <a:pt x="4735830" y="1049020"/>
                    <a:pt x="4745990" y="1158240"/>
                    <a:pt x="4761230" y="1266190"/>
                  </a:cubicBezTo>
                  <a:cubicBezTo>
                    <a:pt x="4766310" y="1301750"/>
                    <a:pt x="4772660" y="1337310"/>
                    <a:pt x="4775200" y="1372870"/>
                  </a:cubicBezTo>
                  <a:cubicBezTo>
                    <a:pt x="4782820" y="1474470"/>
                    <a:pt x="4787900" y="1574800"/>
                    <a:pt x="4794250" y="1676400"/>
                  </a:cubicBezTo>
                  <a:cubicBezTo>
                    <a:pt x="4803140" y="1802130"/>
                    <a:pt x="4815840" y="1926590"/>
                    <a:pt x="4822190" y="2052320"/>
                  </a:cubicBezTo>
                  <a:cubicBezTo>
                    <a:pt x="4828540" y="2172970"/>
                    <a:pt x="4833620" y="2294890"/>
                    <a:pt x="4831080" y="2416810"/>
                  </a:cubicBezTo>
                  <a:cubicBezTo>
                    <a:pt x="4827270" y="2620010"/>
                    <a:pt x="4817110" y="2821940"/>
                    <a:pt x="4806950" y="3025140"/>
                  </a:cubicBezTo>
                  <a:cubicBezTo>
                    <a:pt x="4800600" y="3150870"/>
                    <a:pt x="4791710" y="3275330"/>
                    <a:pt x="4779010" y="3399790"/>
                  </a:cubicBezTo>
                  <a:cubicBezTo>
                    <a:pt x="4766310" y="3524250"/>
                    <a:pt x="4747260" y="3647440"/>
                    <a:pt x="4733290" y="3771900"/>
                  </a:cubicBezTo>
                  <a:cubicBezTo>
                    <a:pt x="4723130" y="3858260"/>
                    <a:pt x="4720590" y="3944620"/>
                    <a:pt x="4709160" y="4029710"/>
                  </a:cubicBezTo>
                  <a:cubicBezTo>
                    <a:pt x="4699000" y="4107180"/>
                    <a:pt x="4660900" y="4175760"/>
                    <a:pt x="4610100" y="4232910"/>
                  </a:cubicBezTo>
                  <a:cubicBezTo>
                    <a:pt x="4568191" y="4281170"/>
                    <a:pt x="4535170" y="4335780"/>
                    <a:pt x="4491991" y="4382770"/>
                  </a:cubicBezTo>
                  <a:cubicBezTo>
                    <a:pt x="4453891" y="4424679"/>
                    <a:pt x="4411981" y="4466590"/>
                    <a:pt x="4345941" y="4467860"/>
                  </a:cubicBezTo>
                  <a:cubicBezTo>
                    <a:pt x="4330700" y="4467860"/>
                    <a:pt x="4316731" y="4483100"/>
                    <a:pt x="4301491" y="4490720"/>
                  </a:cubicBezTo>
                  <a:cubicBezTo>
                    <a:pt x="4236720" y="4518660"/>
                    <a:pt x="4169411" y="4542790"/>
                    <a:pt x="4105911" y="4573270"/>
                  </a:cubicBezTo>
                  <a:cubicBezTo>
                    <a:pt x="3989070" y="4629150"/>
                    <a:pt x="3863341" y="4638040"/>
                    <a:pt x="3737611" y="4643120"/>
                  </a:cubicBezTo>
                  <a:cubicBezTo>
                    <a:pt x="3689351" y="4645660"/>
                    <a:pt x="3639820" y="4641850"/>
                    <a:pt x="3591561" y="4645660"/>
                  </a:cubicBezTo>
                  <a:cubicBezTo>
                    <a:pt x="3567431" y="4646930"/>
                    <a:pt x="3544570" y="4658360"/>
                    <a:pt x="3521711" y="4663440"/>
                  </a:cubicBezTo>
                  <a:cubicBezTo>
                    <a:pt x="3511551" y="4665980"/>
                    <a:pt x="3501391" y="4664710"/>
                    <a:pt x="3489961" y="4665980"/>
                  </a:cubicBezTo>
                  <a:cubicBezTo>
                    <a:pt x="3474720" y="4667250"/>
                    <a:pt x="3459481" y="4671060"/>
                    <a:pt x="3444241" y="4669790"/>
                  </a:cubicBezTo>
                  <a:cubicBezTo>
                    <a:pt x="3429000" y="4667250"/>
                    <a:pt x="3418841" y="4662170"/>
                    <a:pt x="3416300" y="4662170"/>
                  </a:cubicBezTo>
                  <a:close/>
                </a:path>
              </a:pathLst>
            </a:custGeom>
            <a:blipFill>
              <a:blip r:embed="rId8"/>
              <a:stretch>
                <a:fillRect l="-4135" t="0" r="-4135" b="0"/>
              </a:stretch>
            </a:blipFill>
          </p:spPr>
        </p:sp>
      </p:grpSp>
      <p:sp>
        <p:nvSpPr>
          <p:cNvPr name="TextBox 14" id="14"/>
          <p:cNvSpPr txBox="true"/>
          <p:nvPr/>
        </p:nvSpPr>
        <p:spPr>
          <a:xfrm rot="0">
            <a:off x="6510404" y="7460524"/>
            <a:ext cx="5242420" cy="792698"/>
          </a:xfrm>
          <a:prstGeom prst="rect">
            <a:avLst/>
          </a:prstGeom>
        </p:spPr>
        <p:txBody>
          <a:bodyPr anchor="t" rtlCol="false" tIns="0" lIns="0" bIns="0" rIns="0">
            <a:spAutoFit/>
          </a:bodyPr>
          <a:lstStyle/>
          <a:p>
            <a:pPr algn="ctr">
              <a:lnSpc>
                <a:spcPts val="3014"/>
              </a:lnSpc>
            </a:pPr>
            <a:r>
              <a:rPr lang="en-US" sz="2152">
                <a:solidFill>
                  <a:srgbClr val="000000"/>
                </a:solidFill>
                <a:latin typeface="อีฟดอวอิ้ง"/>
              </a:rPr>
              <a:t>Methyl red test-strain 1,2,4 is positive, strain 3 are negative </a:t>
            </a:r>
          </a:p>
        </p:txBody>
      </p:sp>
      <p:grpSp>
        <p:nvGrpSpPr>
          <p:cNvPr name="Group 15" id="15"/>
          <p:cNvGrpSpPr>
            <a:grpSpLocks noChangeAspect="true"/>
          </p:cNvGrpSpPr>
          <p:nvPr/>
        </p:nvGrpSpPr>
        <p:grpSpPr>
          <a:xfrm rot="0">
            <a:off x="11880231" y="2785606"/>
            <a:ext cx="4692273" cy="4583667"/>
            <a:chOff x="0" y="0"/>
            <a:chExt cx="4828540" cy="4716780"/>
          </a:xfrm>
        </p:grpSpPr>
        <p:sp>
          <p:nvSpPr>
            <p:cNvPr name="Freeform 16" id="16"/>
            <p:cNvSpPr/>
            <p:nvPr/>
          </p:nvSpPr>
          <p:spPr>
            <a:xfrm flipH="false" flipV="false" rot="0">
              <a:off x="0" y="-7620"/>
              <a:ext cx="4833620" cy="4726940"/>
            </a:xfrm>
            <a:custGeom>
              <a:avLst/>
              <a:gdLst/>
              <a:ahLst/>
              <a:cxnLst/>
              <a:rect r="r" b="b" t="t" l="l"/>
              <a:pathLst>
                <a:path h="4726940" w="4833620">
                  <a:moveTo>
                    <a:pt x="3416300" y="4662170"/>
                  </a:moveTo>
                  <a:cubicBezTo>
                    <a:pt x="3388360" y="4669790"/>
                    <a:pt x="3366770" y="4679950"/>
                    <a:pt x="3345180" y="4682490"/>
                  </a:cubicBezTo>
                  <a:cubicBezTo>
                    <a:pt x="3223260" y="4692650"/>
                    <a:pt x="3102610" y="4702810"/>
                    <a:pt x="2980690" y="4711700"/>
                  </a:cubicBezTo>
                  <a:cubicBezTo>
                    <a:pt x="2918460" y="4715510"/>
                    <a:pt x="2856230" y="4719320"/>
                    <a:pt x="2794000" y="4720590"/>
                  </a:cubicBezTo>
                  <a:cubicBezTo>
                    <a:pt x="2726690" y="4723130"/>
                    <a:pt x="2659380" y="4726940"/>
                    <a:pt x="2593340" y="4724400"/>
                  </a:cubicBezTo>
                  <a:cubicBezTo>
                    <a:pt x="2529840" y="4723130"/>
                    <a:pt x="2466340" y="4719320"/>
                    <a:pt x="2405380" y="4707890"/>
                  </a:cubicBezTo>
                  <a:cubicBezTo>
                    <a:pt x="2326640" y="4693920"/>
                    <a:pt x="2246630" y="4693920"/>
                    <a:pt x="2169160" y="4681220"/>
                  </a:cubicBezTo>
                  <a:cubicBezTo>
                    <a:pt x="1967230" y="4648200"/>
                    <a:pt x="1761490" y="4657090"/>
                    <a:pt x="1558290" y="4643120"/>
                  </a:cubicBezTo>
                  <a:cubicBezTo>
                    <a:pt x="1443990" y="4635500"/>
                    <a:pt x="1329690" y="4617720"/>
                    <a:pt x="1215390" y="4602480"/>
                  </a:cubicBezTo>
                  <a:cubicBezTo>
                    <a:pt x="1085850" y="4585970"/>
                    <a:pt x="956310" y="4566920"/>
                    <a:pt x="825500" y="4549140"/>
                  </a:cubicBezTo>
                  <a:cubicBezTo>
                    <a:pt x="730250" y="4536440"/>
                    <a:pt x="633730" y="4523740"/>
                    <a:pt x="538480" y="4511040"/>
                  </a:cubicBezTo>
                  <a:cubicBezTo>
                    <a:pt x="535940" y="4511040"/>
                    <a:pt x="533400" y="4509770"/>
                    <a:pt x="530860" y="4509770"/>
                  </a:cubicBezTo>
                  <a:cubicBezTo>
                    <a:pt x="450850" y="4475479"/>
                    <a:pt x="365760" y="4448810"/>
                    <a:pt x="292100" y="4404360"/>
                  </a:cubicBezTo>
                  <a:cubicBezTo>
                    <a:pt x="167640" y="4328160"/>
                    <a:pt x="114300" y="4206240"/>
                    <a:pt x="109220" y="4062730"/>
                  </a:cubicBezTo>
                  <a:cubicBezTo>
                    <a:pt x="107950" y="4013200"/>
                    <a:pt x="101600" y="3964940"/>
                    <a:pt x="101600" y="3915410"/>
                  </a:cubicBezTo>
                  <a:cubicBezTo>
                    <a:pt x="102870" y="3846830"/>
                    <a:pt x="107950" y="3779520"/>
                    <a:pt x="111760" y="3712210"/>
                  </a:cubicBezTo>
                  <a:cubicBezTo>
                    <a:pt x="121920" y="3511550"/>
                    <a:pt x="127000" y="3310890"/>
                    <a:pt x="111760" y="3110230"/>
                  </a:cubicBezTo>
                  <a:cubicBezTo>
                    <a:pt x="97790" y="2929890"/>
                    <a:pt x="85090" y="2750820"/>
                    <a:pt x="71120" y="2570480"/>
                  </a:cubicBezTo>
                  <a:cubicBezTo>
                    <a:pt x="62230" y="2454910"/>
                    <a:pt x="50800" y="2340610"/>
                    <a:pt x="43180" y="2225040"/>
                  </a:cubicBezTo>
                  <a:cubicBezTo>
                    <a:pt x="38100" y="2148840"/>
                    <a:pt x="39370" y="2071370"/>
                    <a:pt x="34290" y="1995170"/>
                  </a:cubicBezTo>
                  <a:cubicBezTo>
                    <a:pt x="31750" y="1951990"/>
                    <a:pt x="17780" y="1910080"/>
                    <a:pt x="16510" y="1866900"/>
                  </a:cubicBezTo>
                  <a:cubicBezTo>
                    <a:pt x="11430" y="1762760"/>
                    <a:pt x="10160" y="1657350"/>
                    <a:pt x="7620" y="1551940"/>
                  </a:cubicBezTo>
                  <a:cubicBezTo>
                    <a:pt x="6350" y="1511300"/>
                    <a:pt x="0" y="1470660"/>
                    <a:pt x="1270" y="1430020"/>
                  </a:cubicBezTo>
                  <a:cubicBezTo>
                    <a:pt x="2540" y="1366520"/>
                    <a:pt x="10160" y="1303020"/>
                    <a:pt x="11430" y="1239520"/>
                  </a:cubicBezTo>
                  <a:cubicBezTo>
                    <a:pt x="12700" y="1165860"/>
                    <a:pt x="5080" y="1092200"/>
                    <a:pt x="7620" y="1019810"/>
                  </a:cubicBezTo>
                  <a:cubicBezTo>
                    <a:pt x="7620" y="949960"/>
                    <a:pt x="16510" y="881380"/>
                    <a:pt x="25400" y="811530"/>
                  </a:cubicBezTo>
                  <a:cubicBezTo>
                    <a:pt x="27940" y="787400"/>
                    <a:pt x="45720" y="765810"/>
                    <a:pt x="50800" y="741680"/>
                  </a:cubicBezTo>
                  <a:cubicBezTo>
                    <a:pt x="72390" y="622300"/>
                    <a:pt x="95250" y="502920"/>
                    <a:pt x="151130" y="392430"/>
                  </a:cubicBezTo>
                  <a:cubicBezTo>
                    <a:pt x="163830" y="368300"/>
                    <a:pt x="184150" y="346710"/>
                    <a:pt x="203200" y="327660"/>
                  </a:cubicBezTo>
                  <a:cubicBezTo>
                    <a:pt x="209550" y="321310"/>
                    <a:pt x="224790" y="325120"/>
                    <a:pt x="228600" y="325120"/>
                  </a:cubicBezTo>
                  <a:cubicBezTo>
                    <a:pt x="237490" y="308610"/>
                    <a:pt x="242570" y="292100"/>
                    <a:pt x="252730" y="284480"/>
                  </a:cubicBezTo>
                  <a:cubicBezTo>
                    <a:pt x="307340" y="242570"/>
                    <a:pt x="364490" y="212090"/>
                    <a:pt x="435610" y="204470"/>
                  </a:cubicBezTo>
                  <a:cubicBezTo>
                    <a:pt x="488950" y="198120"/>
                    <a:pt x="541020" y="175260"/>
                    <a:pt x="594360" y="162560"/>
                  </a:cubicBezTo>
                  <a:cubicBezTo>
                    <a:pt x="659130" y="147320"/>
                    <a:pt x="723900" y="129540"/>
                    <a:pt x="791210" y="120650"/>
                  </a:cubicBezTo>
                  <a:cubicBezTo>
                    <a:pt x="852170" y="113030"/>
                    <a:pt x="910590" y="96520"/>
                    <a:pt x="972820" y="91440"/>
                  </a:cubicBezTo>
                  <a:cubicBezTo>
                    <a:pt x="1036320" y="86360"/>
                    <a:pt x="1099820" y="71120"/>
                    <a:pt x="1164590" y="66040"/>
                  </a:cubicBezTo>
                  <a:cubicBezTo>
                    <a:pt x="1339850" y="53340"/>
                    <a:pt x="1516380" y="44450"/>
                    <a:pt x="1691640" y="34290"/>
                  </a:cubicBezTo>
                  <a:cubicBezTo>
                    <a:pt x="1734820" y="31750"/>
                    <a:pt x="1778000" y="34290"/>
                    <a:pt x="1821180" y="35560"/>
                  </a:cubicBezTo>
                  <a:cubicBezTo>
                    <a:pt x="1842770" y="36830"/>
                    <a:pt x="1864360" y="41910"/>
                    <a:pt x="1887220" y="44450"/>
                  </a:cubicBezTo>
                  <a:cubicBezTo>
                    <a:pt x="1897380" y="45720"/>
                    <a:pt x="1907540" y="41910"/>
                    <a:pt x="1917700" y="41910"/>
                  </a:cubicBezTo>
                  <a:cubicBezTo>
                    <a:pt x="1948180" y="41910"/>
                    <a:pt x="1979930" y="41910"/>
                    <a:pt x="2010410" y="40640"/>
                  </a:cubicBezTo>
                  <a:cubicBezTo>
                    <a:pt x="2068830" y="38100"/>
                    <a:pt x="2128520" y="31750"/>
                    <a:pt x="2186940" y="31750"/>
                  </a:cubicBezTo>
                  <a:cubicBezTo>
                    <a:pt x="2244090" y="31750"/>
                    <a:pt x="2301240" y="35560"/>
                    <a:pt x="2358390" y="38100"/>
                  </a:cubicBezTo>
                  <a:lnTo>
                    <a:pt x="2404110" y="38100"/>
                  </a:lnTo>
                  <a:cubicBezTo>
                    <a:pt x="2473960" y="35560"/>
                    <a:pt x="2542540" y="35560"/>
                    <a:pt x="2612390" y="31750"/>
                  </a:cubicBezTo>
                  <a:cubicBezTo>
                    <a:pt x="2679700" y="27940"/>
                    <a:pt x="2745740" y="19050"/>
                    <a:pt x="2813050" y="15240"/>
                  </a:cubicBezTo>
                  <a:cubicBezTo>
                    <a:pt x="2844800" y="12700"/>
                    <a:pt x="2877820" y="12700"/>
                    <a:pt x="2909570" y="19050"/>
                  </a:cubicBezTo>
                  <a:cubicBezTo>
                    <a:pt x="2957830" y="27940"/>
                    <a:pt x="3003550" y="33020"/>
                    <a:pt x="3051810" y="19050"/>
                  </a:cubicBezTo>
                  <a:cubicBezTo>
                    <a:pt x="3069590" y="13970"/>
                    <a:pt x="3092450" y="22860"/>
                    <a:pt x="3112770" y="25400"/>
                  </a:cubicBezTo>
                  <a:cubicBezTo>
                    <a:pt x="3121660" y="26670"/>
                    <a:pt x="3131820" y="29210"/>
                    <a:pt x="3136900" y="25400"/>
                  </a:cubicBezTo>
                  <a:cubicBezTo>
                    <a:pt x="3171190" y="0"/>
                    <a:pt x="3202940" y="6350"/>
                    <a:pt x="3235960" y="27940"/>
                  </a:cubicBezTo>
                  <a:cubicBezTo>
                    <a:pt x="3239770" y="30480"/>
                    <a:pt x="3249930" y="24130"/>
                    <a:pt x="3257550" y="24130"/>
                  </a:cubicBezTo>
                  <a:cubicBezTo>
                    <a:pt x="3288030" y="24130"/>
                    <a:pt x="3318510" y="24130"/>
                    <a:pt x="3350260" y="25400"/>
                  </a:cubicBezTo>
                  <a:cubicBezTo>
                    <a:pt x="3373120" y="26670"/>
                    <a:pt x="3394710" y="34290"/>
                    <a:pt x="3417570" y="36830"/>
                  </a:cubicBezTo>
                  <a:cubicBezTo>
                    <a:pt x="3467100" y="43180"/>
                    <a:pt x="3517900" y="53340"/>
                    <a:pt x="3568700" y="53340"/>
                  </a:cubicBezTo>
                  <a:cubicBezTo>
                    <a:pt x="3663950" y="54610"/>
                    <a:pt x="3759200" y="58420"/>
                    <a:pt x="3853180" y="78740"/>
                  </a:cubicBezTo>
                  <a:cubicBezTo>
                    <a:pt x="3940809" y="97790"/>
                    <a:pt x="4030980" y="97790"/>
                    <a:pt x="4119880" y="113030"/>
                  </a:cubicBezTo>
                  <a:cubicBezTo>
                    <a:pt x="4173220" y="121920"/>
                    <a:pt x="4227830" y="138430"/>
                    <a:pt x="4273550" y="165100"/>
                  </a:cubicBezTo>
                  <a:cubicBezTo>
                    <a:pt x="4323080" y="193040"/>
                    <a:pt x="4361180" y="238760"/>
                    <a:pt x="4405630" y="276860"/>
                  </a:cubicBezTo>
                  <a:cubicBezTo>
                    <a:pt x="4422139" y="290830"/>
                    <a:pt x="4446270" y="300990"/>
                    <a:pt x="4457700" y="318770"/>
                  </a:cubicBezTo>
                  <a:cubicBezTo>
                    <a:pt x="4490720" y="367030"/>
                    <a:pt x="4519930" y="417830"/>
                    <a:pt x="4549140" y="468630"/>
                  </a:cubicBezTo>
                  <a:cubicBezTo>
                    <a:pt x="4570730" y="505460"/>
                    <a:pt x="4592320" y="543560"/>
                    <a:pt x="4608830" y="581660"/>
                  </a:cubicBezTo>
                  <a:cubicBezTo>
                    <a:pt x="4626610" y="626110"/>
                    <a:pt x="4640580" y="671830"/>
                    <a:pt x="4654550" y="718820"/>
                  </a:cubicBezTo>
                  <a:cubicBezTo>
                    <a:pt x="4676140" y="792480"/>
                    <a:pt x="4701540" y="866140"/>
                    <a:pt x="4715510" y="942340"/>
                  </a:cubicBezTo>
                  <a:cubicBezTo>
                    <a:pt x="4735830" y="1049020"/>
                    <a:pt x="4745990" y="1158240"/>
                    <a:pt x="4761230" y="1266190"/>
                  </a:cubicBezTo>
                  <a:cubicBezTo>
                    <a:pt x="4766310" y="1301750"/>
                    <a:pt x="4772660" y="1337310"/>
                    <a:pt x="4775200" y="1372870"/>
                  </a:cubicBezTo>
                  <a:cubicBezTo>
                    <a:pt x="4782820" y="1474470"/>
                    <a:pt x="4787900" y="1574800"/>
                    <a:pt x="4794250" y="1676400"/>
                  </a:cubicBezTo>
                  <a:cubicBezTo>
                    <a:pt x="4803140" y="1802130"/>
                    <a:pt x="4815840" y="1926590"/>
                    <a:pt x="4822190" y="2052320"/>
                  </a:cubicBezTo>
                  <a:cubicBezTo>
                    <a:pt x="4828540" y="2172970"/>
                    <a:pt x="4833620" y="2294890"/>
                    <a:pt x="4831080" y="2416810"/>
                  </a:cubicBezTo>
                  <a:cubicBezTo>
                    <a:pt x="4827270" y="2620010"/>
                    <a:pt x="4817110" y="2821940"/>
                    <a:pt x="4806950" y="3025140"/>
                  </a:cubicBezTo>
                  <a:cubicBezTo>
                    <a:pt x="4800600" y="3150870"/>
                    <a:pt x="4791710" y="3275330"/>
                    <a:pt x="4779010" y="3399790"/>
                  </a:cubicBezTo>
                  <a:cubicBezTo>
                    <a:pt x="4766310" y="3524250"/>
                    <a:pt x="4747260" y="3647440"/>
                    <a:pt x="4733290" y="3771900"/>
                  </a:cubicBezTo>
                  <a:cubicBezTo>
                    <a:pt x="4723130" y="3858260"/>
                    <a:pt x="4720590" y="3944620"/>
                    <a:pt x="4709160" y="4029710"/>
                  </a:cubicBezTo>
                  <a:cubicBezTo>
                    <a:pt x="4699000" y="4107180"/>
                    <a:pt x="4660900" y="4175760"/>
                    <a:pt x="4610100" y="4232910"/>
                  </a:cubicBezTo>
                  <a:cubicBezTo>
                    <a:pt x="4568191" y="4281170"/>
                    <a:pt x="4535170" y="4335780"/>
                    <a:pt x="4491991" y="4382770"/>
                  </a:cubicBezTo>
                  <a:cubicBezTo>
                    <a:pt x="4453891" y="4424679"/>
                    <a:pt x="4411981" y="4466590"/>
                    <a:pt x="4345941" y="4467860"/>
                  </a:cubicBezTo>
                  <a:cubicBezTo>
                    <a:pt x="4330700" y="4467860"/>
                    <a:pt x="4316731" y="4483100"/>
                    <a:pt x="4301491" y="4490720"/>
                  </a:cubicBezTo>
                  <a:cubicBezTo>
                    <a:pt x="4236720" y="4518660"/>
                    <a:pt x="4169411" y="4542790"/>
                    <a:pt x="4105911" y="4573270"/>
                  </a:cubicBezTo>
                  <a:cubicBezTo>
                    <a:pt x="3989070" y="4629150"/>
                    <a:pt x="3863341" y="4638040"/>
                    <a:pt x="3737611" y="4643120"/>
                  </a:cubicBezTo>
                  <a:cubicBezTo>
                    <a:pt x="3689351" y="4645660"/>
                    <a:pt x="3639820" y="4641850"/>
                    <a:pt x="3591561" y="4645660"/>
                  </a:cubicBezTo>
                  <a:cubicBezTo>
                    <a:pt x="3567431" y="4646930"/>
                    <a:pt x="3544570" y="4658360"/>
                    <a:pt x="3521711" y="4663440"/>
                  </a:cubicBezTo>
                  <a:cubicBezTo>
                    <a:pt x="3511551" y="4665980"/>
                    <a:pt x="3501391" y="4664710"/>
                    <a:pt x="3489961" y="4665980"/>
                  </a:cubicBezTo>
                  <a:cubicBezTo>
                    <a:pt x="3474720" y="4667250"/>
                    <a:pt x="3459481" y="4671060"/>
                    <a:pt x="3444241" y="4669790"/>
                  </a:cubicBezTo>
                  <a:cubicBezTo>
                    <a:pt x="3429000" y="4667250"/>
                    <a:pt x="3418841" y="4662170"/>
                    <a:pt x="3416300" y="4662170"/>
                  </a:cubicBezTo>
                  <a:close/>
                </a:path>
              </a:pathLst>
            </a:custGeom>
            <a:blipFill>
              <a:blip r:embed="rId9"/>
              <a:stretch>
                <a:fillRect l="-1488" t="0" r="-1488" b="0"/>
              </a:stretch>
            </a:blipFill>
          </p:spPr>
        </p:sp>
      </p:grpSp>
      <p:sp>
        <p:nvSpPr>
          <p:cNvPr name="TextBox 17" id="17"/>
          <p:cNvSpPr txBox="true"/>
          <p:nvPr/>
        </p:nvSpPr>
        <p:spPr>
          <a:xfrm rot="0">
            <a:off x="11582864" y="7576072"/>
            <a:ext cx="4945053" cy="590178"/>
          </a:xfrm>
          <a:prstGeom prst="rect">
            <a:avLst/>
          </a:prstGeom>
        </p:spPr>
        <p:txBody>
          <a:bodyPr anchor="t" rtlCol="false" tIns="0" lIns="0" bIns="0" rIns="0">
            <a:spAutoFit/>
          </a:bodyPr>
          <a:lstStyle/>
          <a:p>
            <a:pPr algn="ctr">
              <a:lnSpc>
                <a:spcPts val="2287"/>
              </a:lnSpc>
            </a:pPr>
            <a:r>
              <a:rPr lang="en-US" sz="1633">
                <a:solidFill>
                  <a:srgbClr val="000000"/>
                </a:solidFill>
                <a:latin typeface="อีฟดอวอิ้ง"/>
              </a:rPr>
              <a:t>VP test- stain 4 are positive while stain 1 2,3 are negative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525174" y="-2459830"/>
            <a:ext cx="9237651" cy="15287104"/>
          </a:xfrm>
          <a:custGeom>
            <a:avLst/>
            <a:gdLst/>
            <a:ahLst/>
            <a:cxnLst/>
            <a:rect r="r" b="b" t="t" l="l"/>
            <a:pathLst>
              <a:path h="15287104" w="9237651">
                <a:moveTo>
                  <a:pt x="0" y="0"/>
                </a:moveTo>
                <a:lnTo>
                  <a:pt x="9237652" y="0"/>
                </a:lnTo>
                <a:lnTo>
                  <a:pt x="9237652" y="15287104"/>
                </a:lnTo>
                <a:lnTo>
                  <a:pt x="0" y="15287104"/>
                </a:lnTo>
                <a:lnTo>
                  <a:pt x="0" y="0"/>
                </a:lnTo>
                <a:close/>
              </a:path>
            </a:pathLst>
          </a:custGeom>
          <a:blipFill>
            <a:blip r:embed="rId2">
              <a:alphaModFix amt="71000"/>
            </a:blip>
            <a:stretch>
              <a:fillRect l="-9651" t="0" r="-12187" b="0"/>
            </a:stretch>
          </a:blipFill>
        </p:spPr>
      </p:sp>
      <p:sp>
        <p:nvSpPr>
          <p:cNvPr name="Freeform 3" id="3"/>
          <p:cNvSpPr/>
          <p:nvPr/>
        </p:nvSpPr>
        <p:spPr>
          <a:xfrm flipH="false" flipV="true" rot="5400000">
            <a:off x="-3184858" y="4931786"/>
            <a:ext cx="9237651" cy="503872"/>
          </a:xfrm>
          <a:custGeom>
            <a:avLst/>
            <a:gdLst/>
            <a:ahLst/>
            <a:cxnLst/>
            <a:rect r="r" b="b" t="t" l="l"/>
            <a:pathLst>
              <a:path h="503872" w="9237651">
                <a:moveTo>
                  <a:pt x="0" y="503872"/>
                </a:moveTo>
                <a:lnTo>
                  <a:pt x="9237651" y="503872"/>
                </a:lnTo>
                <a:lnTo>
                  <a:pt x="9237651" y="0"/>
                </a:lnTo>
                <a:lnTo>
                  <a:pt x="0" y="0"/>
                </a:lnTo>
                <a:lnTo>
                  <a:pt x="0"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5400000">
            <a:off x="12205614" y="4891564"/>
            <a:ext cx="9237651" cy="503872"/>
          </a:xfrm>
          <a:custGeom>
            <a:avLst/>
            <a:gdLst/>
            <a:ahLst/>
            <a:cxnLst/>
            <a:rect r="r" b="b" t="t" l="l"/>
            <a:pathLst>
              <a:path h="503872" w="9237651">
                <a:moveTo>
                  <a:pt x="9237652" y="503872"/>
                </a:moveTo>
                <a:lnTo>
                  <a:pt x="0" y="503872"/>
                </a:lnTo>
                <a:lnTo>
                  <a:pt x="0" y="0"/>
                </a:lnTo>
                <a:lnTo>
                  <a:pt x="9237652" y="0"/>
                </a:lnTo>
                <a:lnTo>
                  <a:pt x="9237652"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482739" y="1028700"/>
            <a:ext cx="1597839" cy="1597839"/>
          </a:xfrm>
          <a:custGeom>
            <a:avLst/>
            <a:gdLst/>
            <a:ahLst/>
            <a:cxnLst/>
            <a:rect r="r" b="b" t="t" l="l"/>
            <a:pathLst>
              <a:path h="1597839" w="1597839">
                <a:moveTo>
                  <a:pt x="0" y="0"/>
                </a:moveTo>
                <a:lnTo>
                  <a:pt x="1597838" y="0"/>
                </a:lnTo>
                <a:lnTo>
                  <a:pt x="1597838" y="1597839"/>
                </a:lnTo>
                <a:lnTo>
                  <a:pt x="0" y="159783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5119676" y="812902"/>
            <a:ext cx="8023877" cy="2200640"/>
          </a:xfrm>
          <a:prstGeom prst="rect">
            <a:avLst/>
          </a:prstGeom>
        </p:spPr>
        <p:txBody>
          <a:bodyPr anchor="t" rtlCol="false" tIns="0" lIns="0" bIns="0" rIns="0">
            <a:spAutoFit/>
          </a:bodyPr>
          <a:lstStyle/>
          <a:p>
            <a:pPr algn="ctr">
              <a:lnSpc>
                <a:spcPts val="17955"/>
              </a:lnSpc>
            </a:pPr>
            <a:r>
              <a:rPr lang="en-US" sz="12825">
                <a:solidFill>
                  <a:srgbClr val="000000"/>
                </a:solidFill>
                <a:latin typeface="Porcelain"/>
              </a:rPr>
              <a:t>Result</a:t>
            </a:r>
          </a:p>
        </p:txBody>
      </p:sp>
      <p:grpSp>
        <p:nvGrpSpPr>
          <p:cNvPr name="Group 7" id="7"/>
          <p:cNvGrpSpPr/>
          <p:nvPr/>
        </p:nvGrpSpPr>
        <p:grpSpPr>
          <a:xfrm rot="0">
            <a:off x="7805261" y="2467471"/>
            <a:ext cx="2677478" cy="318135"/>
            <a:chOff x="0" y="0"/>
            <a:chExt cx="3569970" cy="424180"/>
          </a:xfrm>
        </p:grpSpPr>
        <p:sp>
          <p:nvSpPr>
            <p:cNvPr name="Freeform 8" id="8"/>
            <p:cNvSpPr/>
            <p:nvPr/>
          </p:nvSpPr>
          <p:spPr>
            <a:xfrm flipH="false" flipV="false" rot="0">
              <a:off x="46990" y="27940"/>
              <a:ext cx="3473450" cy="359410"/>
            </a:xfrm>
            <a:custGeom>
              <a:avLst/>
              <a:gdLst/>
              <a:ahLst/>
              <a:cxnLst/>
              <a:rect r="r" b="b" t="t" l="l"/>
              <a:pathLst>
                <a:path h="359410" w="3473450">
                  <a:moveTo>
                    <a:pt x="3810" y="215900"/>
                  </a:moveTo>
                  <a:cubicBezTo>
                    <a:pt x="50800" y="160020"/>
                    <a:pt x="125730" y="128270"/>
                    <a:pt x="166370" y="111760"/>
                  </a:cubicBezTo>
                  <a:cubicBezTo>
                    <a:pt x="195580" y="100330"/>
                    <a:pt x="209550" y="95250"/>
                    <a:pt x="242570" y="88900"/>
                  </a:cubicBezTo>
                  <a:cubicBezTo>
                    <a:pt x="298450" y="77470"/>
                    <a:pt x="391160" y="64770"/>
                    <a:pt x="477520" y="59690"/>
                  </a:cubicBezTo>
                  <a:cubicBezTo>
                    <a:pt x="584200" y="53340"/>
                    <a:pt x="735330" y="39370"/>
                    <a:pt x="836930" y="58420"/>
                  </a:cubicBezTo>
                  <a:cubicBezTo>
                    <a:pt x="918210" y="73660"/>
                    <a:pt x="982980" y="107950"/>
                    <a:pt x="1046480" y="142240"/>
                  </a:cubicBezTo>
                  <a:cubicBezTo>
                    <a:pt x="1104900" y="172720"/>
                    <a:pt x="1143000" y="224790"/>
                    <a:pt x="1202690" y="250190"/>
                  </a:cubicBezTo>
                  <a:cubicBezTo>
                    <a:pt x="1270000" y="278130"/>
                    <a:pt x="1362710" y="288290"/>
                    <a:pt x="1435100" y="294640"/>
                  </a:cubicBezTo>
                  <a:cubicBezTo>
                    <a:pt x="1496060" y="300990"/>
                    <a:pt x="1532890" y="304800"/>
                    <a:pt x="1606550" y="294640"/>
                  </a:cubicBezTo>
                  <a:cubicBezTo>
                    <a:pt x="1748790" y="275590"/>
                    <a:pt x="2110740" y="161290"/>
                    <a:pt x="2216150" y="124460"/>
                  </a:cubicBezTo>
                  <a:cubicBezTo>
                    <a:pt x="2254250" y="110490"/>
                    <a:pt x="2256790" y="101600"/>
                    <a:pt x="2292350" y="91440"/>
                  </a:cubicBezTo>
                  <a:cubicBezTo>
                    <a:pt x="2371090" y="68580"/>
                    <a:pt x="2557780" y="36830"/>
                    <a:pt x="2683510" y="25400"/>
                  </a:cubicBezTo>
                  <a:cubicBezTo>
                    <a:pt x="2800350" y="15240"/>
                    <a:pt x="2926080" y="0"/>
                    <a:pt x="3022600" y="22860"/>
                  </a:cubicBezTo>
                  <a:cubicBezTo>
                    <a:pt x="3101340" y="41910"/>
                    <a:pt x="3181350" y="114300"/>
                    <a:pt x="3223260" y="127000"/>
                  </a:cubicBezTo>
                  <a:cubicBezTo>
                    <a:pt x="3241040" y="132080"/>
                    <a:pt x="3247390" y="130810"/>
                    <a:pt x="3263900" y="130810"/>
                  </a:cubicBezTo>
                  <a:cubicBezTo>
                    <a:pt x="3286760" y="129540"/>
                    <a:pt x="3319780" y="125730"/>
                    <a:pt x="3347720" y="116840"/>
                  </a:cubicBezTo>
                  <a:cubicBezTo>
                    <a:pt x="3379470" y="107950"/>
                    <a:pt x="3421380" y="72390"/>
                    <a:pt x="3442970" y="74930"/>
                  </a:cubicBezTo>
                  <a:cubicBezTo>
                    <a:pt x="3455670" y="76200"/>
                    <a:pt x="3470910" y="87630"/>
                    <a:pt x="3472180" y="96520"/>
                  </a:cubicBezTo>
                  <a:cubicBezTo>
                    <a:pt x="3473450" y="105410"/>
                    <a:pt x="3458210" y="124460"/>
                    <a:pt x="3449320" y="125730"/>
                  </a:cubicBezTo>
                  <a:cubicBezTo>
                    <a:pt x="3441700" y="127000"/>
                    <a:pt x="3427730" y="116840"/>
                    <a:pt x="3423920" y="109220"/>
                  </a:cubicBezTo>
                  <a:cubicBezTo>
                    <a:pt x="3421380" y="102870"/>
                    <a:pt x="3421380" y="90170"/>
                    <a:pt x="3426460" y="85090"/>
                  </a:cubicBezTo>
                  <a:cubicBezTo>
                    <a:pt x="3431540" y="78740"/>
                    <a:pt x="3448050" y="73660"/>
                    <a:pt x="3455670" y="76200"/>
                  </a:cubicBezTo>
                  <a:cubicBezTo>
                    <a:pt x="3463290" y="77470"/>
                    <a:pt x="3470910" y="87630"/>
                    <a:pt x="3472180" y="93980"/>
                  </a:cubicBezTo>
                  <a:cubicBezTo>
                    <a:pt x="3473450" y="100330"/>
                    <a:pt x="3470910" y="109220"/>
                    <a:pt x="3465830" y="116840"/>
                  </a:cubicBezTo>
                  <a:cubicBezTo>
                    <a:pt x="3456940" y="128270"/>
                    <a:pt x="3434080" y="138430"/>
                    <a:pt x="3412490" y="147320"/>
                  </a:cubicBezTo>
                  <a:cubicBezTo>
                    <a:pt x="3382010" y="160020"/>
                    <a:pt x="3333750" y="177800"/>
                    <a:pt x="3299460" y="181610"/>
                  </a:cubicBezTo>
                  <a:cubicBezTo>
                    <a:pt x="3270250" y="185420"/>
                    <a:pt x="3243580" y="182880"/>
                    <a:pt x="3219450" y="176530"/>
                  </a:cubicBezTo>
                  <a:cubicBezTo>
                    <a:pt x="3196590" y="170180"/>
                    <a:pt x="3169920" y="156210"/>
                    <a:pt x="3155950" y="144780"/>
                  </a:cubicBezTo>
                  <a:cubicBezTo>
                    <a:pt x="3147060" y="137160"/>
                    <a:pt x="3149600" y="129540"/>
                    <a:pt x="3139440" y="121920"/>
                  </a:cubicBezTo>
                  <a:cubicBezTo>
                    <a:pt x="3116580" y="105410"/>
                    <a:pt x="3054350" y="82550"/>
                    <a:pt x="2997200" y="73660"/>
                  </a:cubicBezTo>
                  <a:cubicBezTo>
                    <a:pt x="2914650" y="60960"/>
                    <a:pt x="2778760" y="69850"/>
                    <a:pt x="2689860" y="76200"/>
                  </a:cubicBezTo>
                  <a:cubicBezTo>
                    <a:pt x="2622550" y="81280"/>
                    <a:pt x="2573020" y="88900"/>
                    <a:pt x="2512060" y="99060"/>
                  </a:cubicBezTo>
                  <a:cubicBezTo>
                    <a:pt x="2447290" y="109220"/>
                    <a:pt x="2399030" y="116840"/>
                    <a:pt x="2312670" y="138430"/>
                  </a:cubicBezTo>
                  <a:cubicBezTo>
                    <a:pt x="2148840" y="179070"/>
                    <a:pt x="1781810" y="321310"/>
                    <a:pt x="1606550" y="345440"/>
                  </a:cubicBezTo>
                  <a:cubicBezTo>
                    <a:pt x="1504950" y="359410"/>
                    <a:pt x="1433830" y="350520"/>
                    <a:pt x="1362710" y="341630"/>
                  </a:cubicBezTo>
                  <a:cubicBezTo>
                    <a:pt x="1306830" y="334010"/>
                    <a:pt x="1247140" y="313690"/>
                    <a:pt x="1212850" y="303530"/>
                  </a:cubicBezTo>
                  <a:cubicBezTo>
                    <a:pt x="1195070" y="298450"/>
                    <a:pt x="1189990" y="298450"/>
                    <a:pt x="1173480" y="290830"/>
                  </a:cubicBezTo>
                  <a:cubicBezTo>
                    <a:pt x="1139190" y="274320"/>
                    <a:pt x="1080770" y="217170"/>
                    <a:pt x="1026160" y="187960"/>
                  </a:cubicBezTo>
                  <a:cubicBezTo>
                    <a:pt x="967740" y="156210"/>
                    <a:pt x="914400" y="124460"/>
                    <a:pt x="835660" y="109220"/>
                  </a:cubicBezTo>
                  <a:cubicBezTo>
                    <a:pt x="720090" y="87630"/>
                    <a:pt x="513080" y="104140"/>
                    <a:pt x="393700" y="116840"/>
                  </a:cubicBezTo>
                  <a:cubicBezTo>
                    <a:pt x="311150" y="125730"/>
                    <a:pt x="246380" y="138430"/>
                    <a:pt x="187960" y="157480"/>
                  </a:cubicBezTo>
                  <a:cubicBezTo>
                    <a:pt x="140970" y="172720"/>
                    <a:pt x="91440" y="193040"/>
                    <a:pt x="64770" y="213360"/>
                  </a:cubicBezTo>
                  <a:cubicBezTo>
                    <a:pt x="48260" y="226060"/>
                    <a:pt x="41910" y="251460"/>
                    <a:pt x="30480" y="254000"/>
                  </a:cubicBezTo>
                  <a:cubicBezTo>
                    <a:pt x="21590" y="256540"/>
                    <a:pt x="7620" y="250190"/>
                    <a:pt x="3810" y="243840"/>
                  </a:cubicBezTo>
                  <a:cubicBezTo>
                    <a:pt x="0" y="237490"/>
                    <a:pt x="3810" y="215900"/>
                    <a:pt x="3810" y="215900"/>
                  </a:cubicBezTo>
                </a:path>
              </a:pathLst>
            </a:custGeom>
            <a:solidFill>
              <a:srgbClr val="2D90EB"/>
            </a:solidFill>
            <a:ln cap="sq">
              <a:noFill/>
              <a:prstDash val="solid"/>
              <a:miter/>
            </a:ln>
          </p:spPr>
        </p:sp>
      </p:grpSp>
      <p:grpSp>
        <p:nvGrpSpPr>
          <p:cNvPr name="Group 9" id="9"/>
          <p:cNvGrpSpPr>
            <a:grpSpLocks noChangeAspect="true"/>
          </p:cNvGrpSpPr>
          <p:nvPr/>
        </p:nvGrpSpPr>
        <p:grpSpPr>
          <a:xfrm rot="0">
            <a:off x="1685903" y="2785606"/>
            <a:ext cx="4692273" cy="4583667"/>
            <a:chOff x="0" y="0"/>
            <a:chExt cx="4828540" cy="4716780"/>
          </a:xfrm>
        </p:grpSpPr>
        <p:sp>
          <p:nvSpPr>
            <p:cNvPr name="Freeform 10" id="10"/>
            <p:cNvSpPr/>
            <p:nvPr/>
          </p:nvSpPr>
          <p:spPr>
            <a:xfrm flipH="false" flipV="false" rot="0">
              <a:off x="0" y="-7620"/>
              <a:ext cx="4833620" cy="4726940"/>
            </a:xfrm>
            <a:custGeom>
              <a:avLst/>
              <a:gdLst/>
              <a:ahLst/>
              <a:cxnLst/>
              <a:rect r="r" b="b" t="t" l="l"/>
              <a:pathLst>
                <a:path h="4726940" w="4833620">
                  <a:moveTo>
                    <a:pt x="3416300" y="4662170"/>
                  </a:moveTo>
                  <a:cubicBezTo>
                    <a:pt x="3388360" y="4669790"/>
                    <a:pt x="3366770" y="4679950"/>
                    <a:pt x="3345180" y="4682490"/>
                  </a:cubicBezTo>
                  <a:cubicBezTo>
                    <a:pt x="3223260" y="4692650"/>
                    <a:pt x="3102610" y="4702810"/>
                    <a:pt x="2980690" y="4711700"/>
                  </a:cubicBezTo>
                  <a:cubicBezTo>
                    <a:pt x="2918460" y="4715510"/>
                    <a:pt x="2856230" y="4719320"/>
                    <a:pt x="2794000" y="4720590"/>
                  </a:cubicBezTo>
                  <a:cubicBezTo>
                    <a:pt x="2726690" y="4723130"/>
                    <a:pt x="2659380" y="4726940"/>
                    <a:pt x="2593340" y="4724400"/>
                  </a:cubicBezTo>
                  <a:cubicBezTo>
                    <a:pt x="2529840" y="4723130"/>
                    <a:pt x="2466340" y="4719320"/>
                    <a:pt x="2405380" y="4707890"/>
                  </a:cubicBezTo>
                  <a:cubicBezTo>
                    <a:pt x="2326640" y="4693920"/>
                    <a:pt x="2246630" y="4693920"/>
                    <a:pt x="2169160" y="4681220"/>
                  </a:cubicBezTo>
                  <a:cubicBezTo>
                    <a:pt x="1967230" y="4648200"/>
                    <a:pt x="1761490" y="4657090"/>
                    <a:pt x="1558290" y="4643120"/>
                  </a:cubicBezTo>
                  <a:cubicBezTo>
                    <a:pt x="1443990" y="4635500"/>
                    <a:pt x="1329690" y="4617720"/>
                    <a:pt x="1215390" y="4602480"/>
                  </a:cubicBezTo>
                  <a:cubicBezTo>
                    <a:pt x="1085850" y="4585970"/>
                    <a:pt x="956310" y="4566920"/>
                    <a:pt x="825500" y="4549140"/>
                  </a:cubicBezTo>
                  <a:cubicBezTo>
                    <a:pt x="730250" y="4536440"/>
                    <a:pt x="633730" y="4523740"/>
                    <a:pt x="538480" y="4511040"/>
                  </a:cubicBezTo>
                  <a:cubicBezTo>
                    <a:pt x="535940" y="4511040"/>
                    <a:pt x="533400" y="4509770"/>
                    <a:pt x="530860" y="4509770"/>
                  </a:cubicBezTo>
                  <a:cubicBezTo>
                    <a:pt x="450850" y="4475479"/>
                    <a:pt x="365760" y="4448810"/>
                    <a:pt x="292100" y="4404360"/>
                  </a:cubicBezTo>
                  <a:cubicBezTo>
                    <a:pt x="167640" y="4328160"/>
                    <a:pt x="114300" y="4206240"/>
                    <a:pt x="109220" y="4062730"/>
                  </a:cubicBezTo>
                  <a:cubicBezTo>
                    <a:pt x="107950" y="4013200"/>
                    <a:pt x="101600" y="3964940"/>
                    <a:pt x="101600" y="3915410"/>
                  </a:cubicBezTo>
                  <a:cubicBezTo>
                    <a:pt x="102870" y="3846830"/>
                    <a:pt x="107950" y="3779520"/>
                    <a:pt x="111760" y="3712210"/>
                  </a:cubicBezTo>
                  <a:cubicBezTo>
                    <a:pt x="121920" y="3511550"/>
                    <a:pt x="127000" y="3310890"/>
                    <a:pt x="111760" y="3110230"/>
                  </a:cubicBezTo>
                  <a:cubicBezTo>
                    <a:pt x="97790" y="2929890"/>
                    <a:pt x="85090" y="2750820"/>
                    <a:pt x="71120" y="2570480"/>
                  </a:cubicBezTo>
                  <a:cubicBezTo>
                    <a:pt x="62230" y="2454910"/>
                    <a:pt x="50800" y="2340610"/>
                    <a:pt x="43180" y="2225040"/>
                  </a:cubicBezTo>
                  <a:cubicBezTo>
                    <a:pt x="38100" y="2148840"/>
                    <a:pt x="39370" y="2071370"/>
                    <a:pt x="34290" y="1995170"/>
                  </a:cubicBezTo>
                  <a:cubicBezTo>
                    <a:pt x="31750" y="1951990"/>
                    <a:pt x="17780" y="1910080"/>
                    <a:pt x="16510" y="1866900"/>
                  </a:cubicBezTo>
                  <a:cubicBezTo>
                    <a:pt x="11430" y="1762760"/>
                    <a:pt x="10160" y="1657350"/>
                    <a:pt x="7620" y="1551940"/>
                  </a:cubicBezTo>
                  <a:cubicBezTo>
                    <a:pt x="6350" y="1511300"/>
                    <a:pt x="0" y="1470660"/>
                    <a:pt x="1270" y="1430020"/>
                  </a:cubicBezTo>
                  <a:cubicBezTo>
                    <a:pt x="2540" y="1366520"/>
                    <a:pt x="10160" y="1303020"/>
                    <a:pt x="11430" y="1239520"/>
                  </a:cubicBezTo>
                  <a:cubicBezTo>
                    <a:pt x="12700" y="1165860"/>
                    <a:pt x="5080" y="1092200"/>
                    <a:pt x="7620" y="1019810"/>
                  </a:cubicBezTo>
                  <a:cubicBezTo>
                    <a:pt x="7620" y="949960"/>
                    <a:pt x="16510" y="881380"/>
                    <a:pt x="25400" y="811530"/>
                  </a:cubicBezTo>
                  <a:cubicBezTo>
                    <a:pt x="27940" y="787400"/>
                    <a:pt x="45720" y="765810"/>
                    <a:pt x="50800" y="741680"/>
                  </a:cubicBezTo>
                  <a:cubicBezTo>
                    <a:pt x="72390" y="622300"/>
                    <a:pt x="95250" y="502920"/>
                    <a:pt x="151130" y="392430"/>
                  </a:cubicBezTo>
                  <a:cubicBezTo>
                    <a:pt x="163830" y="368300"/>
                    <a:pt x="184150" y="346710"/>
                    <a:pt x="203200" y="327660"/>
                  </a:cubicBezTo>
                  <a:cubicBezTo>
                    <a:pt x="209550" y="321310"/>
                    <a:pt x="224790" y="325120"/>
                    <a:pt x="228600" y="325120"/>
                  </a:cubicBezTo>
                  <a:cubicBezTo>
                    <a:pt x="237490" y="308610"/>
                    <a:pt x="242570" y="292100"/>
                    <a:pt x="252730" y="284480"/>
                  </a:cubicBezTo>
                  <a:cubicBezTo>
                    <a:pt x="307340" y="242570"/>
                    <a:pt x="364490" y="212090"/>
                    <a:pt x="435610" y="204470"/>
                  </a:cubicBezTo>
                  <a:cubicBezTo>
                    <a:pt x="488950" y="198120"/>
                    <a:pt x="541020" y="175260"/>
                    <a:pt x="594360" y="162560"/>
                  </a:cubicBezTo>
                  <a:cubicBezTo>
                    <a:pt x="659130" y="147320"/>
                    <a:pt x="723900" y="129540"/>
                    <a:pt x="791210" y="120650"/>
                  </a:cubicBezTo>
                  <a:cubicBezTo>
                    <a:pt x="852170" y="113030"/>
                    <a:pt x="910590" y="96520"/>
                    <a:pt x="972820" y="91440"/>
                  </a:cubicBezTo>
                  <a:cubicBezTo>
                    <a:pt x="1036320" y="86360"/>
                    <a:pt x="1099820" y="71120"/>
                    <a:pt x="1164590" y="66040"/>
                  </a:cubicBezTo>
                  <a:cubicBezTo>
                    <a:pt x="1339850" y="53340"/>
                    <a:pt x="1516380" y="44450"/>
                    <a:pt x="1691640" y="34290"/>
                  </a:cubicBezTo>
                  <a:cubicBezTo>
                    <a:pt x="1734820" y="31750"/>
                    <a:pt x="1778000" y="34290"/>
                    <a:pt x="1821180" y="35560"/>
                  </a:cubicBezTo>
                  <a:cubicBezTo>
                    <a:pt x="1842770" y="36830"/>
                    <a:pt x="1864360" y="41910"/>
                    <a:pt x="1887220" y="44450"/>
                  </a:cubicBezTo>
                  <a:cubicBezTo>
                    <a:pt x="1897380" y="45720"/>
                    <a:pt x="1907540" y="41910"/>
                    <a:pt x="1917700" y="41910"/>
                  </a:cubicBezTo>
                  <a:cubicBezTo>
                    <a:pt x="1948180" y="41910"/>
                    <a:pt x="1979930" y="41910"/>
                    <a:pt x="2010410" y="40640"/>
                  </a:cubicBezTo>
                  <a:cubicBezTo>
                    <a:pt x="2068830" y="38100"/>
                    <a:pt x="2128520" y="31750"/>
                    <a:pt x="2186940" y="31750"/>
                  </a:cubicBezTo>
                  <a:cubicBezTo>
                    <a:pt x="2244090" y="31750"/>
                    <a:pt x="2301240" y="35560"/>
                    <a:pt x="2358390" y="38100"/>
                  </a:cubicBezTo>
                  <a:lnTo>
                    <a:pt x="2404110" y="38100"/>
                  </a:lnTo>
                  <a:cubicBezTo>
                    <a:pt x="2473960" y="35560"/>
                    <a:pt x="2542540" y="35560"/>
                    <a:pt x="2612390" y="31750"/>
                  </a:cubicBezTo>
                  <a:cubicBezTo>
                    <a:pt x="2679700" y="27940"/>
                    <a:pt x="2745740" y="19050"/>
                    <a:pt x="2813050" y="15240"/>
                  </a:cubicBezTo>
                  <a:cubicBezTo>
                    <a:pt x="2844800" y="12700"/>
                    <a:pt x="2877820" y="12700"/>
                    <a:pt x="2909570" y="19050"/>
                  </a:cubicBezTo>
                  <a:cubicBezTo>
                    <a:pt x="2957830" y="27940"/>
                    <a:pt x="3003550" y="33020"/>
                    <a:pt x="3051810" y="19050"/>
                  </a:cubicBezTo>
                  <a:cubicBezTo>
                    <a:pt x="3069590" y="13970"/>
                    <a:pt x="3092450" y="22860"/>
                    <a:pt x="3112770" y="25400"/>
                  </a:cubicBezTo>
                  <a:cubicBezTo>
                    <a:pt x="3121660" y="26670"/>
                    <a:pt x="3131820" y="29210"/>
                    <a:pt x="3136900" y="25400"/>
                  </a:cubicBezTo>
                  <a:cubicBezTo>
                    <a:pt x="3171190" y="0"/>
                    <a:pt x="3202940" y="6350"/>
                    <a:pt x="3235960" y="27940"/>
                  </a:cubicBezTo>
                  <a:cubicBezTo>
                    <a:pt x="3239770" y="30480"/>
                    <a:pt x="3249930" y="24130"/>
                    <a:pt x="3257550" y="24130"/>
                  </a:cubicBezTo>
                  <a:cubicBezTo>
                    <a:pt x="3288030" y="24130"/>
                    <a:pt x="3318510" y="24130"/>
                    <a:pt x="3350260" y="25400"/>
                  </a:cubicBezTo>
                  <a:cubicBezTo>
                    <a:pt x="3373120" y="26670"/>
                    <a:pt x="3394710" y="34290"/>
                    <a:pt x="3417570" y="36830"/>
                  </a:cubicBezTo>
                  <a:cubicBezTo>
                    <a:pt x="3467100" y="43180"/>
                    <a:pt x="3517900" y="53340"/>
                    <a:pt x="3568700" y="53340"/>
                  </a:cubicBezTo>
                  <a:cubicBezTo>
                    <a:pt x="3663950" y="54610"/>
                    <a:pt x="3759200" y="58420"/>
                    <a:pt x="3853180" y="78740"/>
                  </a:cubicBezTo>
                  <a:cubicBezTo>
                    <a:pt x="3940809" y="97790"/>
                    <a:pt x="4030980" y="97790"/>
                    <a:pt x="4119880" y="113030"/>
                  </a:cubicBezTo>
                  <a:cubicBezTo>
                    <a:pt x="4173220" y="121920"/>
                    <a:pt x="4227830" y="138430"/>
                    <a:pt x="4273550" y="165100"/>
                  </a:cubicBezTo>
                  <a:cubicBezTo>
                    <a:pt x="4323080" y="193040"/>
                    <a:pt x="4361180" y="238760"/>
                    <a:pt x="4405630" y="276860"/>
                  </a:cubicBezTo>
                  <a:cubicBezTo>
                    <a:pt x="4422139" y="290830"/>
                    <a:pt x="4446270" y="300990"/>
                    <a:pt x="4457700" y="318770"/>
                  </a:cubicBezTo>
                  <a:cubicBezTo>
                    <a:pt x="4490720" y="367030"/>
                    <a:pt x="4519930" y="417830"/>
                    <a:pt x="4549140" y="468630"/>
                  </a:cubicBezTo>
                  <a:cubicBezTo>
                    <a:pt x="4570730" y="505460"/>
                    <a:pt x="4592320" y="543560"/>
                    <a:pt x="4608830" y="581660"/>
                  </a:cubicBezTo>
                  <a:cubicBezTo>
                    <a:pt x="4626610" y="626110"/>
                    <a:pt x="4640580" y="671830"/>
                    <a:pt x="4654550" y="718820"/>
                  </a:cubicBezTo>
                  <a:cubicBezTo>
                    <a:pt x="4676140" y="792480"/>
                    <a:pt x="4701540" y="866140"/>
                    <a:pt x="4715510" y="942340"/>
                  </a:cubicBezTo>
                  <a:cubicBezTo>
                    <a:pt x="4735830" y="1049020"/>
                    <a:pt x="4745990" y="1158240"/>
                    <a:pt x="4761230" y="1266190"/>
                  </a:cubicBezTo>
                  <a:cubicBezTo>
                    <a:pt x="4766310" y="1301750"/>
                    <a:pt x="4772660" y="1337310"/>
                    <a:pt x="4775200" y="1372870"/>
                  </a:cubicBezTo>
                  <a:cubicBezTo>
                    <a:pt x="4782820" y="1474470"/>
                    <a:pt x="4787900" y="1574800"/>
                    <a:pt x="4794250" y="1676400"/>
                  </a:cubicBezTo>
                  <a:cubicBezTo>
                    <a:pt x="4803140" y="1802130"/>
                    <a:pt x="4815840" y="1926590"/>
                    <a:pt x="4822190" y="2052320"/>
                  </a:cubicBezTo>
                  <a:cubicBezTo>
                    <a:pt x="4828540" y="2172970"/>
                    <a:pt x="4833620" y="2294890"/>
                    <a:pt x="4831080" y="2416810"/>
                  </a:cubicBezTo>
                  <a:cubicBezTo>
                    <a:pt x="4827270" y="2620010"/>
                    <a:pt x="4817110" y="2821940"/>
                    <a:pt x="4806950" y="3025140"/>
                  </a:cubicBezTo>
                  <a:cubicBezTo>
                    <a:pt x="4800600" y="3150870"/>
                    <a:pt x="4791710" y="3275330"/>
                    <a:pt x="4779010" y="3399790"/>
                  </a:cubicBezTo>
                  <a:cubicBezTo>
                    <a:pt x="4766310" y="3524250"/>
                    <a:pt x="4747260" y="3647440"/>
                    <a:pt x="4733290" y="3771900"/>
                  </a:cubicBezTo>
                  <a:cubicBezTo>
                    <a:pt x="4723130" y="3858260"/>
                    <a:pt x="4720590" y="3944620"/>
                    <a:pt x="4709160" y="4029710"/>
                  </a:cubicBezTo>
                  <a:cubicBezTo>
                    <a:pt x="4699000" y="4107180"/>
                    <a:pt x="4660900" y="4175760"/>
                    <a:pt x="4610100" y="4232910"/>
                  </a:cubicBezTo>
                  <a:cubicBezTo>
                    <a:pt x="4568191" y="4281170"/>
                    <a:pt x="4535170" y="4335780"/>
                    <a:pt x="4491991" y="4382770"/>
                  </a:cubicBezTo>
                  <a:cubicBezTo>
                    <a:pt x="4453891" y="4424679"/>
                    <a:pt x="4411981" y="4466590"/>
                    <a:pt x="4345941" y="4467860"/>
                  </a:cubicBezTo>
                  <a:cubicBezTo>
                    <a:pt x="4330700" y="4467860"/>
                    <a:pt x="4316731" y="4483100"/>
                    <a:pt x="4301491" y="4490720"/>
                  </a:cubicBezTo>
                  <a:cubicBezTo>
                    <a:pt x="4236720" y="4518660"/>
                    <a:pt x="4169411" y="4542790"/>
                    <a:pt x="4105911" y="4573270"/>
                  </a:cubicBezTo>
                  <a:cubicBezTo>
                    <a:pt x="3989070" y="4629150"/>
                    <a:pt x="3863341" y="4638040"/>
                    <a:pt x="3737611" y="4643120"/>
                  </a:cubicBezTo>
                  <a:cubicBezTo>
                    <a:pt x="3689351" y="4645660"/>
                    <a:pt x="3639820" y="4641850"/>
                    <a:pt x="3591561" y="4645660"/>
                  </a:cubicBezTo>
                  <a:cubicBezTo>
                    <a:pt x="3567431" y="4646930"/>
                    <a:pt x="3544570" y="4658360"/>
                    <a:pt x="3521711" y="4663440"/>
                  </a:cubicBezTo>
                  <a:cubicBezTo>
                    <a:pt x="3511551" y="4665980"/>
                    <a:pt x="3501391" y="4664710"/>
                    <a:pt x="3489961" y="4665980"/>
                  </a:cubicBezTo>
                  <a:cubicBezTo>
                    <a:pt x="3474720" y="4667250"/>
                    <a:pt x="3459481" y="4671060"/>
                    <a:pt x="3444241" y="4669790"/>
                  </a:cubicBezTo>
                  <a:cubicBezTo>
                    <a:pt x="3429000" y="4667250"/>
                    <a:pt x="3418841" y="4662170"/>
                    <a:pt x="3416300" y="4662170"/>
                  </a:cubicBezTo>
                  <a:close/>
                </a:path>
              </a:pathLst>
            </a:custGeom>
            <a:blipFill>
              <a:blip r:embed="rId7"/>
              <a:stretch>
                <a:fillRect l="-13964" t="0" r="-13964" b="0"/>
              </a:stretch>
            </a:blipFill>
          </p:spPr>
        </p:sp>
      </p:grpSp>
      <p:sp>
        <p:nvSpPr>
          <p:cNvPr name="TextBox 11" id="11"/>
          <p:cNvSpPr txBox="true"/>
          <p:nvPr/>
        </p:nvSpPr>
        <p:spPr>
          <a:xfrm rot="0">
            <a:off x="1945177" y="7509397"/>
            <a:ext cx="4173726" cy="1208595"/>
          </a:xfrm>
          <a:prstGeom prst="rect">
            <a:avLst/>
          </a:prstGeom>
        </p:spPr>
        <p:txBody>
          <a:bodyPr anchor="t" rtlCol="false" tIns="0" lIns="0" bIns="0" rIns="0">
            <a:spAutoFit/>
          </a:bodyPr>
          <a:lstStyle/>
          <a:p>
            <a:pPr algn="ctr">
              <a:lnSpc>
                <a:spcPts val="4599"/>
              </a:lnSpc>
            </a:pPr>
            <a:r>
              <a:rPr lang="en-US" sz="3285">
                <a:solidFill>
                  <a:srgbClr val="000000"/>
                </a:solidFill>
                <a:latin typeface="อีฟดอวอิ้ง"/>
              </a:rPr>
              <a:t> Citrate utilization test-all are negative </a:t>
            </a:r>
          </a:p>
        </p:txBody>
      </p:sp>
      <p:grpSp>
        <p:nvGrpSpPr>
          <p:cNvPr name="Group 12" id="12"/>
          <p:cNvGrpSpPr>
            <a:grpSpLocks noChangeAspect="true"/>
          </p:cNvGrpSpPr>
          <p:nvPr/>
        </p:nvGrpSpPr>
        <p:grpSpPr>
          <a:xfrm rot="0">
            <a:off x="6890591" y="2891888"/>
            <a:ext cx="4692273" cy="4583667"/>
            <a:chOff x="0" y="0"/>
            <a:chExt cx="4828540" cy="4716780"/>
          </a:xfrm>
        </p:grpSpPr>
        <p:sp>
          <p:nvSpPr>
            <p:cNvPr name="Freeform 13" id="13"/>
            <p:cNvSpPr/>
            <p:nvPr/>
          </p:nvSpPr>
          <p:spPr>
            <a:xfrm flipH="false" flipV="false" rot="0">
              <a:off x="0" y="-7620"/>
              <a:ext cx="4833620" cy="4726940"/>
            </a:xfrm>
            <a:custGeom>
              <a:avLst/>
              <a:gdLst/>
              <a:ahLst/>
              <a:cxnLst/>
              <a:rect r="r" b="b" t="t" l="l"/>
              <a:pathLst>
                <a:path h="4726940" w="4833620">
                  <a:moveTo>
                    <a:pt x="3416300" y="4662170"/>
                  </a:moveTo>
                  <a:cubicBezTo>
                    <a:pt x="3388360" y="4669790"/>
                    <a:pt x="3366770" y="4679950"/>
                    <a:pt x="3345180" y="4682490"/>
                  </a:cubicBezTo>
                  <a:cubicBezTo>
                    <a:pt x="3223260" y="4692650"/>
                    <a:pt x="3102610" y="4702810"/>
                    <a:pt x="2980690" y="4711700"/>
                  </a:cubicBezTo>
                  <a:cubicBezTo>
                    <a:pt x="2918460" y="4715510"/>
                    <a:pt x="2856230" y="4719320"/>
                    <a:pt x="2794000" y="4720590"/>
                  </a:cubicBezTo>
                  <a:cubicBezTo>
                    <a:pt x="2726690" y="4723130"/>
                    <a:pt x="2659380" y="4726940"/>
                    <a:pt x="2593340" y="4724400"/>
                  </a:cubicBezTo>
                  <a:cubicBezTo>
                    <a:pt x="2529840" y="4723130"/>
                    <a:pt x="2466340" y="4719320"/>
                    <a:pt x="2405380" y="4707890"/>
                  </a:cubicBezTo>
                  <a:cubicBezTo>
                    <a:pt x="2326640" y="4693920"/>
                    <a:pt x="2246630" y="4693920"/>
                    <a:pt x="2169160" y="4681220"/>
                  </a:cubicBezTo>
                  <a:cubicBezTo>
                    <a:pt x="1967230" y="4648200"/>
                    <a:pt x="1761490" y="4657090"/>
                    <a:pt x="1558290" y="4643120"/>
                  </a:cubicBezTo>
                  <a:cubicBezTo>
                    <a:pt x="1443990" y="4635500"/>
                    <a:pt x="1329690" y="4617720"/>
                    <a:pt x="1215390" y="4602480"/>
                  </a:cubicBezTo>
                  <a:cubicBezTo>
                    <a:pt x="1085850" y="4585970"/>
                    <a:pt x="956310" y="4566920"/>
                    <a:pt x="825500" y="4549140"/>
                  </a:cubicBezTo>
                  <a:cubicBezTo>
                    <a:pt x="730250" y="4536440"/>
                    <a:pt x="633730" y="4523740"/>
                    <a:pt x="538480" y="4511040"/>
                  </a:cubicBezTo>
                  <a:cubicBezTo>
                    <a:pt x="535940" y="4511040"/>
                    <a:pt x="533400" y="4509770"/>
                    <a:pt x="530860" y="4509770"/>
                  </a:cubicBezTo>
                  <a:cubicBezTo>
                    <a:pt x="450850" y="4475479"/>
                    <a:pt x="365760" y="4448810"/>
                    <a:pt x="292100" y="4404360"/>
                  </a:cubicBezTo>
                  <a:cubicBezTo>
                    <a:pt x="167640" y="4328160"/>
                    <a:pt x="114300" y="4206240"/>
                    <a:pt x="109220" y="4062730"/>
                  </a:cubicBezTo>
                  <a:cubicBezTo>
                    <a:pt x="107950" y="4013200"/>
                    <a:pt x="101600" y="3964940"/>
                    <a:pt x="101600" y="3915410"/>
                  </a:cubicBezTo>
                  <a:cubicBezTo>
                    <a:pt x="102870" y="3846830"/>
                    <a:pt x="107950" y="3779520"/>
                    <a:pt x="111760" y="3712210"/>
                  </a:cubicBezTo>
                  <a:cubicBezTo>
                    <a:pt x="121920" y="3511550"/>
                    <a:pt x="127000" y="3310890"/>
                    <a:pt x="111760" y="3110230"/>
                  </a:cubicBezTo>
                  <a:cubicBezTo>
                    <a:pt x="97790" y="2929890"/>
                    <a:pt x="85090" y="2750820"/>
                    <a:pt x="71120" y="2570480"/>
                  </a:cubicBezTo>
                  <a:cubicBezTo>
                    <a:pt x="62230" y="2454910"/>
                    <a:pt x="50800" y="2340610"/>
                    <a:pt x="43180" y="2225040"/>
                  </a:cubicBezTo>
                  <a:cubicBezTo>
                    <a:pt x="38100" y="2148840"/>
                    <a:pt x="39370" y="2071370"/>
                    <a:pt x="34290" y="1995170"/>
                  </a:cubicBezTo>
                  <a:cubicBezTo>
                    <a:pt x="31750" y="1951990"/>
                    <a:pt x="17780" y="1910080"/>
                    <a:pt x="16510" y="1866900"/>
                  </a:cubicBezTo>
                  <a:cubicBezTo>
                    <a:pt x="11430" y="1762760"/>
                    <a:pt x="10160" y="1657350"/>
                    <a:pt x="7620" y="1551940"/>
                  </a:cubicBezTo>
                  <a:cubicBezTo>
                    <a:pt x="6350" y="1511300"/>
                    <a:pt x="0" y="1470660"/>
                    <a:pt x="1270" y="1430020"/>
                  </a:cubicBezTo>
                  <a:cubicBezTo>
                    <a:pt x="2540" y="1366520"/>
                    <a:pt x="10160" y="1303020"/>
                    <a:pt x="11430" y="1239520"/>
                  </a:cubicBezTo>
                  <a:cubicBezTo>
                    <a:pt x="12700" y="1165860"/>
                    <a:pt x="5080" y="1092200"/>
                    <a:pt x="7620" y="1019810"/>
                  </a:cubicBezTo>
                  <a:cubicBezTo>
                    <a:pt x="7620" y="949960"/>
                    <a:pt x="16510" y="881380"/>
                    <a:pt x="25400" y="811530"/>
                  </a:cubicBezTo>
                  <a:cubicBezTo>
                    <a:pt x="27940" y="787400"/>
                    <a:pt x="45720" y="765810"/>
                    <a:pt x="50800" y="741680"/>
                  </a:cubicBezTo>
                  <a:cubicBezTo>
                    <a:pt x="72390" y="622300"/>
                    <a:pt x="95250" y="502920"/>
                    <a:pt x="151130" y="392430"/>
                  </a:cubicBezTo>
                  <a:cubicBezTo>
                    <a:pt x="163830" y="368300"/>
                    <a:pt x="184150" y="346710"/>
                    <a:pt x="203200" y="327660"/>
                  </a:cubicBezTo>
                  <a:cubicBezTo>
                    <a:pt x="209550" y="321310"/>
                    <a:pt x="224790" y="325120"/>
                    <a:pt x="228600" y="325120"/>
                  </a:cubicBezTo>
                  <a:cubicBezTo>
                    <a:pt x="237490" y="308610"/>
                    <a:pt x="242570" y="292100"/>
                    <a:pt x="252730" y="284480"/>
                  </a:cubicBezTo>
                  <a:cubicBezTo>
                    <a:pt x="307340" y="242570"/>
                    <a:pt x="364490" y="212090"/>
                    <a:pt x="435610" y="204470"/>
                  </a:cubicBezTo>
                  <a:cubicBezTo>
                    <a:pt x="488950" y="198120"/>
                    <a:pt x="541020" y="175260"/>
                    <a:pt x="594360" y="162560"/>
                  </a:cubicBezTo>
                  <a:cubicBezTo>
                    <a:pt x="659130" y="147320"/>
                    <a:pt x="723900" y="129540"/>
                    <a:pt x="791210" y="120650"/>
                  </a:cubicBezTo>
                  <a:cubicBezTo>
                    <a:pt x="852170" y="113030"/>
                    <a:pt x="910590" y="96520"/>
                    <a:pt x="972820" y="91440"/>
                  </a:cubicBezTo>
                  <a:cubicBezTo>
                    <a:pt x="1036320" y="86360"/>
                    <a:pt x="1099820" y="71120"/>
                    <a:pt x="1164590" y="66040"/>
                  </a:cubicBezTo>
                  <a:cubicBezTo>
                    <a:pt x="1339850" y="53340"/>
                    <a:pt x="1516380" y="44450"/>
                    <a:pt x="1691640" y="34290"/>
                  </a:cubicBezTo>
                  <a:cubicBezTo>
                    <a:pt x="1734820" y="31750"/>
                    <a:pt x="1778000" y="34290"/>
                    <a:pt x="1821180" y="35560"/>
                  </a:cubicBezTo>
                  <a:cubicBezTo>
                    <a:pt x="1842770" y="36830"/>
                    <a:pt x="1864360" y="41910"/>
                    <a:pt x="1887220" y="44450"/>
                  </a:cubicBezTo>
                  <a:cubicBezTo>
                    <a:pt x="1897380" y="45720"/>
                    <a:pt x="1907540" y="41910"/>
                    <a:pt x="1917700" y="41910"/>
                  </a:cubicBezTo>
                  <a:cubicBezTo>
                    <a:pt x="1948180" y="41910"/>
                    <a:pt x="1979930" y="41910"/>
                    <a:pt x="2010410" y="40640"/>
                  </a:cubicBezTo>
                  <a:cubicBezTo>
                    <a:pt x="2068830" y="38100"/>
                    <a:pt x="2128520" y="31750"/>
                    <a:pt x="2186940" y="31750"/>
                  </a:cubicBezTo>
                  <a:cubicBezTo>
                    <a:pt x="2244090" y="31750"/>
                    <a:pt x="2301240" y="35560"/>
                    <a:pt x="2358390" y="38100"/>
                  </a:cubicBezTo>
                  <a:lnTo>
                    <a:pt x="2404110" y="38100"/>
                  </a:lnTo>
                  <a:cubicBezTo>
                    <a:pt x="2473960" y="35560"/>
                    <a:pt x="2542540" y="35560"/>
                    <a:pt x="2612390" y="31750"/>
                  </a:cubicBezTo>
                  <a:cubicBezTo>
                    <a:pt x="2679700" y="27940"/>
                    <a:pt x="2745740" y="19050"/>
                    <a:pt x="2813050" y="15240"/>
                  </a:cubicBezTo>
                  <a:cubicBezTo>
                    <a:pt x="2844800" y="12700"/>
                    <a:pt x="2877820" y="12700"/>
                    <a:pt x="2909570" y="19050"/>
                  </a:cubicBezTo>
                  <a:cubicBezTo>
                    <a:pt x="2957830" y="27940"/>
                    <a:pt x="3003550" y="33020"/>
                    <a:pt x="3051810" y="19050"/>
                  </a:cubicBezTo>
                  <a:cubicBezTo>
                    <a:pt x="3069590" y="13970"/>
                    <a:pt x="3092450" y="22860"/>
                    <a:pt x="3112770" y="25400"/>
                  </a:cubicBezTo>
                  <a:cubicBezTo>
                    <a:pt x="3121660" y="26670"/>
                    <a:pt x="3131820" y="29210"/>
                    <a:pt x="3136900" y="25400"/>
                  </a:cubicBezTo>
                  <a:cubicBezTo>
                    <a:pt x="3171190" y="0"/>
                    <a:pt x="3202940" y="6350"/>
                    <a:pt x="3235960" y="27940"/>
                  </a:cubicBezTo>
                  <a:cubicBezTo>
                    <a:pt x="3239770" y="30480"/>
                    <a:pt x="3249930" y="24130"/>
                    <a:pt x="3257550" y="24130"/>
                  </a:cubicBezTo>
                  <a:cubicBezTo>
                    <a:pt x="3288030" y="24130"/>
                    <a:pt x="3318510" y="24130"/>
                    <a:pt x="3350260" y="25400"/>
                  </a:cubicBezTo>
                  <a:cubicBezTo>
                    <a:pt x="3373120" y="26670"/>
                    <a:pt x="3394710" y="34290"/>
                    <a:pt x="3417570" y="36830"/>
                  </a:cubicBezTo>
                  <a:cubicBezTo>
                    <a:pt x="3467100" y="43180"/>
                    <a:pt x="3517900" y="53340"/>
                    <a:pt x="3568700" y="53340"/>
                  </a:cubicBezTo>
                  <a:cubicBezTo>
                    <a:pt x="3663950" y="54610"/>
                    <a:pt x="3759200" y="58420"/>
                    <a:pt x="3853180" y="78740"/>
                  </a:cubicBezTo>
                  <a:cubicBezTo>
                    <a:pt x="3940809" y="97790"/>
                    <a:pt x="4030980" y="97790"/>
                    <a:pt x="4119880" y="113030"/>
                  </a:cubicBezTo>
                  <a:cubicBezTo>
                    <a:pt x="4173220" y="121920"/>
                    <a:pt x="4227830" y="138430"/>
                    <a:pt x="4273550" y="165100"/>
                  </a:cubicBezTo>
                  <a:cubicBezTo>
                    <a:pt x="4323080" y="193040"/>
                    <a:pt x="4361180" y="238760"/>
                    <a:pt x="4405630" y="276860"/>
                  </a:cubicBezTo>
                  <a:cubicBezTo>
                    <a:pt x="4422139" y="290830"/>
                    <a:pt x="4446270" y="300990"/>
                    <a:pt x="4457700" y="318770"/>
                  </a:cubicBezTo>
                  <a:cubicBezTo>
                    <a:pt x="4490720" y="367030"/>
                    <a:pt x="4519930" y="417830"/>
                    <a:pt x="4549140" y="468630"/>
                  </a:cubicBezTo>
                  <a:cubicBezTo>
                    <a:pt x="4570730" y="505460"/>
                    <a:pt x="4592320" y="543560"/>
                    <a:pt x="4608830" y="581660"/>
                  </a:cubicBezTo>
                  <a:cubicBezTo>
                    <a:pt x="4626610" y="626110"/>
                    <a:pt x="4640580" y="671830"/>
                    <a:pt x="4654550" y="718820"/>
                  </a:cubicBezTo>
                  <a:cubicBezTo>
                    <a:pt x="4676140" y="792480"/>
                    <a:pt x="4701540" y="866140"/>
                    <a:pt x="4715510" y="942340"/>
                  </a:cubicBezTo>
                  <a:cubicBezTo>
                    <a:pt x="4735830" y="1049020"/>
                    <a:pt x="4745990" y="1158240"/>
                    <a:pt x="4761230" y="1266190"/>
                  </a:cubicBezTo>
                  <a:cubicBezTo>
                    <a:pt x="4766310" y="1301750"/>
                    <a:pt x="4772660" y="1337310"/>
                    <a:pt x="4775200" y="1372870"/>
                  </a:cubicBezTo>
                  <a:cubicBezTo>
                    <a:pt x="4782820" y="1474470"/>
                    <a:pt x="4787900" y="1574800"/>
                    <a:pt x="4794250" y="1676400"/>
                  </a:cubicBezTo>
                  <a:cubicBezTo>
                    <a:pt x="4803140" y="1802130"/>
                    <a:pt x="4815840" y="1926590"/>
                    <a:pt x="4822190" y="2052320"/>
                  </a:cubicBezTo>
                  <a:cubicBezTo>
                    <a:pt x="4828540" y="2172970"/>
                    <a:pt x="4833620" y="2294890"/>
                    <a:pt x="4831080" y="2416810"/>
                  </a:cubicBezTo>
                  <a:cubicBezTo>
                    <a:pt x="4827270" y="2620010"/>
                    <a:pt x="4817110" y="2821940"/>
                    <a:pt x="4806950" y="3025140"/>
                  </a:cubicBezTo>
                  <a:cubicBezTo>
                    <a:pt x="4800600" y="3150870"/>
                    <a:pt x="4791710" y="3275330"/>
                    <a:pt x="4779010" y="3399790"/>
                  </a:cubicBezTo>
                  <a:cubicBezTo>
                    <a:pt x="4766310" y="3524250"/>
                    <a:pt x="4747260" y="3647440"/>
                    <a:pt x="4733290" y="3771900"/>
                  </a:cubicBezTo>
                  <a:cubicBezTo>
                    <a:pt x="4723130" y="3858260"/>
                    <a:pt x="4720590" y="3944620"/>
                    <a:pt x="4709160" y="4029710"/>
                  </a:cubicBezTo>
                  <a:cubicBezTo>
                    <a:pt x="4699000" y="4107180"/>
                    <a:pt x="4660900" y="4175760"/>
                    <a:pt x="4610100" y="4232910"/>
                  </a:cubicBezTo>
                  <a:cubicBezTo>
                    <a:pt x="4568191" y="4281170"/>
                    <a:pt x="4535170" y="4335780"/>
                    <a:pt x="4491991" y="4382770"/>
                  </a:cubicBezTo>
                  <a:cubicBezTo>
                    <a:pt x="4453891" y="4424679"/>
                    <a:pt x="4411981" y="4466590"/>
                    <a:pt x="4345941" y="4467860"/>
                  </a:cubicBezTo>
                  <a:cubicBezTo>
                    <a:pt x="4330700" y="4467860"/>
                    <a:pt x="4316731" y="4483100"/>
                    <a:pt x="4301491" y="4490720"/>
                  </a:cubicBezTo>
                  <a:cubicBezTo>
                    <a:pt x="4236720" y="4518660"/>
                    <a:pt x="4169411" y="4542790"/>
                    <a:pt x="4105911" y="4573270"/>
                  </a:cubicBezTo>
                  <a:cubicBezTo>
                    <a:pt x="3989070" y="4629150"/>
                    <a:pt x="3863341" y="4638040"/>
                    <a:pt x="3737611" y="4643120"/>
                  </a:cubicBezTo>
                  <a:cubicBezTo>
                    <a:pt x="3689351" y="4645660"/>
                    <a:pt x="3639820" y="4641850"/>
                    <a:pt x="3591561" y="4645660"/>
                  </a:cubicBezTo>
                  <a:cubicBezTo>
                    <a:pt x="3567431" y="4646930"/>
                    <a:pt x="3544570" y="4658360"/>
                    <a:pt x="3521711" y="4663440"/>
                  </a:cubicBezTo>
                  <a:cubicBezTo>
                    <a:pt x="3511551" y="4665980"/>
                    <a:pt x="3501391" y="4664710"/>
                    <a:pt x="3489961" y="4665980"/>
                  </a:cubicBezTo>
                  <a:cubicBezTo>
                    <a:pt x="3474720" y="4667250"/>
                    <a:pt x="3459481" y="4671060"/>
                    <a:pt x="3444241" y="4669790"/>
                  </a:cubicBezTo>
                  <a:cubicBezTo>
                    <a:pt x="3429000" y="4667250"/>
                    <a:pt x="3418841" y="4662170"/>
                    <a:pt x="3416300" y="4662170"/>
                  </a:cubicBezTo>
                  <a:close/>
                </a:path>
              </a:pathLst>
            </a:custGeom>
            <a:blipFill>
              <a:blip r:embed="rId8"/>
              <a:stretch>
                <a:fillRect l="0" t="-4487" r="0" b="-4487"/>
              </a:stretch>
            </a:blipFill>
          </p:spPr>
        </p:sp>
      </p:grpSp>
      <p:sp>
        <p:nvSpPr>
          <p:cNvPr name="TextBox 14" id="14"/>
          <p:cNvSpPr txBox="true"/>
          <p:nvPr/>
        </p:nvSpPr>
        <p:spPr>
          <a:xfrm rot="0">
            <a:off x="7805261" y="7703946"/>
            <a:ext cx="8023877" cy="1554354"/>
          </a:xfrm>
          <a:prstGeom prst="rect">
            <a:avLst/>
          </a:prstGeom>
        </p:spPr>
        <p:txBody>
          <a:bodyPr anchor="t" rtlCol="false" tIns="0" lIns="0" bIns="0" rIns="0">
            <a:spAutoFit/>
          </a:bodyPr>
          <a:lstStyle/>
          <a:p>
            <a:pPr algn="ctr">
              <a:lnSpc>
                <a:spcPts val="3014"/>
              </a:lnSpc>
            </a:pPr>
            <a:r>
              <a:rPr lang="en-US" sz="2152">
                <a:solidFill>
                  <a:srgbClr val="000000"/>
                </a:solidFill>
                <a:latin typeface="อีฟดอวอิ้ง"/>
              </a:rPr>
              <a:t>Observations showing in 2 sample that,it is Gram Positive coccus.Appear purple or blue under the microscope. This is due to the retention of the crystal violet-iodine complex in their thick peptidoglycan layer.</a:t>
            </a:r>
          </a:p>
        </p:txBody>
      </p:sp>
      <p:grpSp>
        <p:nvGrpSpPr>
          <p:cNvPr name="Group 15" id="15"/>
          <p:cNvGrpSpPr>
            <a:grpSpLocks noChangeAspect="true"/>
          </p:cNvGrpSpPr>
          <p:nvPr/>
        </p:nvGrpSpPr>
        <p:grpSpPr>
          <a:xfrm rot="0">
            <a:off x="11880231" y="2785606"/>
            <a:ext cx="4692273" cy="4583667"/>
            <a:chOff x="0" y="0"/>
            <a:chExt cx="4828540" cy="4716780"/>
          </a:xfrm>
        </p:grpSpPr>
        <p:sp>
          <p:nvSpPr>
            <p:cNvPr name="Freeform 16" id="16"/>
            <p:cNvSpPr/>
            <p:nvPr/>
          </p:nvSpPr>
          <p:spPr>
            <a:xfrm flipH="false" flipV="false" rot="0">
              <a:off x="0" y="-7620"/>
              <a:ext cx="4833620" cy="4726940"/>
            </a:xfrm>
            <a:custGeom>
              <a:avLst/>
              <a:gdLst/>
              <a:ahLst/>
              <a:cxnLst/>
              <a:rect r="r" b="b" t="t" l="l"/>
              <a:pathLst>
                <a:path h="4726940" w="4833620">
                  <a:moveTo>
                    <a:pt x="3416300" y="4662170"/>
                  </a:moveTo>
                  <a:cubicBezTo>
                    <a:pt x="3388360" y="4669790"/>
                    <a:pt x="3366770" y="4679950"/>
                    <a:pt x="3345180" y="4682490"/>
                  </a:cubicBezTo>
                  <a:cubicBezTo>
                    <a:pt x="3223260" y="4692650"/>
                    <a:pt x="3102610" y="4702810"/>
                    <a:pt x="2980690" y="4711700"/>
                  </a:cubicBezTo>
                  <a:cubicBezTo>
                    <a:pt x="2918460" y="4715510"/>
                    <a:pt x="2856230" y="4719320"/>
                    <a:pt x="2794000" y="4720590"/>
                  </a:cubicBezTo>
                  <a:cubicBezTo>
                    <a:pt x="2726690" y="4723130"/>
                    <a:pt x="2659380" y="4726940"/>
                    <a:pt x="2593340" y="4724400"/>
                  </a:cubicBezTo>
                  <a:cubicBezTo>
                    <a:pt x="2529840" y="4723130"/>
                    <a:pt x="2466340" y="4719320"/>
                    <a:pt x="2405380" y="4707890"/>
                  </a:cubicBezTo>
                  <a:cubicBezTo>
                    <a:pt x="2326640" y="4693920"/>
                    <a:pt x="2246630" y="4693920"/>
                    <a:pt x="2169160" y="4681220"/>
                  </a:cubicBezTo>
                  <a:cubicBezTo>
                    <a:pt x="1967230" y="4648200"/>
                    <a:pt x="1761490" y="4657090"/>
                    <a:pt x="1558290" y="4643120"/>
                  </a:cubicBezTo>
                  <a:cubicBezTo>
                    <a:pt x="1443990" y="4635500"/>
                    <a:pt x="1329690" y="4617720"/>
                    <a:pt x="1215390" y="4602480"/>
                  </a:cubicBezTo>
                  <a:cubicBezTo>
                    <a:pt x="1085850" y="4585970"/>
                    <a:pt x="956310" y="4566920"/>
                    <a:pt x="825500" y="4549140"/>
                  </a:cubicBezTo>
                  <a:cubicBezTo>
                    <a:pt x="730250" y="4536440"/>
                    <a:pt x="633730" y="4523740"/>
                    <a:pt x="538480" y="4511040"/>
                  </a:cubicBezTo>
                  <a:cubicBezTo>
                    <a:pt x="535940" y="4511040"/>
                    <a:pt x="533400" y="4509770"/>
                    <a:pt x="530860" y="4509770"/>
                  </a:cubicBezTo>
                  <a:cubicBezTo>
                    <a:pt x="450850" y="4475479"/>
                    <a:pt x="365760" y="4448810"/>
                    <a:pt x="292100" y="4404360"/>
                  </a:cubicBezTo>
                  <a:cubicBezTo>
                    <a:pt x="167640" y="4328160"/>
                    <a:pt x="114300" y="4206240"/>
                    <a:pt x="109220" y="4062730"/>
                  </a:cubicBezTo>
                  <a:cubicBezTo>
                    <a:pt x="107950" y="4013200"/>
                    <a:pt x="101600" y="3964940"/>
                    <a:pt x="101600" y="3915410"/>
                  </a:cubicBezTo>
                  <a:cubicBezTo>
                    <a:pt x="102870" y="3846830"/>
                    <a:pt x="107950" y="3779520"/>
                    <a:pt x="111760" y="3712210"/>
                  </a:cubicBezTo>
                  <a:cubicBezTo>
                    <a:pt x="121920" y="3511550"/>
                    <a:pt x="127000" y="3310890"/>
                    <a:pt x="111760" y="3110230"/>
                  </a:cubicBezTo>
                  <a:cubicBezTo>
                    <a:pt x="97790" y="2929890"/>
                    <a:pt x="85090" y="2750820"/>
                    <a:pt x="71120" y="2570480"/>
                  </a:cubicBezTo>
                  <a:cubicBezTo>
                    <a:pt x="62230" y="2454910"/>
                    <a:pt x="50800" y="2340610"/>
                    <a:pt x="43180" y="2225040"/>
                  </a:cubicBezTo>
                  <a:cubicBezTo>
                    <a:pt x="38100" y="2148840"/>
                    <a:pt x="39370" y="2071370"/>
                    <a:pt x="34290" y="1995170"/>
                  </a:cubicBezTo>
                  <a:cubicBezTo>
                    <a:pt x="31750" y="1951990"/>
                    <a:pt x="17780" y="1910080"/>
                    <a:pt x="16510" y="1866900"/>
                  </a:cubicBezTo>
                  <a:cubicBezTo>
                    <a:pt x="11430" y="1762760"/>
                    <a:pt x="10160" y="1657350"/>
                    <a:pt x="7620" y="1551940"/>
                  </a:cubicBezTo>
                  <a:cubicBezTo>
                    <a:pt x="6350" y="1511300"/>
                    <a:pt x="0" y="1470660"/>
                    <a:pt x="1270" y="1430020"/>
                  </a:cubicBezTo>
                  <a:cubicBezTo>
                    <a:pt x="2540" y="1366520"/>
                    <a:pt x="10160" y="1303020"/>
                    <a:pt x="11430" y="1239520"/>
                  </a:cubicBezTo>
                  <a:cubicBezTo>
                    <a:pt x="12700" y="1165860"/>
                    <a:pt x="5080" y="1092200"/>
                    <a:pt x="7620" y="1019810"/>
                  </a:cubicBezTo>
                  <a:cubicBezTo>
                    <a:pt x="7620" y="949960"/>
                    <a:pt x="16510" y="881380"/>
                    <a:pt x="25400" y="811530"/>
                  </a:cubicBezTo>
                  <a:cubicBezTo>
                    <a:pt x="27940" y="787400"/>
                    <a:pt x="45720" y="765810"/>
                    <a:pt x="50800" y="741680"/>
                  </a:cubicBezTo>
                  <a:cubicBezTo>
                    <a:pt x="72390" y="622300"/>
                    <a:pt x="95250" y="502920"/>
                    <a:pt x="151130" y="392430"/>
                  </a:cubicBezTo>
                  <a:cubicBezTo>
                    <a:pt x="163830" y="368300"/>
                    <a:pt x="184150" y="346710"/>
                    <a:pt x="203200" y="327660"/>
                  </a:cubicBezTo>
                  <a:cubicBezTo>
                    <a:pt x="209550" y="321310"/>
                    <a:pt x="224790" y="325120"/>
                    <a:pt x="228600" y="325120"/>
                  </a:cubicBezTo>
                  <a:cubicBezTo>
                    <a:pt x="237490" y="308610"/>
                    <a:pt x="242570" y="292100"/>
                    <a:pt x="252730" y="284480"/>
                  </a:cubicBezTo>
                  <a:cubicBezTo>
                    <a:pt x="307340" y="242570"/>
                    <a:pt x="364490" y="212090"/>
                    <a:pt x="435610" y="204470"/>
                  </a:cubicBezTo>
                  <a:cubicBezTo>
                    <a:pt x="488950" y="198120"/>
                    <a:pt x="541020" y="175260"/>
                    <a:pt x="594360" y="162560"/>
                  </a:cubicBezTo>
                  <a:cubicBezTo>
                    <a:pt x="659130" y="147320"/>
                    <a:pt x="723900" y="129540"/>
                    <a:pt x="791210" y="120650"/>
                  </a:cubicBezTo>
                  <a:cubicBezTo>
                    <a:pt x="852170" y="113030"/>
                    <a:pt x="910590" y="96520"/>
                    <a:pt x="972820" y="91440"/>
                  </a:cubicBezTo>
                  <a:cubicBezTo>
                    <a:pt x="1036320" y="86360"/>
                    <a:pt x="1099820" y="71120"/>
                    <a:pt x="1164590" y="66040"/>
                  </a:cubicBezTo>
                  <a:cubicBezTo>
                    <a:pt x="1339850" y="53340"/>
                    <a:pt x="1516380" y="44450"/>
                    <a:pt x="1691640" y="34290"/>
                  </a:cubicBezTo>
                  <a:cubicBezTo>
                    <a:pt x="1734820" y="31750"/>
                    <a:pt x="1778000" y="34290"/>
                    <a:pt x="1821180" y="35560"/>
                  </a:cubicBezTo>
                  <a:cubicBezTo>
                    <a:pt x="1842770" y="36830"/>
                    <a:pt x="1864360" y="41910"/>
                    <a:pt x="1887220" y="44450"/>
                  </a:cubicBezTo>
                  <a:cubicBezTo>
                    <a:pt x="1897380" y="45720"/>
                    <a:pt x="1907540" y="41910"/>
                    <a:pt x="1917700" y="41910"/>
                  </a:cubicBezTo>
                  <a:cubicBezTo>
                    <a:pt x="1948180" y="41910"/>
                    <a:pt x="1979930" y="41910"/>
                    <a:pt x="2010410" y="40640"/>
                  </a:cubicBezTo>
                  <a:cubicBezTo>
                    <a:pt x="2068830" y="38100"/>
                    <a:pt x="2128520" y="31750"/>
                    <a:pt x="2186940" y="31750"/>
                  </a:cubicBezTo>
                  <a:cubicBezTo>
                    <a:pt x="2244090" y="31750"/>
                    <a:pt x="2301240" y="35560"/>
                    <a:pt x="2358390" y="38100"/>
                  </a:cubicBezTo>
                  <a:lnTo>
                    <a:pt x="2404110" y="38100"/>
                  </a:lnTo>
                  <a:cubicBezTo>
                    <a:pt x="2473960" y="35560"/>
                    <a:pt x="2542540" y="35560"/>
                    <a:pt x="2612390" y="31750"/>
                  </a:cubicBezTo>
                  <a:cubicBezTo>
                    <a:pt x="2679700" y="27940"/>
                    <a:pt x="2745740" y="19050"/>
                    <a:pt x="2813050" y="15240"/>
                  </a:cubicBezTo>
                  <a:cubicBezTo>
                    <a:pt x="2844800" y="12700"/>
                    <a:pt x="2877820" y="12700"/>
                    <a:pt x="2909570" y="19050"/>
                  </a:cubicBezTo>
                  <a:cubicBezTo>
                    <a:pt x="2957830" y="27940"/>
                    <a:pt x="3003550" y="33020"/>
                    <a:pt x="3051810" y="19050"/>
                  </a:cubicBezTo>
                  <a:cubicBezTo>
                    <a:pt x="3069590" y="13970"/>
                    <a:pt x="3092450" y="22860"/>
                    <a:pt x="3112770" y="25400"/>
                  </a:cubicBezTo>
                  <a:cubicBezTo>
                    <a:pt x="3121660" y="26670"/>
                    <a:pt x="3131820" y="29210"/>
                    <a:pt x="3136900" y="25400"/>
                  </a:cubicBezTo>
                  <a:cubicBezTo>
                    <a:pt x="3171190" y="0"/>
                    <a:pt x="3202940" y="6350"/>
                    <a:pt x="3235960" y="27940"/>
                  </a:cubicBezTo>
                  <a:cubicBezTo>
                    <a:pt x="3239770" y="30480"/>
                    <a:pt x="3249930" y="24130"/>
                    <a:pt x="3257550" y="24130"/>
                  </a:cubicBezTo>
                  <a:cubicBezTo>
                    <a:pt x="3288030" y="24130"/>
                    <a:pt x="3318510" y="24130"/>
                    <a:pt x="3350260" y="25400"/>
                  </a:cubicBezTo>
                  <a:cubicBezTo>
                    <a:pt x="3373120" y="26670"/>
                    <a:pt x="3394710" y="34290"/>
                    <a:pt x="3417570" y="36830"/>
                  </a:cubicBezTo>
                  <a:cubicBezTo>
                    <a:pt x="3467100" y="43180"/>
                    <a:pt x="3517900" y="53340"/>
                    <a:pt x="3568700" y="53340"/>
                  </a:cubicBezTo>
                  <a:cubicBezTo>
                    <a:pt x="3663950" y="54610"/>
                    <a:pt x="3759200" y="58420"/>
                    <a:pt x="3853180" y="78740"/>
                  </a:cubicBezTo>
                  <a:cubicBezTo>
                    <a:pt x="3940809" y="97790"/>
                    <a:pt x="4030980" y="97790"/>
                    <a:pt x="4119880" y="113030"/>
                  </a:cubicBezTo>
                  <a:cubicBezTo>
                    <a:pt x="4173220" y="121920"/>
                    <a:pt x="4227830" y="138430"/>
                    <a:pt x="4273550" y="165100"/>
                  </a:cubicBezTo>
                  <a:cubicBezTo>
                    <a:pt x="4323080" y="193040"/>
                    <a:pt x="4361180" y="238760"/>
                    <a:pt x="4405630" y="276860"/>
                  </a:cubicBezTo>
                  <a:cubicBezTo>
                    <a:pt x="4422139" y="290830"/>
                    <a:pt x="4446270" y="300990"/>
                    <a:pt x="4457700" y="318770"/>
                  </a:cubicBezTo>
                  <a:cubicBezTo>
                    <a:pt x="4490720" y="367030"/>
                    <a:pt x="4519930" y="417830"/>
                    <a:pt x="4549140" y="468630"/>
                  </a:cubicBezTo>
                  <a:cubicBezTo>
                    <a:pt x="4570730" y="505460"/>
                    <a:pt x="4592320" y="543560"/>
                    <a:pt x="4608830" y="581660"/>
                  </a:cubicBezTo>
                  <a:cubicBezTo>
                    <a:pt x="4626610" y="626110"/>
                    <a:pt x="4640580" y="671830"/>
                    <a:pt x="4654550" y="718820"/>
                  </a:cubicBezTo>
                  <a:cubicBezTo>
                    <a:pt x="4676140" y="792480"/>
                    <a:pt x="4701540" y="866140"/>
                    <a:pt x="4715510" y="942340"/>
                  </a:cubicBezTo>
                  <a:cubicBezTo>
                    <a:pt x="4735830" y="1049020"/>
                    <a:pt x="4745990" y="1158240"/>
                    <a:pt x="4761230" y="1266190"/>
                  </a:cubicBezTo>
                  <a:cubicBezTo>
                    <a:pt x="4766310" y="1301750"/>
                    <a:pt x="4772660" y="1337310"/>
                    <a:pt x="4775200" y="1372870"/>
                  </a:cubicBezTo>
                  <a:cubicBezTo>
                    <a:pt x="4782820" y="1474470"/>
                    <a:pt x="4787900" y="1574800"/>
                    <a:pt x="4794250" y="1676400"/>
                  </a:cubicBezTo>
                  <a:cubicBezTo>
                    <a:pt x="4803140" y="1802130"/>
                    <a:pt x="4815840" y="1926590"/>
                    <a:pt x="4822190" y="2052320"/>
                  </a:cubicBezTo>
                  <a:cubicBezTo>
                    <a:pt x="4828540" y="2172970"/>
                    <a:pt x="4833620" y="2294890"/>
                    <a:pt x="4831080" y="2416810"/>
                  </a:cubicBezTo>
                  <a:cubicBezTo>
                    <a:pt x="4827270" y="2620010"/>
                    <a:pt x="4817110" y="2821940"/>
                    <a:pt x="4806950" y="3025140"/>
                  </a:cubicBezTo>
                  <a:cubicBezTo>
                    <a:pt x="4800600" y="3150870"/>
                    <a:pt x="4791710" y="3275330"/>
                    <a:pt x="4779010" y="3399790"/>
                  </a:cubicBezTo>
                  <a:cubicBezTo>
                    <a:pt x="4766310" y="3524250"/>
                    <a:pt x="4747260" y="3647440"/>
                    <a:pt x="4733290" y="3771900"/>
                  </a:cubicBezTo>
                  <a:cubicBezTo>
                    <a:pt x="4723130" y="3858260"/>
                    <a:pt x="4720590" y="3944620"/>
                    <a:pt x="4709160" y="4029710"/>
                  </a:cubicBezTo>
                  <a:cubicBezTo>
                    <a:pt x="4699000" y="4107180"/>
                    <a:pt x="4660900" y="4175760"/>
                    <a:pt x="4610100" y="4232910"/>
                  </a:cubicBezTo>
                  <a:cubicBezTo>
                    <a:pt x="4568191" y="4281170"/>
                    <a:pt x="4535170" y="4335780"/>
                    <a:pt x="4491991" y="4382770"/>
                  </a:cubicBezTo>
                  <a:cubicBezTo>
                    <a:pt x="4453891" y="4424679"/>
                    <a:pt x="4411981" y="4466590"/>
                    <a:pt x="4345941" y="4467860"/>
                  </a:cubicBezTo>
                  <a:cubicBezTo>
                    <a:pt x="4330700" y="4467860"/>
                    <a:pt x="4316731" y="4483100"/>
                    <a:pt x="4301491" y="4490720"/>
                  </a:cubicBezTo>
                  <a:cubicBezTo>
                    <a:pt x="4236720" y="4518660"/>
                    <a:pt x="4169411" y="4542790"/>
                    <a:pt x="4105911" y="4573270"/>
                  </a:cubicBezTo>
                  <a:cubicBezTo>
                    <a:pt x="3989070" y="4629150"/>
                    <a:pt x="3863341" y="4638040"/>
                    <a:pt x="3737611" y="4643120"/>
                  </a:cubicBezTo>
                  <a:cubicBezTo>
                    <a:pt x="3689351" y="4645660"/>
                    <a:pt x="3639820" y="4641850"/>
                    <a:pt x="3591561" y="4645660"/>
                  </a:cubicBezTo>
                  <a:cubicBezTo>
                    <a:pt x="3567431" y="4646930"/>
                    <a:pt x="3544570" y="4658360"/>
                    <a:pt x="3521711" y="4663440"/>
                  </a:cubicBezTo>
                  <a:cubicBezTo>
                    <a:pt x="3511551" y="4665980"/>
                    <a:pt x="3501391" y="4664710"/>
                    <a:pt x="3489961" y="4665980"/>
                  </a:cubicBezTo>
                  <a:cubicBezTo>
                    <a:pt x="3474720" y="4667250"/>
                    <a:pt x="3459481" y="4671060"/>
                    <a:pt x="3444241" y="4669790"/>
                  </a:cubicBezTo>
                  <a:cubicBezTo>
                    <a:pt x="3429000" y="4667250"/>
                    <a:pt x="3418841" y="4662170"/>
                    <a:pt x="3416300" y="4662170"/>
                  </a:cubicBezTo>
                  <a:close/>
                </a:path>
              </a:pathLst>
            </a:custGeom>
            <a:blipFill>
              <a:blip r:embed="rId9"/>
              <a:stretch>
                <a:fillRect l="0" t="-4942" r="0" b="-4942"/>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525174" y="-2459830"/>
            <a:ext cx="9237651" cy="15287104"/>
          </a:xfrm>
          <a:custGeom>
            <a:avLst/>
            <a:gdLst/>
            <a:ahLst/>
            <a:cxnLst/>
            <a:rect r="r" b="b" t="t" l="l"/>
            <a:pathLst>
              <a:path h="15287104" w="9237651">
                <a:moveTo>
                  <a:pt x="0" y="0"/>
                </a:moveTo>
                <a:lnTo>
                  <a:pt x="9237652" y="0"/>
                </a:lnTo>
                <a:lnTo>
                  <a:pt x="9237652" y="15287104"/>
                </a:lnTo>
                <a:lnTo>
                  <a:pt x="0" y="15287104"/>
                </a:lnTo>
                <a:lnTo>
                  <a:pt x="0" y="0"/>
                </a:lnTo>
                <a:close/>
              </a:path>
            </a:pathLst>
          </a:custGeom>
          <a:blipFill>
            <a:blip r:embed="rId2">
              <a:alphaModFix amt="71000"/>
            </a:blip>
            <a:stretch>
              <a:fillRect l="-9651" t="0" r="-12187" b="0"/>
            </a:stretch>
          </a:blipFill>
        </p:spPr>
      </p:sp>
      <p:sp>
        <p:nvSpPr>
          <p:cNvPr name="Freeform 3" id="3"/>
          <p:cNvSpPr/>
          <p:nvPr/>
        </p:nvSpPr>
        <p:spPr>
          <a:xfrm flipH="false" flipV="true" rot="5400000">
            <a:off x="-3184858" y="4931786"/>
            <a:ext cx="9237651" cy="503872"/>
          </a:xfrm>
          <a:custGeom>
            <a:avLst/>
            <a:gdLst/>
            <a:ahLst/>
            <a:cxnLst/>
            <a:rect r="r" b="b" t="t" l="l"/>
            <a:pathLst>
              <a:path h="503872" w="9237651">
                <a:moveTo>
                  <a:pt x="0" y="503872"/>
                </a:moveTo>
                <a:lnTo>
                  <a:pt x="9237651" y="503872"/>
                </a:lnTo>
                <a:lnTo>
                  <a:pt x="9237651" y="0"/>
                </a:lnTo>
                <a:lnTo>
                  <a:pt x="0" y="0"/>
                </a:lnTo>
                <a:lnTo>
                  <a:pt x="0"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5400000">
            <a:off x="12205614" y="4891564"/>
            <a:ext cx="9237651" cy="503872"/>
          </a:xfrm>
          <a:custGeom>
            <a:avLst/>
            <a:gdLst/>
            <a:ahLst/>
            <a:cxnLst/>
            <a:rect r="r" b="b" t="t" l="l"/>
            <a:pathLst>
              <a:path h="503872" w="9237651">
                <a:moveTo>
                  <a:pt x="9237652" y="503872"/>
                </a:moveTo>
                <a:lnTo>
                  <a:pt x="0" y="503872"/>
                </a:lnTo>
                <a:lnTo>
                  <a:pt x="0" y="0"/>
                </a:lnTo>
                <a:lnTo>
                  <a:pt x="9237652" y="0"/>
                </a:lnTo>
                <a:lnTo>
                  <a:pt x="9237652"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86486" y="6694406"/>
            <a:ext cx="2472814" cy="2472814"/>
          </a:xfrm>
          <a:custGeom>
            <a:avLst/>
            <a:gdLst/>
            <a:ahLst/>
            <a:cxnLst/>
            <a:rect r="r" b="b" t="t" l="l"/>
            <a:pathLst>
              <a:path h="2472814" w="2472814">
                <a:moveTo>
                  <a:pt x="0" y="0"/>
                </a:moveTo>
                <a:lnTo>
                  <a:pt x="2472814" y="0"/>
                </a:lnTo>
                <a:lnTo>
                  <a:pt x="2472814" y="2472813"/>
                </a:lnTo>
                <a:lnTo>
                  <a:pt x="0" y="24728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6898213" y="1231582"/>
            <a:ext cx="6149984" cy="2200640"/>
          </a:xfrm>
          <a:prstGeom prst="rect">
            <a:avLst/>
          </a:prstGeom>
        </p:spPr>
        <p:txBody>
          <a:bodyPr anchor="t" rtlCol="false" tIns="0" lIns="0" bIns="0" rIns="0">
            <a:spAutoFit/>
          </a:bodyPr>
          <a:lstStyle/>
          <a:p>
            <a:pPr algn="ctr">
              <a:lnSpc>
                <a:spcPts val="17955"/>
              </a:lnSpc>
            </a:pPr>
            <a:r>
              <a:rPr lang="en-US" sz="12825">
                <a:solidFill>
                  <a:srgbClr val="000000"/>
                </a:solidFill>
                <a:latin typeface="Porcelain"/>
              </a:rPr>
              <a:t>Conclusion</a:t>
            </a:r>
          </a:p>
        </p:txBody>
      </p:sp>
      <p:sp>
        <p:nvSpPr>
          <p:cNvPr name="Freeform 7" id="7"/>
          <p:cNvSpPr/>
          <p:nvPr/>
        </p:nvSpPr>
        <p:spPr>
          <a:xfrm flipH="false" flipV="false" rot="-814117">
            <a:off x="6405257" y="1802412"/>
            <a:ext cx="985912" cy="1306630"/>
          </a:xfrm>
          <a:custGeom>
            <a:avLst/>
            <a:gdLst/>
            <a:ahLst/>
            <a:cxnLst/>
            <a:rect r="r" b="b" t="t" l="l"/>
            <a:pathLst>
              <a:path h="1306630" w="985912">
                <a:moveTo>
                  <a:pt x="0" y="0"/>
                </a:moveTo>
                <a:lnTo>
                  <a:pt x="985912" y="0"/>
                </a:lnTo>
                <a:lnTo>
                  <a:pt x="985912" y="1306630"/>
                </a:lnTo>
                <a:lnTo>
                  <a:pt x="0" y="13066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2783108" y="3336972"/>
            <a:ext cx="12003379" cy="5046026"/>
          </a:xfrm>
          <a:prstGeom prst="rect">
            <a:avLst/>
          </a:prstGeom>
        </p:spPr>
        <p:txBody>
          <a:bodyPr anchor="t" rtlCol="false" tIns="0" lIns="0" bIns="0" rIns="0">
            <a:spAutoFit/>
          </a:bodyPr>
          <a:lstStyle/>
          <a:p>
            <a:pPr algn="ctr">
              <a:lnSpc>
                <a:spcPts val="3297"/>
              </a:lnSpc>
            </a:pPr>
            <a:r>
              <a:rPr lang="en-US" sz="2355">
                <a:solidFill>
                  <a:srgbClr val="000000"/>
                </a:solidFill>
                <a:latin typeface="อีฟดอวอิ้ง"/>
              </a:rPr>
              <a:t>In this project, the isolation and characterization of starch-utilizing from rice starch samples were successfully conducted, revealing  bacterial isolates with significant amylolytic activity. Through the series of biochemical tests, including starch hydrolysis, indole production, and Voges-Proskauer reactions the metabolic capabilities and enzymatic profiles of these isolates were thoroughly evaluated. So we conclude that the bacterial  strains that we isolates are able to utilize starch by producing amylase. </a:t>
            </a:r>
          </a:p>
          <a:p>
            <a:pPr algn="ctr">
              <a:lnSpc>
                <a:spcPts val="3297"/>
              </a:lnSpc>
            </a:pPr>
            <a:r>
              <a:rPr lang="en-US" sz="2355">
                <a:solidFill>
                  <a:srgbClr val="000000"/>
                </a:solidFill>
                <a:latin typeface="อีฟดอวอิ้ง"/>
              </a:rPr>
              <a:t>Screening on starch agar plates identified those with the highest amylase activity, indicated by clear zones around bacterial colonies.The identified bacterial strains with significant amylase activity and favorable biochemical traits hold promise for various biotechnological applications. Future research should focus on the optimization of enzyme production, scaling up fermentation processes, and exploring the genetic basis of starch degradation to fully harness the industrial potential of these isolates.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525174" y="-2459830"/>
            <a:ext cx="9237651" cy="15287104"/>
          </a:xfrm>
          <a:custGeom>
            <a:avLst/>
            <a:gdLst/>
            <a:ahLst/>
            <a:cxnLst/>
            <a:rect r="r" b="b" t="t" l="l"/>
            <a:pathLst>
              <a:path h="15287104" w="9237651">
                <a:moveTo>
                  <a:pt x="0" y="0"/>
                </a:moveTo>
                <a:lnTo>
                  <a:pt x="9237652" y="0"/>
                </a:lnTo>
                <a:lnTo>
                  <a:pt x="9237652" y="15287104"/>
                </a:lnTo>
                <a:lnTo>
                  <a:pt x="0" y="15287104"/>
                </a:lnTo>
                <a:lnTo>
                  <a:pt x="0" y="0"/>
                </a:lnTo>
                <a:close/>
              </a:path>
            </a:pathLst>
          </a:custGeom>
          <a:blipFill>
            <a:blip r:embed="rId2">
              <a:alphaModFix amt="71000"/>
            </a:blip>
            <a:stretch>
              <a:fillRect l="-9651" t="0" r="-12187" b="0"/>
            </a:stretch>
          </a:blipFill>
        </p:spPr>
      </p:sp>
      <p:sp>
        <p:nvSpPr>
          <p:cNvPr name="Freeform 3" id="3"/>
          <p:cNvSpPr/>
          <p:nvPr/>
        </p:nvSpPr>
        <p:spPr>
          <a:xfrm flipH="false" flipV="true" rot="5400000">
            <a:off x="-3184858" y="4931786"/>
            <a:ext cx="9237651" cy="503872"/>
          </a:xfrm>
          <a:custGeom>
            <a:avLst/>
            <a:gdLst/>
            <a:ahLst/>
            <a:cxnLst/>
            <a:rect r="r" b="b" t="t" l="l"/>
            <a:pathLst>
              <a:path h="503872" w="9237651">
                <a:moveTo>
                  <a:pt x="0" y="503872"/>
                </a:moveTo>
                <a:lnTo>
                  <a:pt x="9237651" y="503872"/>
                </a:lnTo>
                <a:lnTo>
                  <a:pt x="9237651" y="0"/>
                </a:lnTo>
                <a:lnTo>
                  <a:pt x="0" y="0"/>
                </a:lnTo>
                <a:lnTo>
                  <a:pt x="0"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5400000">
            <a:off x="12205614" y="4891564"/>
            <a:ext cx="9237651" cy="503872"/>
          </a:xfrm>
          <a:custGeom>
            <a:avLst/>
            <a:gdLst/>
            <a:ahLst/>
            <a:cxnLst/>
            <a:rect r="r" b="b" t="t" l="l"/>
            <a:pathLst>
              <a:path h="503872" w="9237651">
                <a:moveTo>
                  <a:pt x="9237652" y="503872"/>
                </a:moveTo>
                <a:lnTo>
                  <a:pt x="0" y="503872"/>
                </a:lnTo>
                <a:lnTo>
                  <a:pt x="0" y="0"/>
                </a:lnTo>
                <a:lnTo>
                  <a:pt x="9237652" y="0"/>
                </a:lnTo>
                <a:lnTo>
                  <a:pt x="9237652" y="50387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6234213" y="444090"/>
            <a:ext cx="6971373" cy="2200640"/>
          </a:xfrm>
          <a:prstGeom prst="rect">
            <a:avLst/>
          </a:prstGeom>
        </p:spPr>
        <p:txBody>
          <a:bodyPr anchor="t" rtlCol="false" tIns="0" lIns="0" bIns="0" rIns="0">
            <a:spAutoFit/>
          </a:bodyPr>
          <a:lstStyle/>
          <a:p>
            <a:pPr algn="ctr">
              <a:lnSpc>
                <a:spcPts val="17955"/>
              </a:lnSpc>
            </a:pPr>
            <a:r>
              <a:rPr lang="en-US" sz="12825">
                <a:solidFill>
                  <a:srgbClr val="000000"/>
                </a:solidFill>
                <a:latin typeface="Porcelain"/>
              </a:rPr>
              <a:t>Reference </a:t>
            </a:r>
          </a:p>
        </p:txBody>
      </p:sp>
      <p:sp>
        <p:nvSpPr>
          <p:cNvPr name="Freeform 6" id="6"/>
          <p:cNvSpPr/>
          <p:nvPr/>
        </p:nvSpPr>
        <p:spPr>
          <a:xfrm flipH="false" flipV="false" rot="4750543">
            <a:off x="5709759" y="976509"/>
            <a:ext cx="1048909" cy="1383453"/>
          </a:xfrm>
          <a:custGeom>
            <a:avLst/>
            <a:gdLst/>
            <a:ahLst/>
            <a:cxnLst/>
            <a:rect r="r" b="b" t="t" l="l"/>
            <a:pathLst>
              <a:path h="1383453" w="1048909">
                <a:moveTo>
                  <a:pt x="0" y="0"/>
                </a:moveTo>
                <a:lnTo>
                  <a:pt x="1048908" y="0"/>
                </a:lnTo>
                <a:lnTo>
                  <a:pt x="1048908" y="1383453"/>
                </a:lnTo>
                <a:lnTo>
                  <a:pt x="0" y="13834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3492234" y="2568531"/>
            <a:ext cx="12455332" cy="6548767"/>
          </a:xfrm>
          <a:prstGeom prst="rect">
            <a:avLst/>
          </a:prstGeom>
        </p:spPr>
        <p:txBody>
          <a:bodyPr anchor="t" rtlCol="false" tIns="0" lIns="0" bIns="0" rIns="0">
            <a:spAutoFit/>
          </a:bodyPr>
          <a:lstStyle/>
          <a:p>
            <a:pPr algn="l">
              <a:lnSpc>
                <a:spcPts val="2583"/>
              </a:lnSpc>
            </a:pPr>
            <a:r>
              <a:rPr lang="en-US" sz="1845">
                <a:solidFill>
                  <a:srgbClr val="000000"/>
                </a:solidFill>
                <a:latin typeface="อีฟดอวอิ้ง"/>
              </a:rPr>
              <a:t>Luang-in V, Yotchaisarn M, Saengha W, Udomwong P, Deeseenthum S, Maneewan K. Isolation and Identification of Amylase producing Bacteria from Soil in Nasinuan Community Forest, Maha Sarakham, Thailand. Biomed Pharmacol J 2019;12(3)</a:t>
            </a:r>
          </a:p>
          <a:p>
            <a:pPr algn="l">
              <a:lnSpc>
                <a:spcPts val="2583"/>
              </a:lnSpc>
            </a:pPr>
          </a:p>
          <a:p>
            <a:pPr algn="l">
              <a:lnSpc>
                <a:spcPts val="2583"/>
              </a:lnSpc>
            </a:pPr>
            <a:r>
              <a:rPr lang="en-US" sz="1845">
                <a:solidFill>
                  <a:srgbClr val="000000"/>
                </a:solidFill>
                <a:latin typeface="อีฟดอวอิ้ง"/>
              </a:rPr>
              <a:t>Mittal, A., Joshi, M., Rath,S.K. et al. Isolation of Alpha Amylase -Producing Bacteria from Local Region of Ambala and Production of Amylase Under Optimized Factors Using Solid-State Fermentation. Curr Microbiol 79,375 (2022).</a:t>
            </a:r>
          </a:p>
          <a:p>
            <a:pPr algn="l">
              <a:lnSpc>
                <a:spcPts val="2583"/>
              </a:lnSpc>
            </a:pPr>
          </a:p>
          <a:p>
            <a:pPr algn="l">
              <a:lnSpc>
                <a:spcPts val="2583"/>
              </a:lnSpc>
            </a:pPr>
            <a:r>
              <a:rPr lang="en-US" sz="1845">
                <a:solidFill>
                  <a:srgbClr val="000000"/>
                </a:solidFill>
                <a:latin typeface="อีฟดอวอิ้ง"/>
              </a:rPr>
              <a:t>1.Pandey A., Nigam P., Soccol C.R., Soccol V.T., Singh D., Mohan R. Advances in microbial amylases. Biotechnology and Applied Biochemistry. 2000;31(2): 135-152.</a:t>
            </a:r>
          </a:p>
          <a:p>
            <a:pPr algn="l">
              <a:lnSpc>
                <a:spcPts val="2583"/>
              </a:lnSpc>
            </a:pPr>
            <a:r>
              <a:rPr lang="en-US" sz="1845">
                <a:solidFill>
                  <a:srgbClr val="000000"/>
                </a:solidFill>
                <a:latin typeface="อีฟดอวอิ้ง"/>
              </a:rPr>
              <a:t>Balakrishnan M, Jeevarathinam G, Kumar SKS, Muniraj I, Uthandi S (2021) Optimization and scale-up of a-amylase production by Aspergillus oryzae using solid-state fermentation of edible oil cakes. BMC Biotechnol 21:1-11</a:t>
            </a:r>
          </a:p>
          <a:p>
            <a:pPr algn="l">
              <a:lnSpc>
                <a:spcPts val="2583"/>
              </a:lnSpc>
            </a:pPr>
            <a:r>
              <a:rPr lang="en-US" sz="1845">
                <a:solidFill>
                  <a:srgbClr val="000000"/>
                </a:solidFill>
                <a:latin typeface="อีฟดอวอิ้ง"/>
              </a:rPr>
              <a:t>Kiran S, Kumari 5, Singh A, Prabha C, Kumari S (2018) Extracellular amylase production under submerged fermentation by Bacillus subtilis RK6. Int J Pharm Biol Sci 8:376-383</a:t>
            </a:r>
          </a:p>
          <a:p>
            <a:pPr algn="l">
              <a:lnSpc>
                <a:spcPts val="2583"/>
              </a:lnSpc>
            </a:pPr>
          </a:p>
          <a:p>
            <a:pPr algn="l">
              <a:lnSpc>
                <a:spcPts val="2583"/>
              </a:lnSpc>
            </a:pPr>
            <a:r>
              <a:rPr lang="en-US" sz="1845">
                <a:solidFill>
                  <a:srgbClr val="000000"/>
                </a:solidFill>
                <a:latin typeface="อีฟดอวอิ้ง"/>
              </a:rPr>
              <a:t>Akula S, Golla N (2020) 11 Significance of process parameters on fungal cellulase production. In: Srivastava N, Srivastava M, Mishra PK, Gupta VK (eds) Biofuel production technologies critical analysis for sustainability. Springer, Singapore</a:t>
            </a:r>
          </a:p>
          <a:p>
            <a:pPr algn="l">
              <a:lnSpc>
                <a:spcPts val="2583"/>
              </a:lnSpc>
            </a:pPr>
          </a:p>
          <a:p>
            <a:pPr algn="l">
              <a:lnSpc>
                <a:spcPts val="2583"/>
              </a:lnSpc>
            </a:pPr>
            <a:r>
              <a:rPr lang="en-US" sz="1845">
                <a:solidFill>
                  <a:srgbClr val="000000"/>
                </a:solidFill>
                <a:latin typeface="อีฟดอวอิ้ง"/>
              </a:rPr>
              <a:t>Okolo BN, Ezeogu LI, Mba CN (1995) Production of raw starch digesting amylase by Aspergillus niger grown on native starch sources. J Sci Food Agric 69:109-</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5335286" y="-1159424"/>
            <a:ext cx="7617429" cy="12605848"/>
          </a:xfrm>
          <a:custGeom>
            <a:avLst/>
            <a:gdLst/>
            <a:ahLst/>
            <a:cxnLst/>
            <a:rect r="r" b="b" t="t" l="l"/>
            <a:pathLst>
              <a:path h="12605848" w="7617429">
                <a:moveTo>
                  <a:pt x="0" y="0"/>
                </a:moveTo>
                <a:lnTo>
                  <a:pt x="7617428" y="0"/>
                </a:lnTo>
                <a:lnTo>
                  <a:pt x="7617428" y="12605848"/>
                </a:lnTo>
                <a:lnTo>
                  <a:pt x="0" y="12605848"/>
                </a:lnTo>
                <a:lnTo>
                  <a:pt x="0" y="0"/>
                </a:lnTo>
                <a:close/>
              </a:path>
            </a:pathLst>
          </a:custGeom>
          <a:blipFill>
            <a:blip r:embed="rId2">
              <a:alphaModFix amt="71000"/>
            </a:blip>
            <a:stretch>
              <a:fillRect l="-9651" t="0" r="-12187" b="0"/>
            </a:stretch>
          </a:blipFill>
        </p:spPr>
      </p:sp>
      <p:sp>
        <p:nvSpPr>
          <p:cNvPr name="Freeform 3" id="3"/>
          <p:cNvSpPr/>
          <p:nvPr/>
        </p:nvSpPr>
        <p:spPr>
          <a:xfrm flipH="false" flipV="false" rot="0">
            <a:off x="2841076" y="8609125"/>
            <a:ext cx="12579953" cy="686179"/>
          </a:xfrm>
          <a:custGeom>
            <a:avLst/>
            <a:gdLst/>
            <a:ahLst/>
            <a:cxnLst/>
            <a:rect r="r" b="b" t="t" l="l"/>
            <a:pathLst>
              <a:path h="686179" w="12579953">
                <a:moveTo>
                  <a:pt x="0" y="0"/>
                </a:moveTo>
                <a:lnTo>
                  <a:pt x="12579953" y="0"/>
                </a:lnTo>
                <a:lnTo>
                  <a:pt x="12579953" y="686179"/>
                </a:lnTo>
                <a:lnTo>
                  <a:pt x="0" y="6861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0">
            <a:off x="2866971" y="1028700"/>
            <a:ext cx="12579953" cy="686179"/>
          </a:xfrm>
          <a:custGeom>
            <a:avLst/>
            <a:gdLst/>
            <a:ahLst/>
            <a:cxnLst/>
            <a:rect r="r" b="b" t="t" l="l"/>
            <a:pathLst>
              <a:path h="686179" w="12579953">
                <a:moveTo>
                  <a:pt x="12579953" y="686179"/>
                </a:moveTo>
                <a:lnTo>
                  <a:pt x="0" y="686179"/>
                </a:lnTo>
                <a:lnTo>
                  <a:pt x="0" y="0"/>
                </a:lnTo>
                <a:lnTo>
                  <a:pt x="12579953" y="0"/>
                </a:lnTo>
                <a:lnTo>
                  <a:pt x="12579953" y="686179"/>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62839">
            <a:off x="10772454" y="5784220"/>
            <a:ext cx="1623470" cy="1623470"/>
          </a:xfrm>
          <a:custGeom>
            <a:avLst/>
            <a:gdLst/>
            <a:ahLst/>
            <a:cxnLst/>
            <a:rect r="r" b="b" t="t" l="l"/>
            <a:pathLst>
              <a:path h="1623470" w="1623470">
                <a:moveTo>
                  <a:pt x="0" y="0"/>
                </a:moveTo>
                <a:lnTo>
                  <a:pt x="1623470" y="0"/>
                </a:lnTo>
                <a:lnTo>
                  <a:pt x="1623470" y="1623469"/>
                </a:lnTo>
                <a:lnTo>
                  <a:pt x="0" y="16234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3697342">
            <a:off x="2869903" y="6787850"/>
            <a:ext cx="2044068" cy="2696013"/>
          </a:xfrm>
          <a:custGeom>
            <a:avLst/>
            <a:gdLst/>
            <a:ahLst/>
            <a:cxnLst/>
            <a:rect r="r" b="b" t="t" l="l"/>
            <a:pathLst>
              <a:path h="2696013" w="2044068">
                <a:moveTo>
                  <a:pt x="0" y="0"/>
                </a:moveTo>
                <a:lnTo>
                  <a:pt x="2044068" y="0"/>
                </a:lnTo>
                <a:lnTo>
                  <a:pt x="2044068" y="2696014"/>
                </a:lnTo>
                <a:lnTo>
                  <a:pt x="0" y="269601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814117">
            <a:off x="13818570" y="972358"/>
            <a:ext cx="1793825" cy="2377358"/>
          </a:xfrm>
          <a:custGeom>
            <a:avLst/>
            <a:gdLst/>
            <a:ahLst/>
            <a:cxnLst/>
            <a:rect r="r" b="b" t="t" l="l"/>
            <a:pathLst>
              <a:path h="2377358" w="1793825">
                <a:moveTo>
                  <a:pt x="0" y="0"/>
                </a:moveTo>
                <a:lnTo>
                  <a:pt x="1793825" y="0"/>
                </a:lnTo>
                <a:lnTo>
                  <a:pt x="1793825" y="2377358"/>
                </a:lnTo>
                <a:lnTo>
                  <a:pt x="0" y="237735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6339617" y="2140011"/>
            <a:ext cx="5582871" cy="3846386"/>
          </a:xfrm>
          <a:prstGeom prst="rect">
            <a:avLst/>
          </a:prstGeom>
        </p:spPr>
        <p:txBody>
          <a:bodyPr anchor="t" rtlCol="false" tIns="0" lIns="0" bIns="0" rIns="0">
            <a:spAutoFit/>
          </a:bodyPr>
          <a:lstStyle/>
          <a:p>
            <a:pPr algn="ctr">
              <a:lnSpc>
                <a:spcPts val="31334"/>
              </a:lnSpc>
            </a:pPr>
            <a:r>
              <a:rPr lang="en-US" sz="22382">
                <a:solidFill>
                  <a:srgbClr val="000000"/>
                </a:solidFill>
                <a:latin typeface="Porcelain"/>
              </a:rPr>
              <a:t>Thank</a:t>
            </a:r>
          </a:p>
        </p:txBody>
      </p:sp>
      <p:sp>
        <p:nvSpPr>
          <p:cNvPr name="TextBox 9" id="9"/>
          <p:cNvSpPr txBox="true"/>
          <p:nvPr/>
        </p:nvSpPr>
        <p:spPr>
          <a:xfrm rot="0">
            <a:off x="6677917" y="4289471"/>
            <a:ext cx="4906272" cy="3846386"/>
          </a:xfrm>
          <a:prstGeom prst="rect">
            <a:avLst/>
          </a:prstGeom>
        </p:spPr>
        <p:txBody>
          <a:bodyPr anchor="t" rtlCol="false" tIns="0" lIns="0" bIns="0" rIns="0">
            <a:spAutoFit/>
          </a:bodyPr>
          <a:lstStyle/>
          <a:p>
            <a:pPr algn="ctr">
              <a:lnSpc>
                <a:spcPts val="31334"/>
              </a:lnSpc>
            </a:pPr>
            <a:r>
              <a:rPr lang="en-US" sz="22382">
                <a:solidFill>
                  <a:srgbClr val="000000"/>
                </a:solidFill>
                <a:latin typeface="Porcelain"/>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DAGI-b_d108</dc:identifier>
  <dcterms:modified xsi:type="dcterms:W3CDTF">2011-08-01T06:04:30Z</dcterms:modified>
  <cp:revision>1</cp:revision>
  <dc:title>White Grey Creative Paper Group Project Presentation</dc:title>
</cp:coreProperties>
</file>